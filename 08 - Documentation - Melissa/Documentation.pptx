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8" r:id="rId3"/>
    <p:sldId id="276" r:id="rId4"/>
    <p:sldId id="299" r:id="rId5"/>
    <p:sldId id="300" r:id="rId6"/>
    <p:sldId id="266" r:id="rId7"/>
    <p:sldId id="290" r:id="rId8"/>
    <p:sldId id="302" r:id="rId9"/>
    <p:sldId id="296" r:id="rId10"/>
    <p:sldId id="273" r:id="rId11"/>
    <p:sldId id="278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BFE6"/>
    <a:srgbClr val="397DF8"/>
    <a:srgbClr val="397CF7"/>
    <a:srgbClr val="0069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C62603-5B5A-97C9-8518-E18AA1A9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ACBFC0E-2EBB-341E-A62B-9596D72642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0D5B19-F325-3986-C7E6-D436DC5F8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26.03.2026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60DEFF-F2A5-B09E-6FBB-1A6A8E56E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12F1E4-8B93-1DF0-3391-67967ABF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615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260F2C-05FA-98F3-A528-68A04DE96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DDF199-DE80-815E-74C3-2FF1A4A8D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07FFAF-0D6C-2816-AE2A-4DE08662D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26.03.2026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E127E1-1161-8109-C514-EB535D8E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43489E-974D-A597-61C8-73DB447E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0171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451ED9-962B-7762-8CCF-2E462554F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368A63-F9D3-BCE2-9599-94D3B2DAC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E4D831-F915-91ED-8C5C-C2B9A09D9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26.03.2026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7A4B07-B35E-DFE6-0E3B-FF7281DB8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079D8D-6731-68E1-9097-9982FB2B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7925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A3E473-4D38-FCB0-4A71-76EA415B3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06A8DC-7F7F-8E26-4E76-8EE9E457D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78A1279-F295-B8B9-75FD-FD5D6137C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5A01D17-81AE-DA0D-D2B4-752C23CC8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26.03.2026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4506A4-66A9-E0DC-D0DF-02E14F709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4D9D08-AC57-2A2F-DEA1-F9DFF78D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4412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51AB10-335A-F36D-22F5-EFD2C1B9B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082742-EAF6-A4E6-3EE0-59B30873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BDA161-F74A-2C17-A05A-ED142E262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E788628-81F6-135E-E1ED-7A6AB5E55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01C4FA6-4C9B-B38B-85BC-B58924094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A322646-DAFC-F6C4-8C8A-510F08B29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26.03.2026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783CD22-E94D-E66C-0349-1C0C0121E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5A158B7-B2A8-198C-B5A8-2F35C880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3561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234EB3-0A06-017E-0047-B742C668B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6C38E3-85B4-8F86-5186-E27CE467E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26.03.2026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E708F0-220D-CA94-3CB4-7D295A695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220587-413B-6E9E-A938-1FEB572BD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038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B0523C6-99C4-6CD5-6171-8279AAE41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26.03.2026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DE04F6E-13DD-74E6-D6B8-F26E156FB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0EF32D-BA4C-9F11-412F-63842976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5316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CD268E-1ABF-A55A-8C7E-8DA6A8607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BF9683-3814-0312-FAE5-6744A462D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0A58EC-1C19-D836-B7A2-5DAD9368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E4CF2A-8D7A-CC36-973C-49AB8798E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26.03.2026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E86A9F-3A31-E531-219F-2669FFB1A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8CE0DD-44F2-EB07-EF20-E27B7144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532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F5EDF6-DA35-8915-C411-1AD9721D5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717572F-EA16-DB39-30B8-15F08D375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D809D44-CF3A-DB12-DE4E-96D90E37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313D3C-043C-5B82-EFCD-F8CAF966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26.03.2026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3E69A03-8E5B-18EC-038B-C34CBD05A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ADFBC3-2CD2-0DEF-597C-9740D8F7B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7203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46183A-79C0-3440-490D-E3F9BB20F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3F6BF54-7D61-6402-A50C-7C15D49BF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62010F-C037-FBD4-9FB9-718726BB5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26.03.2026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D39693-FAE6-55B9-9AB8-3649005CC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615849-F90B-F899-16C6-EFEB8CFF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11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8E81D8A-7C59-5E49-2838-C1E87D053E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9B30E6-8B19-8BE4-5391-2D190A0F9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4D34AF-3A32-C4BF-D97E-35D5061D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B3C52-5577-4B07-9DDD-CD25056515E5}" type="datetimeFigureOut">
              <a:rPr lang="de-DE" smtClean="0"/>
              <a:t>26.03.2026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0B3469-06BD-21A4-EB7E-A11CED336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276805-937C-D1AC-14C2-D60F52FB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9953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1779AF-C0EE-9CA6-1030-CF5DF0D2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24C71E-45A2-5A60-8539-D095AC77A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2046EA-DC58-2E70-EB53-BFED48FED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9B3C52-5577-4B07-9DDD-CD25056515E5}" type="datetimeFigureOut">
              <a:rPr lang="de-DE" smtClean="0"/>
              <a:t>26.03.2026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0A617B-B9D6-9A06-832D-BB1C69E4D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C76A0D-C418-EBB5-2E8E-B4151797C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E00AE-4301-4F6D-99D2-247E2D99E8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5259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48746E97-2A1E-4CD8-BD86-057981A5D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446BA3-813D-57F5-2950-F4B34540E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20" y="4961199"/>
            <a:ext cx="8988879" cy="1896801"/>
          </a:xfrm>
        </p:spPr>
        <p:txBody>
          <a:bodyPr anchor="ctr">
            <a:normAutofit fontScale="90000"/>
          </a:bodyPr>
          <a:lstStyle/>
          <a:p>
            <a:pPr algn="l">
              <a:lnSpc>
                <a:spcPct val="100000"/>
              </a:lnSpc>
            </a:pPr>
            <a:r>
              <a:rPr lang="de-DE" dirty="0">
                <a:solidFill>
                  <a:srgbClr val="397DF8"/>
                </a:solidFill>
              </a:rPr>
              <a:t>Coding Workshop</a:t>
            </a:r>
            <a:br>
              <a:rPr lang="de-DE" dirty="0">
                <a:solidFill>
                  <a:srgbClr val="397DF8"/>
                </a:solidFill>
              </a:rPr>
            </a:br>
            <a:r>
              <a:rPr lang="de-DE">
                <a:solidFill>
                  <a:srgbClr val="397DF8"/>
                </a:solidFill>
              </a:rPr>
              <a:t>Documentation</a:t>
            </a:r>
            <a:endParaRPr lang="de-DE" dirty="0">
              <a:solidFill>
                <a:srgbClr val="397DF8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9B9C4F-CD58-363A-CBB4-092841ADF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5202238"/>
            <a:ext cx="9144000" cy="1655762"/>
          </a:xfrm>
        </p:spPr>
        <p:txBody>
          <a:bodyPr anchor="b"/>
          <a:lstStyle/>
          <a:p>
            <a:pPr algn="r"/>
            <a:r>
              <a:rPr lang="de-DE" dirty="0">
                <a:solidFill>
                  <a:srgbClr val="94BFE6"/>
                </a:solidFill>
              </a:rPr>
              <a:t>30.03.2026</a:t>
            </a:r>
          </a:p>
          <a:p>
            <a:pPr algn="r"/>
            <a:r>
              <a:rPr lang="de-DE" dirty="0">
                <a:solidFill>
                  <a:srgbClr val="94BFE6"/>
                </a:solidFill>
              </a:rPr>
              <a:t>Melissa Franke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E3E7F2C-9B81-4C57-AEE5-2D4D5ECA9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BAA8E53-B093-41D9-88E6-E8A7BFA9E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15480"/>
            <a:ext cx="1219200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926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Recap</a:t>
            </a:r>
            <a:r>
              <a:rPr lang="de-DE" dirty="0">
                <a:solidFill>
                  <a:srgbClr val="397CF7"/>
                </a:solidFill>
              </a:rPr>
              <a:t> - Packages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AEF00998-9B73-4C90-AF20-0FB410E5690C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Documentation</a:t>
            </a:r>
            <a:endParaRPr lang="de-DE" sz="1200" dirty="0">
              <a:solidFill>
                <a:srgbClr val="397DF8"/>
              </a:solidFill>
            </a:endParaRP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6277F58-322E-48EB-9146-811D8806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en-GB" dirty="0">
                <a:solidFill>
                  <a:srgbClr val="94BFE6"/>
                </a:solidFill>
              </a:rPr>
              <a:t>Collections of functions</a:t>
            </a:r>
          </a:p>
          <a:p>
            <a:r>
              <a:rPr lang="en-GB" dirty="0">
                <a:solidFill>
                  <a:srgbClr val="94BFE6"/>
                </a:solidFill>
              </a:rPr>
              <a:t>If there is a package applicable to your task, use it! -&gt; time efficient</a:t>
            </a:r>
          </a:p>
          <a:p>
            <a:r>
              <a:rPr lang="en-GB" dirty="0">
                <a:solidFill>
                  <a:srgbClr val="94BFE6"/>
                </a:solidFill>
              </a:rPr>
              <a:t>Beginner friendly:</a:t>
            </a:r>
          </a:p>
          <a:p>
            <a:pPr lvl="1"/>
            <a:r>
              <a:rPr lang="en-GB" dirty="0" err="1">
                <a:solidFill>
                  <a:srgbClr val="94BFE6"/>
                </a:solidFill>
              </a:rPr>
              <a:t>Numpy</a:t>
            </a:r>
            <a:r>
              <a:rPr lang="en-GB" dirty="0">
                <a:solidFill>
                  <a:srgbClr val="94BFE6"/>
                </a:solidFill>
              </a:rPr>
              <a:t>, </a:t>
            </a:r>
            <a:r>
              <a:rPr lang="en-GB" dirty="0" err="1">
                <a:solidFill>
                  <a:srgbClr val="94BFE6"/>
                </a:solidFill>
              </a:rPr>
              <a:t>scipy</a:t>
            </a:r>
            <a:r>
              <a:rPr lang="en-GB" dirty="0">
                <a:solidFill>
                  <a:srgbClr val="94BFE6"/>
                </a:solidFill>
              </a:rPr>
              <a:t>, matplotlib, pandas, </a:t>
            </a:r>
            <a:r>
              <a:rPr lang="en-GB" dirty="0" err="1">
                <a:solidFill>
                  <a:srgbClr val="94BFE6"/>
                </a:solidFill>
              </a:rPr>
              <a:t>pingouin</a:t>
            </a:r>
            <a:r>
              <a:rPr lang="en-GB" dirty="0">
                <a:solidFill>
                  <a:srgbClr val="94BFE6"/>
                </a:solidFill>
              </a:rPr>
              <a:t>, seaborn</a:t>
            </a:r>
          </a:p>
          <a:p>
            <a:r>
              <a:rPr lang="en-GB" dirty="0">
                <a:solidFill>
                  <a:srgbClr val="94BFE6"/>
                </a:solidFill>
              </a:rPr>
              <a:t>Packages have different learning curves</a:t>
            </a:r>
          </a:p>
        </p:txBody>
      </p:sp>
    </p:spTree>
    <p:extLst>
      <p:ext uri="{BB962C8B-B14F-4D97-AF65-F5344CB8AC3E}">
        <p14:creationId xmlns:p14="http://schemas.microsoft.com/office/powerpoint/2010/main" val="291586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How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to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get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to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know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new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packages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en-GB" dirty="0">
                <a:solidFill>
                  <a:srgbClr val="94BFE6"/>
                </a:solidFill>
              </a:rPr>
              <a:t>Ask local programmers in your area</a:t>
            </a:r>
          </a:p>
          <a:p>
            <a:r>
              <a:rPr lang="en-GB" dirty="0">
                <a:solidFill>
                  <a:srgbClr val="94BFE6"/>
                </a:solidFill>
              </a:rPr>
              <a:t>Ask the internet how to do things</a:t>
            </a:r>
          </a:p>
          <a:p>
            <a:r>
              <a:rPr lang="en-GB" dirty="0">
                <a:solidFill>
                  <a:srgbClr val="94BFE6"/>
                </a:solidFill>
              </a:rPr>
              <a:t>See something interesting in foreign code</a:t>
            </a:r>
          </a:p>
          <a:p>
            <a:r>
              <a:rPr lang="en-GB" dirty="0">
                <a:solidFill>
                  <a:srgbClr val="94BFE6"/>
                </a:solidFill>
              </a:rPr>
              <a:t>Challenge yourself</a:t>
            </a:r>
          </a:p>
          <a:p>
            <a:pPr marL="0" indent="0">
              <a:buNone/>
            </a:pPr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-&gt; find an appropriate package</a:t>
            </a:r>
          </a:p>
          <a:p>
            <a:pPr marL="0" indent="0">
              <a:buNone/>
            </a:pPr>
            <a:endParaRPr lang="en-GB" dirty="0">
              <a:solidFill>
                <a:srgbClr val="94BFE6"/>
              </a:solidFill>
            </a:endParaRPr>
          </a:p>
          <a:p>
            <a:r>
              <a:rPr lang="en-GB" dirty="0">
                <a:solidFill>
                  <a:srgbClr val="94BFE6"/>
                </a:solidFill>
              </a:rPr>
              <a:t>Understand the package</a:t>
            </a:r>
          </a:p>
          <a:p>
            <a:r>
              <a:rPr lang="en-GB" dirty="0">
                <a:solidFill>
                  <a:srgbClr val="94BFE6"/>
                </a:solidFill>
              </a:rPr>
              <a:t>Solve your problem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3CAF871-C939-4859-A6EA-C0458AB52F47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Documentation</a:t>
            </a:r>
            <a:endParaRPr lang="de-DE" sz="1200" dirty="0">
              <a:solidFill>
                <a:srgbClr val="397DF8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1198877-0AFA-4B4D-AC74-1285261FB35A}"/>
              </a:ext>
            </a:extLst>
          </p:cNvPr>
          <p:cNvSpPr txBox="1"/>
          <p:nvPr/>
        </p:nvSpPr>
        <p:spPr>
          <a:xfrm>
            <a:off x="7999012" y="4652296"/>
            <a:ext cx="2615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u="sng" dirty="0" err="1">
                <a:solidFill>
                  <a:srgbClr val="94BFE6"/>
                </a:solidFill>
              </a:rPr>
              <a:t>Documentation</a:t>
            </a:r>
            <a:endParaRPr lang="de-DE" sz="2800" u="sng" dirty="0">
              <a:solidFill>
                <a:srgbClr val="94BFE6"/>
              </a:solidFill>
            </a:endParaRP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268248BA-AD55-4299-8ECF-9C177D9E78FF}"/>
              </a:ext>
            </a:extLst>
          </p:cNvPr>
          <p:cNvSpPr/>
          <p:nvPr/>
        </p:nvSpPr>
        <p:spPr>
          <a:xfrm rot="10800000">
            <a:off x="5080883" y="4834393"/>
            <a:ext cx="2768840" cy="270344"/>
          </a:xfrm>
          <a:prstGeom prst="rightArrow">
            <a:avLst/>
          </a:prstGeom>
          <a:solidFill>
            <a:srgbClr val="94B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163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Documentation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rgbClr val="94BFE6"/>
                </a:solidFill>
              </a:rPr>
              <a:t>Documentation is…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Written text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Images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Code comments</a:t>
            </a:r>
          </a:p>
          <a:p>
            <a:r>
              <a:rPr lang="en-GB" dirty="0">
                <a:solidFill>
                  <a:srgbClr val="94BFE6"/>
                </a:solidFill>
              </a:rPr>
              <a:t>Important aspects of a Documentation can be: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Requirements: what do I need to run the code? Any</a:t>
            </a:r>
            <a:br>
              <a:rPr lang="en-GB" dirty="0">
                <a:solidFill>
                  <a:srgbClr val="94BFE6"/>
                </a:solidFill>
              </a:rPr>
            </a:br>
            <a:r>
              <a:rPr lang="en-GB" dirty="0">
                <a:solidFill>
                  <a:srgbClr val="94BFE6"/>
                </a:solidFill>
              </a:rPr>
              <a:t>dependencies? OS?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Architecture or design: how does it work? What is the </a:t>
            </a:r>
            <a:br>
              <a:rPr lang="en-GB" dirty="0">
                <a:solidFill>
                  <a:srgbClr val="94BFE6"/>
                </a:solidFill>
              </a:rPr>
            </a:br>
            <a:r>
              <a:rPr lang="en-GB" dirty="0">
                <a:solidFill>
                  <a:srgbClr val="94BFE6"/>
                </a:solidFill>
              </a:rPr>
              <a:t>underlying principle?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Technical: code comments, algorithm explanation, …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End user: manuals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Marketing: who is your group of interest</a:t>
            </a:r>
          </a:p>
          <a:p>
            <a:pPr lvl="1"/>
            <a:endParaRPr lang="en-GB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94BFE6"/>
                </a:solidFill>
              </a:rPr>
              <a:t>-&gt; Make your code understandable to anyone!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9E053A1F-3BF5-4A1B-B002-230F1EE56165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Documentation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EAD3B06-8DF3-4C59-A23D-990DA2908D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475" y="2043697"/>
            <a:ext cx="3862137" cy="280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88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Application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Programming</a:t>
            </a:r>
            <a:r>
              <a:rPr lang="de-DE" dirty="0">
                <a:solidFill>
                  <a:srgbClr val="397CF7"/>
                </a:solidFill>
              </a:rPr>
              <a:t> Interface (API)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en-GB" dirty="0">
                <a:solidFill>
                  <a:srgbClr val="94BFE6"/>
                </a:solidFill>
              </a:rPr>
              <a:t>APIs are…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Connections between computers (Hardware/Software)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Connections between programs (Software)</a:t>
            </a:r>
          </a:p>
          <a:p>
            <a:r>
              <a:rPr lang="en-GB" dirty="0">
                <a:solidFill>
                  <a:srgbClr val="94BFE6"/>
                </a:solidFill>
              </a:rPr>
              <a:t>Purpose: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APIs open software to connections from outside (in a controlled way)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APIs allow to use foreign code without integrating your code</a:t>
            </a:r>
          </a:p>
          <a:p>
            <a:r>
              <a:rPr lang="en-GB" dirty="0">
                <a:solidFill>
                  <a:srgbClr val="94BFE6"/>
                </a:solidFill>
              </a:rPr>
              <a:t>Examples: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Fiji Macros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Igor – Python interface</a:t>
            </a:r>
          </a:p>
          <a:p>
            <a:pPr lvl="1"/>
            <a:r>
              <a:rPr lang="en-GB" dirty="0" err="1">
                <a:solidFill>
                  <a:srgbClr val="94BFE6"/>
                </a:solidFill>
              </a:rPr>
              <a:t>Matlab</a:t>
            </a:r>
            <a:r>
              <a:rPr lang="en-GB" dirty="0">
                <a:solidFill>
                  <a:srgbClr val="94BFE6"/>
                </a:solidFill>
              </a:rPr>
              <a:t> - </a:t>
            </a:r>
            <a:r>
              <a:rPr lang="en-GB" dirty="0" err="1">
                <a:solidFill>
                  <a:srgbClr val="94BFE6"/>
                </a:solidFill>
              </a:rPr>
              <a:t>Matlab</a:t>
            </a:r>
            <a:r>
              <a:rPr lang="en-GB">
                <a:solidFill>
                  <a:srgbClr val="94BFE6"/>
                </a:solidFill>
              </a:rPr>
              <a:t> toolboxes</a:t>
            </a:r>
          </a:p>
          <a:p>
            <a:pPr lvl="1"/>
            <a:r>
              <a:rPr lang="en-GB">
                <a:solidFill>
                  <a:srgbClr val="94BFE6"/>
                </a:solidFill>
              </a:rPr>
              <a:t>Downloadable </a:t>
            </a:r>
            <a:r>
              <a:rPr lang="en-GB" dirty="0">
                <a:solidFill>
                  <a:srgbClr val="94BFE6"/>
                </a:solidFill>
              </a:rPr>
              <a:t>Python packages</a:t>
            </a:r>
          </a:p>
          <a:p>
            <a:pPr lvl="1"/>
            <a:endParaRPr lang="en-GB" dirty="0">
              <a:solidFill>
                <a:srgbClr val="94BFE6"/>
              </a:solidFill>
            </a:endParaRPr>
          </a:p>
          <a:p>
            <a:pPr lvl="1"/>
            <a:endParaRPr lang="en-GB" dirty="0">
              <a:solidFill>
                <a:srgbClr val="94BFE6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3CD58AA-1E66-4311-944E-42201563EB33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Documentation</a:t>
            </a:r>
            <a:endParaRPr lang="de-DE" sz="1200" dirty="0">
              <a:solidFill>
                <a:srgbClr val="397D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500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956C6DA-8606-4241-A43F-B523CA693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1CF7D08-58F4-42AB-AF05-FCE69B36C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4093"/>
            <a:ext cx="12192000" cy="4571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9B853FD-DAE3-47B9-80D0-3FD107C25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5807"/>
            <a:ext cx="12192000" cy="45719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4D09B0D3-28B7-E4DF-0794-3656AFBF8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2937707"/>
            <a:ext cx="11893422" cy="982586"/>
          </a:xfrm>
        </p:spPr>
        <p:txBody>
          <a:bodyPr/>
          <a:lstStyle/>
          <a:p>
            <a:pPr algn="ctr"/>
            <a:r>
              <a:rPr lang="de-DE" dirty="0">
                <a:solidFill>
                  <a:srgbClr val="397DF8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174501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E7A31E94-29D3-4806-A82D-0EC0C75C874B}"/>
              </a:ext>
            </a:extLst>
          </p:cNvPr>
          <p:cNvSpPr txBox="1">
            <a:spLocks/>
          </p:cNvSpPr>
          <p:nvPr/>
        </p:nvSpPr>
        <p:spPr>
          <a:xfrm>
            <a:off x="7680960" y="777781"/>
            <a:ext cx="4511039" cy="5220568"/>
          </a:xfrm>
          <a:prstGeom prst="rect">
            <a:avLst/>
          </a:prstGeom>
          <a:ln>
            <a:solidFill>
              <a:srgbClr val="94BFE6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b="1" u="sng" dirty="0">
                <a:solidFill>
                  <a:srgbClr val="94BFE6"/>
                </a:solidFill>
              </a:rPr>
              <a:t>Hints: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Try searching like this: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How to do [] python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[] python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sz="2000" dirty="0">
              <a:solidFill>
                <a:srgbClr val="94BFE6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Good sources are: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 err="1">
                <a:solidFill>
                  <a:srgbClr val="94BFE6"/>
                </a:solidFill>
              </a:rPr>
              <a:t>Stackoverflow</a:t>
            </a:r>
            <a:endParaRPr lang="en-GB" sz="2000" dirty="0">
              <a:solidFill>
                <a:srgbClr val="94BFE6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Documentations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 err="1">
                <a:solidFill>
                  <a:srgbClr val="94BFE6"/>
                </a:solidFill>
              </a:rPr>
              <a:t>Github</a:t>
            </a:r>
            <a:r>
              <a:rPr lang="en-GB" sz="2000" dirty="0">
                <a:solidFill>
                  <a:srgbClr val="94BFE6"/>
                </a:solidFill>
              </a:rPr>
              <a:t> Gist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r/</a:t>
            </a:r>
            <a:r>
              <a:rPr lang="en-GB" sz="2000" dirty="0" err="1">
                <a:solidFill>
                  <a:srgbClr val="94BFE6"/>
                </a:solidFill>
              </a:rPr>
              <a:t>LearnPython</a:t>
            </a:r>
            <a:endParaRPr lang="en-GB" sz="2000" dirty="0">
              <a:solidFill>
                <a:srgbClr val="94BFE6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 err="1">
                <a:solidFill>
                  <a:srgbClr val="94BFE6"/>
                </a:solidFill>
              </a:rPr>
              <a:t>PyPI</a:t>
            </a:r>
            <a:endParaRPr lang="en-GB" sz="2000" dirty="0">
              <a:solidFill>
                <a:srgbClr val="94BFE6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GB" sz="2000" dirty="0">
              <a:solidFill>
                <a:srgbClr val="94BFE6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If you need help, feel free to ask!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550AA23-C238-4B68-B1E3-FDBFDF02FDFA}"/>
              </a:ext>
            </a:extLst>
          </p:cNvPr>
          <p:cNvSpPr txBox="1">
            <a:spLocks/>
          </p:cNvSpPr>
          <p:nvPr/>
        </p:nvSpPr>
        <p:spPr>
          <a:xfrm>
            <a:off x="149289" y="1160190"/>
            <a:ext cx="7531670" cy="5220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b="1" u="sng" dirty="0">
                <a:solidFill>
                  <a:srgbClr val="94BFE6"/>
                </a:solidFill>
              </a:rPr>
              <a:t>Exercise 1: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94BFE6"/>
                </a:solidFill>
              </a:rPr>
              <a:t>You all have been given a problem.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94BFE6"/>
                </a:solidFill>
              </a:rPr>
              <a:t>Try to find a python package that can solve it.</a:t>
            </a:r>
            <a:endParaRPr lang="en-GB" sz="2600" dirty="0">
              <a:solidFill>
                <a:srgbClr val="94BFE6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Documentation</a:t>
            </a:r>
            <a:r>
              <a:rPr lang="de-DE" dirty="0">
                <a:solidFill>
                  <a:srgbClr val="397CF7"/>
                </a:solidFill>
              </a:rPr>
              <a:t> - </a:t>
            </a:r>
            <a:r>
              <a:rPr lang="de-DE" dirty="0" err="1">
                <a:solidFill>
                  <a:srgbClr val="397CF7"/>
                </a:solidFill>
              </a:rPr>
              <a:t>Exercises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4C6EC0D2-D11B-4782-B4DA-5C17DF6C7E51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7F90072-C99E-4D47-913F-85F551CB529E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Documentation</a:t>
            </a:r>
            <a:endParaRPr lang="de-DE" sz="1200" dirty="0">
              <a:solidFill>
                <a:srgbClr val="397D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620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E7A31E94-29D3-4806-A82D-0EC0C75C874B}"/>
              </a:ext>
            </a:extLst>
          </p:cNvPr>
          <p:cNvSpPr txBox="1">
            <a:spLocks/>
          </p:cNvSpPr>
          <p:nvPr/>
        </p:nvSpPr>
        <p:spPr>
          <a:xfrm>
            <a:off x="7680960" y="777781"/>
            <a:ext cx="4511039" cy="4161967"/>
          </a:xfrm>
          <a:prstGeom prst="rect">
            <a:avLst/>
          </a:prstGeom>
          <a:ln>
            <a:solidFill>
              <a:srgbClr val="94BFE6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b="1" u="sng" dirty="0">
                <a:solidFill>
                  <a:srgbClr val="94BFE6"/>
                </a:solidFill>
              </a:rPr>
              <a:t>Hints: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Try searching like this: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python [package name] documentation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sz="2000" dirty="0">
              <a:solidFill>
                <a:srgbClr val="94BFE6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Good sources are: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Python documentation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package website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 err="1">
                <a:solidFill>
                  <a:srgbClr val="94BFE6"/>
                </a:solidFill>
              </a:rPr>
              <a:t>ReadtheDocs</a:t>
            </a:r>
            <a:endParaRPr lang="en-GB" sz="2000" dirty="0">
              <a:solidFill>
                <a:srgbClr val="94BFE6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GB" sz="2000" dirty="0">
              <a:solidFill>
                <a:srgbClr val="94BFE6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4BFE6"/>
                </a:solidFill>
              </a:rPr>
              <a:t>If you need help, feel free to ask!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550AA23-C238-4B68-B1E3-FDBFDF02FDFA}"/>
              </a:ext>
            </a:extLst>
          </p:cNvPr>
          <p:cNvSpPr txBox="1">
            <a:spLocks/>
          </p:cNvSpPr>
          <p:nvPr/>
        </p:nvSpPr>
        <p:spPr>
          <a:xfrm>
            <a:off x="149289" y="1160190"/>
            <a:ext cx="7531670" cy="52205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b="1" u="sng" dirty="0">
                <a:solidFill>
                  <a:srgbClr val="94BFE6"/>
                </a:solidFill>
              </a:rPr>
              <a:t>Exercise 2: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94BFE6"/>
                </a:solidFill>
              </a:rPr>
              <a:t>You all have been given a function or package.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>
              <a:solidFill>
                <a:srgbClr val="94BFE6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94BFE6"/>
                </a:solidFill>
              </a:rPr>
              <a:t>Your task is now to learn what the function or package does and how to use it.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>
              <a:solidFill>
                <a:srgbClr val="94BFE6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94BFE6"/>
                </a:solidFill>
              </a:rPr>
              <a:t>You are also encouraged to try them out!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>
              <a:solidFill>
                <a:srgbClr val="94BFE6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rgbClr val="94BFE6"/>
                </a:solidFill>
              </a:rPr>
              <a:t>You have time until the end of the curse to become an expert and explain your function or package to the others</a:t>
            </a:r>
            <a:endParaRPr lang="en-GB" sz="2600" dirty="0">
              <a:solidFill>
                <a:srgbClr val="94BFE6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Documentation</a:t>
            </a:r>
            <a:r>
              <a:rPr lang="de-DE" dirty="0">
                <a:solidFill>
                  <a:srgbClr val="397CF7"/>
                </a:solidFill>
              </a:rPr>
              <a:t> - </a:t>
            </a:r>
            <a:r>
              <a:rPr lang="de-DE" dirty="0" err="1">
                <a:solidFill>
                  <a:srgbClr val="397CF7"/>
                </a:solidFill>
              </a:rPr>
              <a:t>Exercises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4C6EC0D2-D11B-4782-B4DA-5C17DF6C7E51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7A19878-29CE-493C-ABB7-B8C53D2D865F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Documentation</a:t>
            </a:r>
            <a:endParaRPr lang="de-DE" sz="1200" dirty="0">
              <a:solidFill>
                <a:srgbClr val="397D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326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956C6DA-8606-4241-A43F-B523CA693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81"/>
            <a:ext cx="12192000" cy="6858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1CF7D08-58F4-42AB-AF05-FCE69B36C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4093"/>
            <a:ext cx="12192000" cy="4571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9B853FD-DAE3-47B9-80D0-3FD107C25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5807"/>
            <a:ext cx="12192000" cy="45719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4D09B0D3-28B7-E4DF-0794-3656AFBF8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2937707"/>
            <a:ext cx="11893422" cy="982586"/>
          </a:xfrm>
        </p:spPr>
        <p:txBody>
          <a:bodyPr/>
          <a:lstStyle/>
          <a:p>
            <a:pPr algn="ctr"/>
            <a:r>
              <a:rPr lang="de-DE" dirty="0">
                <a:solidFill>
                  <a:srgbClr val="397DF8"/>
                </a:solidFill>
              </a:rPr>
              <a:t>Cheat Sheets and </a:t>
            </a:r>
            <a:r>
              <a:rPr lang="de-DE" dirty="0" err="1">
                <a:solidFill>
                  <a:srgbClr val="397DF8"/>
                </a:solidFill>
              </a:rPr>
              <a:t>Vocabulary</a:t>
            </a:r>
            <a:endParaRPr lang="de-DE" dirty="0">
              <a:solidFill>
                <a:srgbClr val="397D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281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Documentations</a:t>
            </a:r>
            <a:r>
              <a:rPr lang="de-DE" dirty="0">
                <a:solidFill>
                  <a:srgbClr val="397CF7"/>
                </a:solidFill>
              </a:rPr>
              <a:t> - </a:t>
            </a:r>
            <a:r>
              <a:rPr lang="de-DE" dirty="0" err="1">
                <a:solidFill>
                  <a:srgbClr val="397CF7"/>
                </a:solidFill>
              </a:rPr>
              <a:t>cheat</a:t>
            </a:r>
            <a:r>
              <a:rPr lang="de-DE" dirty="0">
                <a:solidFill>
                  <a:srgbClr val="397CF7"/>
                </a:solidFill>
              </a:rPr>
              <a:t> </a:t>
            </a:r>
            <a:r>
              <a:rPr lang="de-DE" dirty="0" err="1">
                <a:solidFill>
                  <a:srgbClr val="397CF7"/>
                </a:solidFill>
              </a:rPr>
              <a:t>sheet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/>
          <a:lstStyle/>
          <a:p>
            <a:r>
              <a:rPr lang="en-GB" dirty="0">
                <a:solidFill>
                  <a:srgbClr val="94BFE6"/>
                </a:solidFill>
              </a:rPr>
              <a:t>Good sources for help and information: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94BFE6"/>
                </a:solidFill>
              </a:rPr>
              <a:t>Documentations		r/</a:t>
            </a:r>
            <a:r>
              <a:rPr lang="en-GB" dirty="0" err="1">
                <a:solidFill>
                  <a:srgbClr val="94BFE6"/>
                </a:solidFill>
              </a:rPr>
              <a:t>LearnPython</a:t>
            </a:r>
            <a:endParaRPr lang="en-GB" dirty="0">
              <a:solidFill>
                <a:srgbClr val="94BFE6"/>
              </a:solidFill>
            </a:endParaRPr>
          </a:p>
          <a:p>
            <a:pPr marL="457200" lvl="1" indent="0">
              <a:buNone/>
            </a:pPr>
            <a:r>
              <a:rPr lang="en-GB" dirty="0" err="1">
                <a:solidFill>
                  <a:srgbClr val="94BFE6"/>
                </a:solidFill>
              </a:rPr>
              <a:t>Stackoverflow</a:t>
            </a:r>
            <a:r>
              <a:rPr lang="en-GB" dirty="0">
                <a:solidFill>
                  <a:srgbClr val="94BFE6"/>
                </a:solidFill>
              </a:rPr>
              <a:t>		 W3 school (good for beginners)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94BFE6"/>
                </a:solidFill>
              </a:rPr>
              <a:t>GitHub Gist		 </a:t>
            </a:r>
            <a:r>
              <a:rPr lang="en-GB" dirty="0" err="1">
                <a:solidFill>
                  <a:srgbClr val="94BFE6"/>
                </a:solidFill>
              </a:rPr>
              <a:t>Geekforgeek</a:t>
            </a:r>
            <a:r>
              <a:rPr lang="en-GB">
                <a:solidFill>
                  <a:srgbClr val="94BFE6"/>
                </a:solidFill>
              </a:rPr>
              <a:t> (good </a:t>
            </a:r>
            <a:r>
              <a:rPr lang="en-GB" dirty="0">
                <a:solidFill>
                  <a:srgbClr val="94BFE6"/>
                </a:solidFill>
              </a:rPr>
              <a:t>for beginners)</a:t>
            </a:r>
          </a:p>
          <a:p>
            <a:pPr marL="457200" lvl="1" indent="0">
              <a:buNone/>
            </a:pPr>
            <a:endParaRPr lang="en-GB" dirty="0">
              <a:solidFill>
                <a:srgbClr val="94BFE6"/>
              </a:solidFill>
            </a:endParaRPr>
          </a:p>
          <a:p>
            <a:r>
              <a:rPr lang="en-GB" dirty="0">
                <a:solidFill>
                  <a:srgbClr val="94BFE6"/>
                </a:solidFill>
              </a:rPr>
              <a:t>Good sources for Documentation and APIs: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94BFE6"/>
                </a:solidFill>
              </a:rPr>
              <a:t>Package websites		Trial and Error</a:t>
            </a:r>
          </a:p>
          <a:p>
            <a:pPr marL="457200" lvl="1" indent="0">
              <a:buNone/>
            </a:pPr>
            <a:r>
              <a:rPr lang="en-GB" dirty="0" err="1">
                <a:solidFill>
                  <a:srgbClr val="94BFE6"/>
                </a:solidFill>
              </a:rPr>
              <a:t>ReadtheDocs</a:t>
            </a:r>
            <a:endParaRPr lang="en-GB" dirty="0">
              <a:solidFill>
                <a:srgbClr val="94BFE6"/>
              </a:solidFill>
            </a:endParaRPr>
          </a:p>
          <a:p>
            <a:r>
              <a:rPr lang="en-GB" dirty="0">
                <a:solidFill>
                  <a:srgbClr val="94BFE6"/>
                </a:solidFill>
              </a:rPr>
              <a:t>How to navigate all this: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Struggle. It is difficult.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Experience driven -&gt; get a feeling what source is useful for you</a:t>
            </a:r>
          </a:p>
          <a:p>
            <a:pPr lvl="1"/>
            <a:r>
              <a:rPr lang="en-GB" dirty="0">
                <a:solidFill>
                  <a:srgbClr val="94BFE6"/>
                </a:solidFill>
              </a:rPr>
              <a:t>Trial and Error -&gt; see if what you found works for your style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944C5C94-3A95-41BF-9145-5C8ADEBF54FB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Documentation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DD7A1C7-AA93-492B-8F30-814C937934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053" y="1541060"/>
            <a:ext cx="3041096" cy="303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28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FE2BB05-FF06-4CD2-B8D0-83D86BDD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2109D0-E748-4B85-AD38-E7C7909D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34" y="6344850"/>
            <a:ext cx="2454666" cy="62106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96970E0-E954-46F0-AA5A-5502D0CF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85459"/>
            <a:ext cx="12192000" cy="45719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B5E28BB0-844A-9634-DD1C-857A0A97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89" y="1"/>
            <a:ext cx="11893422" cy="982586"/>
          </a:xfrm>
        </p:spPr>
        <p:txBody>
          <a:bodyPr/>
          <a:lstStyle/>
          <a:p>
            <a:r>
              <a:rPr lang="de-DE" dirty="0" err="1">
                <a:solidFill>
                  <a:srgbClr val="397CF7"/>
                </a:solidFill>
              </a:rPr>
              <a:t>Documentations</a:t>
            </a:r>
            <a:r>
              <a:rPr lang="de-DE" dirty="0">
                <a:solidFill>
                  <a:srgbClr val="397CF7"/>
                </a:solidFill>
              </a:rPr>
              <a:t> – Python </a:t>
            </a:r>
            <a:r>
              <a:rPr lang="de-DE" dirty="0" err="1">
                <a:solidFill>
                  <a:srgbClr val="397CF7"/>
                </a:solidFill>
              </a:rPr>
              <a:t>Vocabulary</a:t>
            </a:r>
            <a:endParaRPr lang="de-DE" dirty="0">
              <a:solidFill>
                <a:srgbClr val="397CF7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A79FA6-3D4C-9D0B-EE13-775F36C7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89" y="1163054"/>
            <a:ext cx="11893422" cy="5536326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GB" sz="2000" u="sng" dirty="0">
                <a:solidFill>
                  <a:srgbClr val="94BFE6"/>
                </a:solidFill>
              </a:rPr>
              <a:t>Documentation nomenclature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Parameter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Return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Method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Function</a:t>
            </a:r>
          </a:p>
          <a:p>
            <a:pPr marL="0" indent="0">
              <a:buNone/>
            </a:pPr>
            <a:endParaRPr lang="en-GB" sz="2000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sz="2000" u="sng" dirty="0">
                <a:solidFill>
                  <a:srgbClr val="94BFE6"/>
                </a:solidFill>
              </a:rPr>
              <a:t>API nomenclature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function(x, y=None, z=1.0)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x - parameter that has to be given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y, z – parameters that are pre-defined and only optionally changed by the user</a:t>
            </a:r>
          </a:p>
          <a:p>
            <a:pPr marL="0" indent="0">
              <a:buNone/>
            </a:pPr>
            <a:endParaRPr lang="en-GB" sz="2000" dirty="0">
              <a:solidFill>
                <a:srgbClr val="94BFE6"/>
              </a:solidFill>
            </a:endParaRPr>
          </a:p>
          <a:p>
            <a:pPr marL="0" indent="0">
              <a:buNone/>
            </a:pPr>
            <a:endParaRPr lang="en-GB" sz="2000" u="sng" dirty="0">
              <a:solidFill>
                <a:srgbClr val="94BFE6"/>
              </a:solidFill>
            </a:endParaRPr>
          </a:p>
          <a:p>
            <a:pPr marL="0" indent="0">
              <a:buNone/>
            </a:pPr>
            <a:endParaRPr lang="en-GB" sz="2000" u="sng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sz="2000" u="sng" dirty="0">
                <a:solidFill>
                  <a:srgbClr val="94BFE6"/>
                </a:solidFill>
              </a:rPr>
              <a:t>Classes, Subclasses, inheritance, …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Terms that are not explained in this curse. In a nutshell, these are containers that “hold” a multitude of related functions.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Functions of a class are accessed via the “.” character.</a:t>
            </a:r>
          </a:p>
          <a:p>
            <a:pPr marL="0" indent="0">
              <a:buNone/>
            </a:pPr>
            <a:r>
              <a:rPr lang="en-GB" sz="2000" dirty="0" err="1">
                <a:solidFill>
                  <a:srgbClr val="94BFE6"/>
                </a:solidFill>
              </a:rPr>
              <a:t>Class.function</a:t>
            </a:r>
            <a:r>
              <a:rPr lang="en-GB" sz="2000" dirty="0">
                <a:solidFill>
                  <a:srgbClr val="94BFE6"/>
                </a:solidFill>
              </a:rPr>
              <a:t>()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94BFE6"/>
                </a:solidFill>
              </a:rPr>
              <a:t>Similar like:</a:t>
            </a:r>
          </a:p>
          <a:p>
            <a:pPr marL="0" indent="0">
              <a:buNone/>
            </a:pPr>
            <a:r>
              <a:rPr lang="en-GB" sz="2000" dirty="0" err="1">
                <a:solidFill>
                  <a:srgbClr val="94BFE6"/>
                </a:solidFill>
              </a:rPr>
              <a:t>my_array.pop</a:t>
            </a:r>
            <a:r>
              <a:rPr lang="en-GB" sz="2000" dirty="0">
                <a:solidFill>
                  <a:srgbClr val="94BFE6"/>
                </a:solidFill>
              </a:rPr>
              <a:t>()</a:t>
            </a:r>
          </a:p>
          <a:p>
            <a:pPr marL="0" indent="0">
              <a:buNone/>
            </a:pPr>
            <a:r>
              <a:rPr lang="en-GB" sz="2000" dirty="0" err="1">
                <a:solidFill>
                  <a:srgbClr val="94BFE6"/>
                </a:solidFill>
              </a:rPr>
              <a:t>My_package.add</a:t>
            </a:r>
            <a:r>
              <a:rPr lang="en-GB" sz="2000" dirty="0">
                <a:solidFill>
                  <a:srgbClr val="94BFE6"/>
                </a:solidFill>
              </a:rPr>
              <a:t>()</a:t>
            </a:r>
          </a:p>
          <a:p>
            <a:pPr marL="0" indent="0">
              <a:buNone/>
            </a:pPr>
            <a:endParaRPr lang="en-GB" sz="2000" dirty="0">
              <a:solidFill>
                <a:srgbClr val="94BFE6"/>
              </a:solidFill>
            </a:endParaRPr>
          </a:p>
          <a:p>
            <a:pPr marL="0" indent="0">
              <a:buNone/>
            </a:pPr>
            <a:r>
              <a:rPr lang="en-GB" sz="2000" dirty="0" err="1">
                <a:solidFill>
                  <a:srgbClr val="94BFE6"/>
                </a:solidFill>
              </a:rPr>
              <a:t>my_list</a:t>
            </a:r>
            <a:r>
              <a:rPr lang="en-GB" sz="2000" dirty="0">
                <a:solidFill>
                  <a:srgbClr val="94BFE6"/>
                </a:solidFill>
              </a:rPr>
              <a:t> is an instance of a class List and pop() a function “contained” in this class.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3223FD-43EF-9320-07C6-5CFCF5C348EE}"/>
              </a:ext>
            </a:extLst>
          </p:cNvPr>
          <p:cNvSpPr txBox="1"/>
          <p:nvPr/>
        </p:nvSpPr>
        <p:spPr>
          <a:xfrm>
            <a:off x="5724525" y="6488668"/>
            <a:ext cx="74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7462546-965D-00F0-781C-E11958B9A01A}"/>
              </a:ext>
            </a:extLst>
          </p:cNvPr>
          <p:cNvSpPr txBox="1"/>
          <p:nvPr/>
        </p:nvSpPr>
        <p:spPr>
          <a:xfrm>
            <a:off x="6074944" y="6415691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>
                <a:solidFill>
                  <a:srgbClr val="397DF8"/>
                </a:solidFill>
              </a:rPr>
              <a:t>Melissa Franke</a:t>
            </a:r>
          </a:p>
          <a:p>
            <a:pPr algn="r"/>
            <a:r>
              <a:rPr lang="de-DE" sz="1200" dirty="0" err="1">
                <a:solidFill>
                  <a:srgbClr val="397DF8"/>
                </a:solidFill>
              </a:rPr>
              <a:t>M.Sc</a:t>
            </a:r>
            <a:endParaRPr lang="de-DE" sz="1200" dirty="0">
              <a:solidFill>
                <a:srgbClr val="397DF8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04EC81C-958D-40B1-AB56-CDC2FE4B2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7671"/>
            <a:ext cx="12192000" cy="4571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5F3E0BEC-20D5-46E0-A480-5B4DF640A813}"/>
              </a:ext>
            </a:extLst>
          </p:cNvPr>
          <p:cNvSpPr txBox="1"/>
          <p:nvPr/>
        </p:nvSpPr>
        <p:spPr>
          <a:xfrm>
            <a:off x="0" y="63963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rgbClr val="397DF8"/>
                </a:solidFill>
              </a:rPr>
              <a:t>Coding Workshop</a:t>
            </a:r>
          </a:p>
          <a:p>
            <a:r>
              <a:rPr lang="de-DE" sz="1200" dirty="0" err="1">
                <a:solidFill>
                  <a:srgbClr val="397DF8"/>
                </a:solidFill>
              </a:rPr>
              <a:t>Documentation</a:t>
            </a:r>
            <a:endParaRPr lang="de-DE" sz="1200" dirty="0">
              <a:solidFill>
                <a:srgbClr val="397D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179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</Words>
  <Application>Microsoft Office PowerPoint</Application>
  <PresentationFormat>Breitbild</PresentationFormat>
  <Paragraphs>159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</vt:lpstr>
      <vt:lpstr>Coding Workshop Documentation</vt:lpstr>
      <vt:lpstr>Recap - Packages</vt:lpstr>
      <vt:lpstr>How to get to know new packages</vt:lpstr>
      <vt:lpstr>Documentation</vt:lpstr>
      <vt:lpstr>Application Programming Interface (API)</vt:lpstr>
      <vt:lpstr>Questions?</vt:lpstr>
      <vt:lpstr>Documentation - Exercises</vt:lpstr>
      <vt:lpstr>Documentation - Exercises</vt:lpstr>
      <vt:lpstr>Cheat Sheets and Vocabulary</vt:lpstr>
      <vt:lpstr>Documentations - cheat sheet</vt:lpstr>
      <vt:lpstr>Documentations – Python Vocabulary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Cool long titel that needs two lines</dc:title>
  <dc:creator>melissa.franke@rwth-aachen.de</dc:creator>
  <cp:lastModifiedBy>Melissa Franke</cp:lastModifiedBy>
  <cp:revision>69</cp:revision>
  <dcterms:created xsi:type="dcterms:W3CDTF">2024-01-02T08:44:02Z</dcterms:created>
  <dcterms:modified xsi:type="dcterms:W3CDTF">2026-03-26T15:34:19Z</dcterms:modified>
</cp:coreProperties>
</file>
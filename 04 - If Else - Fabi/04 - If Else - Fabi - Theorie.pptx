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70" r:id="rId9"/>
    <p:sldId id="271" r:id="rId10"/>
    <p:sldId id="272" r:id="rId11"/>
    <p:sldId id="275" r:id="rId12"/>
    <p:sldId id="268" r:id="rId13"/>
    <p:sldId id="274" r:id="rId14"/>
    <p:sldId id="273" r:id="rId15"/>
    <p:sldId id="267" r:id="rId16"/>
    <p:sldId id="259" r:id="rId17"/>
    <p:sldId id="258" r:id="rId18"/>
    <p:sldId id="269" r:id="rId19"/>
    <p:sldId id="283" r:id="rId20"/>
    <p:sldId id="284" r:id="rId21"/>
    <p:sldId id="285" r:id="rId22"/>
    <p:sldId id="286" r:id="rId23"/>
    <p:sldId id="287" r:id="rId24"/>
    <p:sldId id="282" r:id="rId25"/>
    <p:sldId id="260" r:id="rId26"/>
    <p:sldId id="276" r:id="rId27"/>
    <p:sldId id="288" r:id="rId28"/>
    <p:sldId id="289" r:id="rId29"/>
    <p:sldId id="290" r:id="rId30"/>
    <p:sldId id="291" r:id="rId31"/>
    <p:sldId id="257" r:id="rId32"/>
    <p:sldId id="301" r:id="rId33"/>
    <p:sldId id="300" r:id="rId34"/>
    <p:sldId id="298" r:id="rId35"/>
    <p:sldId id="299" r:id="rId36"/>
    <p:sldId id="292" r:id="rId37"/>
    <p:sldId id="295" r:id="rId38"/>
    <p:sldId id="293" r:id="rId39"/>
    <p:sldId id="294" r:id="rId40"/>
    <p:sldId id="296" r:id="rId41"/>
    <p:sldId id="297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B179"/>
    <a:srgbClr val="9C5BCD"/>
    <a:srgbClr val="2E7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52" d="100"/>
          <a:sy n="152" d="100"/>
        </p:scale>
        <p:origin x="604" y="1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0E76D-BA7B-40B2-9ED9-7492205174AA}" type="datetimeFigureOut">
              <a:rPr lang="en-DE" smtClean="0"/>
              <a:t>03/01/2026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BF587-7AF3-493C-87CC-2DF3948E762D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4190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0E76D-BA7B-40B2-9ED9-7492205174AA}" type="datetimeFigureOut">
              <a:rPr lang="en-DE" smtClean="0"/>
              <a:t>03/01/2026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BF587-7AF3-493C-87CC-2DF3948E762D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48320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0E76D-BA7B-40B2-9ED9-7492205174AA}" type="datetimeFigureOut">
              <a:rPr lang="en-DE" smtClean="0"/>
              <a:t>03/01/2026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BF587-7AF3-493C-87CC-2DF3948E762D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96753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0E76D-BA7B-40B2-9ED9-7492205174AA}" type="datetimeFigureOut">
              <a:rPr lang="en-DE" smtClean="0"/>
              <a:t>03/01/2026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BF587-7AF3-493C-87CC-2DF3948E762D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12109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0E76D-BA7B-40B2-9ED9-7492205174AA}" type="datetimeFigureOut">
              <a:rPr lang="en-DE" smtClean="0"/>
              <a:t>03/01/2026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BF587-7AF3-493C-87CC-2DF3948E762D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04662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0E76D-BA7B-40B2-9ED9-7492205174AA}" type="datetimeFigureOut">
              <a:rPr lang="en-DE" smtClean="0"/>
              <a:t>03/01/2026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BF587-7AF3-493C-87CC-2DF3948E762D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08059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0E76D-BA7B-40B2-9ED9-7492205174AA}" type="datetimeFigureOut">
              <a:rPr lang="en-DE" smtClean="0"/>
              <a:t>03/01/2026</a:t>
            </a:fld>
            <a:endParaRPr lang="en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BF587-7AF3-493C-87CC-2DF3948E762D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60206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0E76D-BA7B-40B2-9ED9-7492205174AA}" type="datetimeFigureOut">
              <a:rPr lang="en-DE" smtClean="0"/>
              <a:t>03/01/2026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BF587-7AF3-493C-87CC-2DF3948E762D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00585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0E76D-BA7B-40B2-9ED9-7492205174AA}" type="datetimeFigureOut">
              <a:rPr lang="en-DE" smtClean="0"/>
              <a:t>03/01/2026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BF587-7AF3-493C-87CC-2DF3948E762D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5054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0E76D-BA7B-40B2-9ED9-7492205174AA}" type="datetimeFigureOut">
              <a:rPr lang="en-DE" smtClean="0"/>
              <a:t>03/01/2026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BF587-7AF3-493C-87CC-2DF3948E762D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228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0E76D-BA7B-40B2-9ED9-7492205174AA}" type="datetimeFigureOut">
              <a:rPr lang="en-DE" smtClean="0"/>
              <a:t>03/01/2026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BF587-7AF3-493C-87CC-2DF3948E762D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79192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30E76D-BA7B-40B2-9ED9-7492205174AA}" type="datetimeFigureOut">
              <a:rPr lang="en-DE" smtClean="0"/>
              <a:t>03/01/2026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FBF587-7AF3-493C-87CC-2DF3948E762D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464039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17D29D-01A0-4D20-92DD-AAD88CEEFE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Lesson</a:t>
            </a:r>
            <a:r>
              <a:rPr lang="de-DE" dirty="0"/>
              <a:t> 04 : </a:t>
            </a:r>
            <a:br>
              <a:rPr lang="de-DE" dirty="0"/>
            </a:br>
            <a:r>
              <a:rPr lang="de-DE" dirty="0" err="1"/>
              <a:t>Conditional</a:t>
            </a:r>
            <a:r>
              <a:rPr lang="de-DE" dirty="0"/>
              <a:t> Statements</a:t>
            </a:r>
            <a:endParaRPr lang="en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2CC3174-9768-4B36-959C-7806E87728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By Fabian Quicken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228915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13C899-2529-4E03-BCF8-F7EB3641B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Let‘s</a:t>
            </a:r>
            <a:r>
              <a:rPr lang="de-DE" dirty="0"/>
              <a:t> </a:t>
            </a:r>
            <a:r>
              <a:rPr lang="de-DE" dirty="0" err="1"/>
              <a:t>stay</a:t>
            </a:r>
            <a:r>
              <a:rPr lang="de-DE" dirty="0"/>
              <a:t> real </a:t>
            </a:r>
            <a:r>
              <a:rPr lang="de-DE" dirty="0" err="1"/>
              <a:t>for</a:t>
            </a:r>
            <a:r>
              <a:rPr lang="de-DE" dirty="0"/>
              <a:t> a </a:t>
            </a:r>
            <a:r>
              <a:rPr lang="de-DE" dirty="0" err="1"/>
              <a:t>moment</a:t>
            </a:r>
            <a:r>
              <a:rPr lang="de-DE" dirty="0"/>
              <a:t>…</a:t>
            </a:r>
            <a:endParaRPr lang="en-DE" dirty="0"/>
          </a:p>
        </p:txBody>
      </p:sp>
      <p:pic>
        <p:nvPicPr>
          <p:cNvPr id="3074" name="Picture 2" descr="4 tips to extend your phone's battery life | Popular Science">
            <a:extLst>
              <a:ext uri="{FF2B5EF4-FFF2-40B4-BE49-F238E27FC236}">
                <a16:creationId xmlns:a16="http://schemas.microsoft.com/office/drawing/2014/main" id="{67EEFBEB-C471-43CC-8D74-D770098A4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196" y="1519382"/>
            <a:ext cx="6402916" cy="4802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59FCADD-30B4-41FB-8197-107381DA2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3890" y="1519381"/>
            <a:ext cx="3764336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414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139AEA-963E-4943-9FDE-9A7F3E4C9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 Python:</a:t>
            </a:r>
            <a:endParaRPr lang="en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74391AA-86E2-4B62-9775-D6C4DD7FDC4D}"/>
              </a:ext>
            </a:extLst>
          </p:cNvPr>
          <p:cNvSpPr/>
          <p:nvPr/>
        </p:nvSpPr>
        <p:spPr>
          <a:xfrm>
            <a:off x="4166249" y="1941007"/>
            <a:ext cx="3859502" cy="2975985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32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condition:</a:t>
            </a:r>
            <a:endParaRPr lang="en-DE" sz="32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# do this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9C5BCD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else</a:t>
            </a:r>
            <a:r>
              <a:rPr lang="en-US" sz="3200" dirty="0">
                <a:solidFill>
                  <a:srgbClr val="F7CAAC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F7CAAC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# do this</a:t>
            </a:r>
          </a:p>
        </p:txBody>
      </p:sp>
    </p:spTree>
    <p:extLst>
      <p:ext uri="{BB962C8B-B14F-4D97-AF65-F5344CB8AC3E}">
        <p14:creationId xmlns:p14="http://schemas.microsoft.com/office/powerpoint/2010/main" val="731303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65AF3D-D3D1-4701-A692-79B4A1F10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Conditional</a:t>
            </a:r>
            <a:r>
              <a:rPr lang="de-DE" dirty="0"/>
              <a:t> Statements </a:t>
            </a:r>
            <a:r>
              <a:rPr lang="de-DE" dirty="0" err="1"/>
              <a:t>enable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: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2817A0-B7C2-43C8-A0D8-54522E59E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Adapt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code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given</a:t>
            </a:r>
            <a:r>
              <a:rPr lang="de-DE" dirty="0"/>
              <a:t> </a:t>
            </a:r>
            <a:r>
              <a:rPr lang="de-DE" dirty="0" err="1"/>
              <a:t>conditions</a:t>
            </a:r>
            <a:endParaRPr lang="de-DE" dirty="0"/>
          </a:p>
          <a:p>
            <a:r>
              <a:rPr lang="de-DE" dirty="0" err="1"/>
              <a:t>React</a:t>
            </a:r>
            <a:r>
              <a:rPr lang="de-DE" dirty="0"/>
              <a:t> </a:t>
            </a:r>
            <a:r>
              <a:rPr lang="de-DE" dirty="0" err="1"/>
              <a:t>based</a:t>
            </a:r>
            <a:r>
              <a:rPr lang="de-DE" dirty="0"/>
              <a:t> on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input</a:t>
            </a:r>
            <a:endParaRPr lang="de-DE" dirty="0"/>
          </a:p>
          <a:p>
            <a:r>
              <a:rPr lang="de-DE" dirty="0"/>
              <a:t>Take different </a:t>
            </a:r>
            <a:r>
              <a:rPr lang="de-DE" dirty="0" err="1"/>
              <a:t>courses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actions</a:t>
            </a:r>
            <a:r>
              <a:rPr lang="de-DE" dirty="0"/>
              <a:t> </a:t>
            </a:r>
            <a:r>
              <a:rPr lang="de-DE" dirty="0" err="1"/>
              <a:t>within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script</a:t>
            </a:r>
            <a:endParaRPr lang="de-DE" dirty="0"/>
          </a:p>
          <a:p>
            <a:endParaRPr lang="de-DE" dirty="0"/>
          </a:p>
          <a:p>
            <a:pPr marL="0" indent="0">
              <a:buNone/>
            </a:pPr>
            <a:r>
              <a:rPr lang="de-DE" dirty="0"/>
              <a:t>But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condition</a:t>
            </a:r>
            <a:r>
              <a:rPr lang="de-DE" dirty="0"/>
              <a:t>?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283952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DBBE42-5773-4BA7-B34C-FFF295E49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Condition</a:t>
            </a:r>
            <a:r>
              <a:rPr lang="de-DE" dirty="0"/>
              <a:t>?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6839B6-5C88-48CA-882F-FC541ADAA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0944"/>
            <a:ext cx="10515600" cy="4931931"/>
          </a:xfrm>
        </p:spPr>
        <p:txBody>
          <a:bodyPr>
            <a:normAutofit lnSpcReduction="10000"/>
          </a:bodyPr>
          <a:lstStyle/>
          <a:p>
            <a:r>
              <a:rPr lang="de-DE" dirty="0"/>
              <a:t>In </a:t>
            </a:r>
            <a:r>
              <a:rPr lang="de-DE" dirty="0" err="1"/>
              <a:t>python</a:t>
            </a:r>
            <a:r>
              <a:rPr lang="de-DE" dirty="0"/>
              <a:t>, a </a:t>
            </a:r>
            <a:r>
              <a:rPr lang="de-DE" dirty="0" err="1"/>
              <a:t>condition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statement</a:t>
            </a:r>
            <a:r>
              <a:rPr lang="de-DE" dirty="0"/>
              <a:t>,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either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: </a:t>
            </a:r>
          </a:p>
          <a:p>
            <a:endParaRPr lang="de-DE" dirty="0"/>
          </a:p>
          <a:p>
            <a:pPr marL="0" indent="0">
              <a:buNone/>
            </a:pPr>
            <a:r>
              <a:rPr lang="de-DE" sz="3200" b="1" dirty="0"/>
              <a:t>               </a:t>
            </a:r>
            <a:r>
              <a:rPr lang="de-DE" sz="3200" b="1" dirty="0">
                <a:solidFill>
                  <a:schemeClr val="accent5">
                    <a:lumMod val="75000"/>
                  </a:schemeClr>
                </a:solidFill>
              </a:rPr>
              <a:t>True</a:t>
            </a:r>
            <a:r>
              <a:rPr lang="de-DE" sz="3200" b="1" dirty="0"/>
              <a:t> </a:t>
            </a:r>
            <a:r>
              <a:rPr lang="de-DE" dirty="0"/>
              <a:t>                                   </a:t>
            </a:r>
            <a:r>
              <a:rPr lang="de-DE" dirty="0" err="1"/>
              <a:t>or</a:t>
            </a:r>
            <a:r>
              <a:rPr lang="de-DE" dirty="0"/>
              <a:t>                               </a:t>
            </a:r>
            <a:r>
              <a:rPr lang="de-DE" sz="3200" b="1" dirty="0" err="1">
                <a:solidFill>
                  <a:schemeClr val="accent4"/>
                </a:solidFill>
              </a:rPr>
              <a:t>False</a:t>
            </a:r>
            <a:endParaRPr lang="de-DE" sz="3200" b="1" dirty="0">
              <a:solidFill>
                <a:schemeClr val="accent4"/>
              </a:solidFill>
            </a:endParaRPr>
          </a:p>
          <a:p>
            <a:pPr marL="0" indent="0">
              <a:buNone/>
            </a:pPr>
            <a:endParaRPr lang="de-DE" sz="3200" b="1" dirty="0"/>
          </a:p>
          <a:p>
            <a:pPr marL="0" indent="0" algn="ctr">
              <a:buNone/>
            </a:pPr>
            <a:r>
              <a:rPr lang="de-DE" dirty="0"/>
              <a:t>„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love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python</a:t>
            </a:r>
            <a:r>
              <a:rPr lang="de-DE" dirty="0"/>
              <a:t> </a:t>
            </a:r>
            <a:r>
              <a:rPr lang="de-DE" dirty="0" err="1"/>
              <a:t>course</a:t>
            </a:r>
            <a:r>
              <a:rPr lang="de-DE" dirty="0"/>
              <a:t>.“</a:t>
            </a:r>
          </a:p>
          <a:p>
            <a:pPr marL="0" indent="0" algn="ctr">
              <a:buNone/>
            </a:pPr>
            <a:r>
              <a:rPr lang="de-DE" dirty="0"/>
              <a:t>„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phone</a:t>
            </a:r>
            <a:r>
              <a:rPr lang="de-DE" dirty="0"/>
              <a:t> </a:t>
            </a:r>
            <a:r>
              <a:rPr lang="de-DE" dirty="0" err="1"/>
              <a:t>battery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lower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20%.“</a:t>
            </a:r>
          </a:p>
          <a:p>
            <a:pPr marL="0" indent="0" algn="ctr">
              <a:buNone/>
            </a:pPr>
            <a:r>
              <a:rPr lang="de-DE" dirty="0"/>
              <a:t>„</a:t>
            </a:r>
            <a:r>
              <a:rPr lang="de-DE" dirty="0" err="1"/>
              <a:t>Fabi</a:t>
            </a:r>
            <a:r>
              <a:rPr lang="de-DE" dirty="0"/>
              <a:t> </a:t>
            </a:r>
            <a:r>
              <a:rPr lang="de-DE" dirty="0" err="1"/>
              <a:t>believes</a:t>
            </a:r>
            <a:r>
              <a:rPr lang="de-DE" dirty="0"/>
              <a:t> in </a:t>
            </a:r>
            <a:r>
              <a:rPr lang="de-DE" dirty="0" err="1"/>
              <a:t>statistics</a:t>
            </a:r>
            <a:r>
              <a:rPr lang="de-DE" dirty="0"/>
              <a:t>.“</a:t>
            </a:r>
          </a:p>
          <a:p>
            <a:endParaRPr lang="de-DE" dirty="0"/>
          </a:p>
          <a:p>
            <a:r>
              <a:rPr lang="de-DE" dirty="0" err="1"/>
              <a:t>Remember</a:t>
            </a:r>
            <a:r>
              <a:rPr lang="de-DE" dirty="0"/>
              <a:t>: True/</a:t>
            </a:r>
            <a:r>
              <a:rPr lang="de-DE" dirty="0" err="1"/>
              <a:t>False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Datatypes</a:t>
            </a:r>
            <a:r>
              <a:rPr lang="de-DE" dirty="0"/>
              <a:t>, </a:t>
            </a:r>
            <a:r>
              <a:rPr lang="de-DE" dirty="0" err="1"/>
              <a:t>therefore</a:t>
            </a:r>
            <a:r>
              <a:rPr lang="de-DE" dirty="0"/>
              <a:t> </a:t>
            </a:r>
            <a:r>
              <a:rPr lang="de-DE" dirty="0" err="1"/>
              <a:t>Conditional</a:t>
            </a:r>
            <a:r>
              <a:rPr lang="de-DE" dirty="0"/>
              <a:t> Statements </a:t>
            </a:r>
            <a:r>
              <a:rPr lang="de-DE" dirty="0" err="1"/>
              <a:t>underly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Boolean </a:t>
            </a:r>
            <a:r>
              <a:rPr lang="de-DE" dirty="0" err="1"/>
              <a:t>logic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326747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AA86E4F5-0F97-43AA-85A4-6B88D8352132}"/>
              </a:ext>
            </a:extLst>
          </p:cNvPr>
          <p:cNvSpPr/>
          <p:nvPr/>
        </p:nvSpPr>
        <p:spPr>
          <a:xfrm>
            <a:off x="4957287" y="3197791"/>
            <a:ext cx="3888509" cy="716827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condition:</a:t>
            </a:r>
            <a:endParaRPr lang="en-DE" sz="20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# body of if statement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6A10627-C6E9-4E2C-9D70-DDD8C58D47AA}"/>
              </a:ext>
            </a:extLst>
          </p:cNvPr>
          <p:cNvSpPr/>
          <p:nvPr/>
        </p:nvSpPr>
        <p:spPr>
          <a:xfrm>
            <a:off x="4313464" y="304800"/>
            <a:ext cx="3510642" cy="148076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 err="1"/>
              <a:t>Condition</a:t>
            </a:r>
            <a:r>
              <a:rPr lang="de-DE" sz="2000" dirty="0"/>
              <a:t> = Boolean </a:t>
            </a:r>
            <a:r>
              <a:rPr lang="de-DE" sz="2000" dirty="0" err="1"/>
              <a:t>expression</a:t>
            </a:r>
            <a:endParaRPr lang="de-DE" sz="2000" dirty="0"/>
          </a:p>
          <a:p>
            <a:pPr algn="ctr"/>
            <a:r>
              <a:rPr lang="de-DE" sz="2000" dirty="0" err="1"/>
              <a:t>number</a:t>
            </a:r>
            <a:r>
              <a:rPr lang="de-DE" sz="2000" dirty="0"/>
              <a:t> &gt; 5</a:t>
            </a:r>
          </a:p>
          <a:p>
            <a:pPr algn="ctr"/>
            <a:r>
              <a:rPr lang="de-DE" sz="2000" dirty="0"/>
              <a:t>b == b</a:t>
            </a:r>
          </a:p>
          <a:p>
            <a:pPr algn="ctr"/>
            <a:r>
              <a:rPr lang="de-DE" sz="2000" dirty="0"/>
              <a:t>x != 0</a:t>
            </a:r>
            <a:endParaRPr lang="en-DE" sz="2000" dirty="0"/>
          </a:p>
        </p:txBody>
      </p: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988C031A-3951-40C4-B013-3CFF8AAAB344}"/>
              </a:ext>
            </a:extLst>
          </p:cNvPr>
          <p:cNvCxnSpPr>
            <a:cxnSpLocks/>
          </p:cNvCxnSpPr>
          <p:nvPr/>
        </p:nvCxnSpPr>
        <p:spPr>
          <a:xfrm flipV="1">
            <a:off x="6068785" y="1785565"/>
            <a:ext cx="0" cy="1412226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hteck 31">
            <a:extLst>
              <a:ext uri="{FF2B5EF4-FFF2-40B4-BE49-F238E27FC236}">
                <a16:creationId xmlns:a16="http://schemas.microsoft.com/office/drawing/2014/main" id="{BE216019-C6EE-409D-B376-0C0AF9ED0F1F}"/>
              </a:ext>
            </a:extLst>
          </p:cNvPr>
          <p:cNvSpPr/>
          <p:nvPr/>
        </p:nvSpPr>
        <p:spPr>
          <a:xfrm>
            <a:off x="5649685" y="4962174"/>
            <a:ext cx="3026229" cy="1545771"/>
          </a:xfrm>
          <a:prstGeom prst="rect">
            <a:avLst/>
          </a:prstGeom>
          <a:solidFill>
            <a:schemeClr val="bg1"/>
          </a:solidFill>
          <a:ln w="50800">
            <a:solidFill>
              <a:srgbClr val="90B1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rgbClr val="90B179"/>
                </a:solidFill>
              </a:rPr>
              <a:t>Body</a:t>
            </a:r>
          </a:p>
          <a:p>
            <a:pPr algn="ctr"/>
            <a:r>
              <a:rPr lang="de-DE" sz="2000" dirty="0">
                <a:solidFill>
                  <a:srgbClr val="90B179"/>
                </a:solidFill>
              </a:rPr>
              <a:t>Code block </a:t>
            </a:r>
            <a:r>
              <a:rPr lang="de-DE" sz="2000" dirty="0" err="1">
                <a:solidFill>
                  <a:srgbClr val="90B179"/>
                </a:solidFill>
              </a:rPr>
              <a:t>that</a:t>
            </a:r>
            <a:r>
              <a:rPr lang="de-DE" sz="2000" dirty="0">
                <a:solidFill>
                  <a:srgbClr val="90B179"/>
                </a:solidFill>
              </a:rPr>
              <a:t> </a:t>
            </a:r>
            <a:r>
              <a:rPr lang="de-DE" sz="2000" dirty="0" err="1">
                <a:solidFill>
                  <a:srgbClr val="90B179"/>
                </a:solidFill>
              </a:rPr>
              <a:t>is</a:t>
            </a:r>
            <a:r>
              <a:rPr lang="de-DE" sz="2000" dirty="0">
                <a:solidFill>
                  <a:srgbClr val="90B179"/>
                </a:solidFill>
              </a:rPr>
              <a:t> </a:t>
            </a:r>
            <a:r>
              <a:rPr lang="de-DE" sz="2000" dirty="0" err="1">
                <a:solidFill>
                  <a:srgbClr val="90B179"/>
                </a:solidFill>
              </a:rPr>
              <a:t>executed</a:t>
            </a:r>
            <a:r>
              <a:rPr lang="de-DE" sz="2000" dirty="0">
                <a:solidFill>
                  <a:srgbClr val="90B179"/>
                </a:solidFill>
              </a:rPr>
              <a:t> </a:t>
            </a:r>
            <a:r>
              <a:rPr lang="de-DE" sz="2000" dirty="0" err="1">
                <a:solidFill>
                  <a:srgbClr val="90B179"/>
                </a:solidFill>
              </a:rPr>
              <a:t>when</a:t>
            </a:r>
            <a:r>
              <a:rPr lang="de-DE" sz="2000" dirty="0">
                <a:solidFill>
                  <a:srgbClr val="90B179"/>
                </a:solidFill>
              </a:rPr>
              <a:t> </a:t>
            </a:r>
            <a:r>
              <a:rPr lang="de-DE" sz="2000" dirty="0" err="1">
                <a:solidFill>
                  <a:srgbClr val="90B179"/>
                </a:solidFill>
              </a:rPr>
              <a:t>the</a:t>
            </a:r>
            <a:r>
              <a:rPr lang="de-DE" sz="2000" dirty="0">
                <a:solidFill>
                  <a:srgbClr val="90B179"/>
                </a:solidFill>
              </a:rPr>
              <a:t> </a:t>
            </a:r>
            <a:r>
              <a:rPr lang="de-DE" sz="2000" dirty="0" err="1">
                <a:solidFill>
                  <a:srgbClr val="90B179"/>
                </a:solidFill>
              </a:rPr>
              <a:t>condition</a:t>
            </a:r>
            <a:r>
              <a:rPr lang="de-DE" sz="2000" dirty="0">
                <a:solidFill>
                  <a:srgbClr val="90B179"/>
                </a:solidFill>
              </a:rPr>
              <a:t> </a:t>
            </a:r>
            <a:r>
              <a:rPr lang="de-DE" sz="2000" dirty="0" err="1">
                <a:solidFill>
                  <a:srgbClr val="90B179"/>
                </a:solidFill>
              </a:rPr>
              <a:t>evaluates</a:t>
            </a:r>
            <a:r>
              <a:rPr lang="de-DE" sz="2000" dirty="0">
                <a:solidFill>
                  <a:srgbClr val="90B179"/>
                </a:solidFill>
              </a:rPr>
              <a:t> </a:t>
            </a:r>
            <a:r>
              <a:rPr lang="de-DE" sz="2000" dirty="0" err="1">
                <a:solidFill>
                  <a:srgbClr val="90B179"/>
                </a:solidFill>
              </a:rPr>
              <a:t>to</a:t>
            </a:r>
            <a:r>
              <a:rPr lang="de-DE" sz="2000" dirty="0">
                <a:solidFill>
                  <a:srgbClr val="90B179"/>
                </a:solidFill>
              </a:rPr>
              <a:t> „True“</a:t>
            </a:r>
            <a:endParaRPr lang="en-DE" sz="2000" dirty="0">
              <a:solidFill>
                <a:srgbClr val="90B179"/>
              </a:solidFill>
            </a:endParaRP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675E5103-D2D3-4E18-A47E-C3A0B59F72B7}"/>
              </a:ext>
            </a:extLst>
          </p:cNvPr>
          <p:cNvCxnSpPr>
            <a:cxnSpLocks/>
          </p:cNvCxnSpPr>
          <p:nvPr/>
        </p:nvCxnSpPr>
        <p:spPr>
          <a:xfrm>
            <a:off x="7162800" y="3914618"/>
            <a:ext cx="0" cy="1047556"/>
          </a:xfrm>
          <a:prstGeom prst="straightConnector1">
            <a:avLst/>
          </a:prstGeom>
          <a:ln w="50800">
            <a:solidFill>
              <a:srgbClr val="90B17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hteck 35">
            <a:extLst>
              <a:ext uri="{FF2B5EF4-FFF2-40B4-BE49-F238E27FC236}">
                <a16:creationId xmlns:a16="http://schemas.microsoft.com/office/drawing/2014/main" id="{8F655E1C-4037-445C-AD0C-1AE18C80268E}"/>
              </a:ext>
            </a:extLst>
          </p:cNvPr>
          <p:cNvSpPr/>
          <p:nvPr/>
        </p:nvSpPr>
        <p:spPr>
          <a:xfrm>
            <a:off x="831022" y="2867062"/>
            <a:ext cx="2304064" cy="1047556"/>
          </a:xfrm>
          <a:prstGeom prst="rect">
            <a:avLst/>
          </a:prstGeom>
          <a:solidFill>
            <a:schemeClr val="bg1"/>
          </a:solidFill>
          <a:ln w="50800">
            <a:solidFill>
              <a:srgbClr val="9C5B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 err="1">
                <a:solidFill>
                  <a:srgbClr val="9C5BCD"/>
                </a:solidFill>
              </a:rPr>
              <a:t>If</a:t>
            </a:r>
            <a:r>
              <a:rPr lang="de-DE" sz="2000" dirty="0">
                <a:solidFill>
                  <a:srgbClr val="9C5BCD"/>
                </a:solidFill>
              </a:rPr>
              <a:t> </a:t>
            </a:r>
            <a:r>
              <a:rPr lang="de-DE" sz="2000" dirty="0" err="1">
                <a:solidFill>
                  <a:srgbClr val="9C5BCD"/>
                </a:solidFill>
              </a:rPr>
              <a:t>statement</a:t>
            </a:r>
            <a:endParaRPr lang="de-DE" sz="2000" dirty="0">
              <a:solidFill>
                <a:srgbClr val="9C5BCD"/>
              </a:solidFill>
            </a:endParaRPr>
          </a:p>
          <a:p>
            <a:pPr algn="ctr"/>
            <a:r>
              <a:rPr lang="de-DE" sz="2000" dirty="0">
                <a:solidFill>
                  <a:srgbClr val="9C5BCD"/>
                </a:solidFill>
              </a:rPr>
              <a:t>Tests </a:t>
            </a:r>
            <a:r>
              <a:rPr lang="de-DE" sz="2000" dirty="0" err="1">
                <a:solidFill>
                  <a:srgbClr val="9C5BCD"/>
                </a:solidFill>
              </a:rPr>
              <a:t>for</a:t>
            </a:r>
            <a:r>
              <a:rPr lang="de-DE" sz="2000" dirty="0">
                <a:solidFill>
                  <a:srgbClr val="9C5BCD"/>
                </a:solidFill>
              </a:rPr>
              <a:t> a </a:t>
            </a:r>
            <a:r>
              <a:rPr lang="de-DE" sz="2000" dirty="0" err="1">
                <a:solidFill>
                  <a:srgbClr val="9C5BCD"/>
                </a:solidFill>
              </a:rPr>
              <a:t>condition</a:t>
            </a:r>
            <a:endParaRPr lang="en-DE" sz="2000" dirty="0">
              <a:solidFill>
                <a:srgbClr val="9C5BCD"/>
              </a:solidFill>
            </a:endParaRPr>
          </a:p>
        </p:txBody>
      </p: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322594DA-C592-4571-AFBF-0865CBF25D5D}"/>
              </a:ext>
            </a:extLst>
          </p:cNvPr>
          <p:cNvCxnSpPr>
            <a:cxnSpLocks/>
          </p:cNvCxnSpPr>
          <p:nvPr/>
        </p:nvCxnSpPr>
        <p:spPr>
          <a:xfrm flipH="1">
            <a:off x="3135086" y="3349375"/>
            <a:ext cx="1822201" cy="0"/>
          </a:xfrm>
          <a:prstGeom prst="straightConnector1">
            <a:avLst/>
          </a:prstGeom>
          <a:ln w="50800">
            <a:solidFill>
              <a:srgbClr val="9C5BC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2819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B987FD-FA35-4A15-824D-BB4B9B6DA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3886" y="4391932"/>
            <a:ext cx="9884228" cy="2100943"/>
          </a:xfrm>
        </p:spPr>
        <p:txBody>
          <a:bodyPr/>
          <a:lstStyle/>
          <a:p>
            <a:pPr marL="0" indent="0" algn="just">
              <a:buNone/>
            </a:pPr>
            <a:r>
              <a:rPr lang="de-DE" dirty="0"/>
              <a:t>The block </a:t>
            </a:r>
            <a:r>
              <a:rPr lang="de-DE" dirty="0" err="1"/>
              <a:t>of</a:t>
            </a:r>
            <a:r>
              <a:rPr lang="de-DE" dirty="0"/>
              <a:t> code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seperated</a:t>
            </a:r>
            <a:r>
              <a:rPr lang="de-DE" dirty="0"/>
              <a:t> </a:t>
            </a:r>
            <a:r>
              <a:rPr lang="de-DE" dirty="0" err="1"/>
              <a:t>through</a:t>
            </a:r>
            <a:r>
              <a:rPr lang="de-DE" dirty="0"/>
              <a:t> </a:t>
            </a:r>
            <a:r>
              <a:rPr lang="de-DE" dirty="0" err="1"/>
              <a:t>indentation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body</a:t>
            </a:r>
            <a:r>
              <a:rPr lang="de-DE" dirty="0"/>
              <a:t>. </a:t>
            </a:r>
            <a:r>
              <a:rPr lang="de-DE" dirty="0" err="1"/>
              <a:t>Typically</a:t>
            </a:r>
            <a:r>
              <a:rPr lang="de-DE" dirty="0"/>
              <a:t> via </a:t>
            </a:r>
            <a:r>
              <a:rPr lang="de-DE" dirty="0" err="1"/>
              <a:t>four</a:t>
            </a:r>
            <a:r>
              <a:rPr lang="de-DE" dirty="0"/>
              <a:t> </a:t>
            </a:r>
            <a:r>
              <a:rPr lang="de-DE" dirty="0" err="1"/>
              <a:t>spaces</a:t>
            </a:r>
            <a:r>
              <a:rPr lang="de-DE" dirty="0"/>
              <a:t>.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press „Tab“ on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keyboard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selected</a:t>
            </a:r>
            <a:r>
              <a:rPr lang="de-DE" dirty="0"/>
              <a:t> </a:t>
            </a:r>
            <a:r>
              <a:rPr lang="de-DE" dirty="0" err="1"/>
              <a:t>line</a:t>
            </a:r>
            <a:r>
              <a:rPr lang="de-DE" dirty="0"/>
              <a:t>(s) </a:t>
            </a:r>
            <a:r>
              <a:rPr lang="de-DE" dirty="0" err="1"/>
              <a:t>of</a:t>
            </a:r>
            <a:r>
              <a:rPr lang="de-DE" dirty="0"/>
              <a:t> code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indented</a:t>
            </a:r>
            <a:r>
              <a:rPr lang="de-DE" dirty="0"/>
              <a:t> </a:t>
            </a:r>
            <a:r>
              <a:rPr lang="de-DE" dirty="0" err="1"/>
              <a:t>four</a:t>
            </a:r>
            <a:r>
              <a:rPr lang="de-DE" dirty="0"/>
              <a:t> </a:t>
            </a:r>
            <a:r>
              <a:rPr lang="de-DE" dirty="0" err="1"/>
              <a:t>spaces</a:t>
            </a:r>
            <a:r>
              <a:rPr lang="de-DE" dirty="0"/>
              <a:t> </a:t>
            </a:r>
            <a:r>
              <a:rPr lang="de-DE" dirty="0" err="1"/>
              <a:t>automatically</a:t>
            </a:r>
            <a:r>
              <a:rPr lang="de-DE" dirty="0"/>
              <a:t>. The </a:t>
            </a:r>
            <a:r>
              <a:rPr lang="de-DE" dirty="0" err="1"/>
              <a:t>print</a:t>
            </a:r>
            <a:r>
              <a:rPr lang="de-DE" dirty="0"/>
              <a:t> </a:t>
            </a:r>
            <a:r>
              <a:rPr lang="de-DE" dirty="0" err="1"/>
              <a:t>statement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executed</a:t>
            </a:r>
            <a:r>
              <a:rPr lang="de-DE" dirty="0"/>
              <a:t>,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long</a:t>
            </a:r>
            <a:r>
              <a:rPr lang="de-DE" dirty="0"/>
              <a:t> „</a:t>
            </a:r>
            <a:r>
              <a:rPr lang="de-DE" dirty="0" err="1"/>
              <a:t>number</a:t>
            </a:r>
            <a:r>
              <a:rPr lang="de-DE" dirty="0"/>
              <a:t> &gt; 0“ </a:t>
            </a:r>
            <a:r>
              <a:rPr lang="de-DE" dirty="0" err="1"/>
              <a:t>evaluates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True. Try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happens</a:t>
            </a:r>
            <a:r>
              <a:rPr lang="de-DE" dirty="0"/>
              <a:t>, </a:t>
            </a: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set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-1!</a:t>
            </a:r>
            <a:endParaRPr lang="en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8124B39-E899-4C6F-9D21-EF40AB8B6580}"/>
              </a:ext>
            </a:extLst>
          </p:cNvPr>
          <p:cNvSpPr/>
          <p:nvPr/>
        </p:nvSpPr>
        <p:spPr>
          <a:xfrm>
            <a:off x="2897744" y="1446836"/>
            <a:ext cx="6396513" cy="1780325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n</a:t>
            </a: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umber =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number &gt;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0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(f’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{number} 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is a positive number.’)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rint</a:t>
            </a:r>
            <a:r>
              <a:rPr lang="en-US" sz="2000" dirty="0">
                <a:solidFill>
                  <a:srgbClr val="90B179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(‘This is always executed.’)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D2356FC-71E7-4359-8D87-CA999B9A1D5C}"/>
              </a:ext>
            </a:extLst>
          </p:cNvPr>
          <p:cNvSpPr/>
          <p:nvPr/>
        </p:nvSpPr>
        <p:spPr>
          <a:xfrm>
            <a:off x="2884714" y="3326096"/>
            <a:ext cx="6422571" cy="84812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 err="1">
                <a:solidFill>
                  <a:schemeClr val="bg1"/>
                </a:solidFill>
              </a:rPr>
              <a:t>Console</a:t>
            </a:r>
            <a:r>
              <a:rPr lang="de-DE" dirty="0">
                <a:solidFill>
                  <a:schemeClr val="bg1"/>
                </a:solidFill>
              </a:rPr>
              <a:t> Output:</a:t>
            </a:r>
          </a:p>
          <a:p>
            <a:r>
              <a:rPr lang="de-DE" dirty="0">
                <a:solidFill>
                  <a:schemeClr val="bg1"/>
                </a:solidFill>
              </a:rPr>
              <a:t>&gt;&gt;</a:t>
            </a:r>
          </a:p>
          <a:p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F2E68DB9-0AC2-4D0E-B69E-628C32F80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3570" y="365125"/>
            <a:ext cx="6300686" cy="1081711"/>
          </a:xfrm>
        </p:spPr>
        <p:txBody>
          <a:bodyPr/>
          <a:lstStyle/>
          <a:p>
            <a:r>
              <a:rPr lang="de-DE" dirty="0"/>
              <a:t>Write </a:t>
            </a:r>
            <a:r>
              <a:rPr lang="de-DE" dirty="0" err="1"/>
              <a:t>this</a:t>
            </a:r>
            <a:r>
              <a:rPr lang="de-DE" dirty="0"/>
              <a:t> in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VSCode</a:t>
            </a:r>
            <a:r>
              <a:rPr lang="de-DE" dirty="0"/>
              <a:t>:</a:t>
            </a:r>
            <a:endParaRPr lang="en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AE623D3-B091-4A63-892E-19C4A4912A02}"/>
              </a:ext>
            </a:extLst>
          </p:cNvPr>
          <p:cNvSpPr/>
          <p:nvPr/>
        </p:nvSpPr>
        <p:spPr>
          <a:xfrm>
            <a:off x="2520043" y="1545771"/>
            <a:ext cx="7151914" cy="3592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97234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B987FD-FA35-4A15-824D-BB4B9B6DA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3886" y="4391932"/>
            <a:ext cx="9884228" cy="2100943"/>
          </a:xfrm>
        </p:spPr>
        <p:txBody>
          <a:bodyPr/>
          <a:lstStyle/>
          <a:p>
            <a:pPr marL="0" indent="0" algn="just">
              <a:buNone/>
            </a:pPr>
            <a:r>
              <a:rPr lang="de-DE" dirty="0"/>
              <a:t>The block </a:t>
            </a:r>
            <a:r>
              <a:rPr lang="de-DE" dirty="0" err="1"/>
              <a:t>of</a:t>
            </a:r>
            <a:r>
              <a:rPr lang="de-DE" dirty="0"/>
              <a:t> code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seperated</a:t>
            </a:r>
            <a:r>
              <a:rPr lang="de-DE" dirty="0"/>
              <a:t> </a:t>
            </a:r>
            <a:r>
              <a:rPr lang="de-DE" dirty="0" err="1"/>
              <a:t>through</a:t>
            </a:r>
            <a:r>
              <a:rPr lang="de-DE" dirty="0"/>
              <a:t> </a:t>
            </a:r>
            <a:r>
              <a:rPr lang="de-DE" dirty="0" err="1"/>
              <a:t>indentation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body</a:t>
            </a:r>
            <a:r>
              <a:rPr lang="de-DE" dirty="0"/>
              <a:t>. </a:t>
            </a:r>
            <a:r>
              <a:rPr lang="de-DE" dirty="0" err="1"/>
              <a:t>Typically</a:t>
            </a:r>
            <a:r>
              <a:rPr lang="de-DE" dirty="0"/>
              <a:t> via </a:t>
            </a:r>
            <a:r>
              <a:rPr lang="de-DE" dirty="0" err="1"/>
              <a:t>four</a:t>
            </a:r>
            <a:r>
              <a:rPr lang="de-DE" dirty="0"/>
              <a:t> </a:t>
            </a:r>
            <a:r>
              <a:rPr lang="de-DE" dirty="0" err="1"/>
              <a:t>spaces</a:t>
            </a:r>
            <a:r>
              <a:rPr lang="de-DE" dirty="0"/>
              <a:t>.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press „Tab“ on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keyboard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selected</a:t>
            </a:r>
            <a:r>
              <a:rPr lang="de-DE" dirty="0"/>
              <a:t> </a:t>
            </a:r>
            <a:r>
              <a:rPr lang="de-DE" dirty="0" err="1"/>
              <a:t>line</a:t>
            </a:r>
            <a:r>
              <a:rPr lang="de-DE" dirty="0"/>
              <a:t>(s) </a:t>
            </a:r>
            <a:r>
              <a:rPr lang="de-DE" dirty="0" err="1"/>
              <a:t>of</a:t>
            </a:r>
            <a:r>
              <a:rPr lang="de-DE" dirty="0"/>
              <a:t> code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indented</a:t>
            </a:r>
            <a:r>
              <a:rPr lang="de-DE" dirty="0"/>
              <a:t> </a:t>
            </a:r>
            <a:r>
              <a:rPr lang="de-DE" dirty="0" err="1"/>
              <a:t>four</a:t>
            </a:r>
            <a:r>
              <a:rPr lang="de-DE" dirty="0"/>
              <a:t> </a:t>
            </a:r>
            <a:r>
              <a:rPr lang="de-DE" dirty="0" err="1"/>
              <a:t>spaces</a:t>
            </a:r>
            <a:r>
              <a:rPr lang="de-DE" dirty="0"/>
              <a:t> </a:t>
            </a:r>
            <a:r>
              <a:rPr lang="de-DE" dirty="0" err="1"/>
              <a:t>automatically</a:t>
            </a:r>
            <a:r>
              <a:rPr lang="de-DE" dirty="0"/>
              <a:t>. The </a:t>
            </a:r>
            <a:r>
              <a:rPr lang="de-DE" dirty="0" err="1"/>
              <a:t>print</a:t>
            </a:r>
            <a:r>
              <a:rPr lang="de-DE" dirty="0"/>
              <a:t> </a:t>
            </a:r>
            <a:r>
              <a:rPr lang="de-DE" dirty="0" err="1"/>
              <a:t>statement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executed</a:t>
            </a:r>
            <a:r>
              <a:rPr lang="de-DE" dirty="0"/>
              <a:t>,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long</a:t>
            </a:r>
            <a:r>
              <a:rPr lang="de-DE" dirty="0"/>
              <a:t> „</a:t>
            </a:r>
            <a:r>
              <a:rPr lang="de-DE" dirty="0" err="1"/>
              <a:t>number</a:t>
            </a:r>
            <a:r>
              <a:rPr lang="de-DE" dirty="0"/>
              <a:t> &gt; 0“ </a:t>
            </a:r>
            <a:r>
              <a:rPr lang="de-DE" dirty="0" err="1"/>
              <a:t>evaluates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True. Try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happens</a:t>
            </a:r>
            <a:r>
              <a:rPr lang="de-DE" dirty="0"/>
              <a:t>, </a:t>
            </a: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set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-1!</a:t>
            </a:r>
            <a:endParaRPr lang="en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8124B39-E899-4C6F-9D21-EF40AB8B6580}"/>
              </a:ext>
            </a:extLst>
          </p:cNvPr>
          <p:cNvSpPr/>
          <p:nvPr/>
        </p:nvSpPr>
        <p:spPr>
          <a:xfrm>
            <a:off x="2897744" y="1446836"/>
            <a:ext cx="6396513" cy="1780325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n</a:t>
            </a: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umber =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number &gt;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0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(f’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{number} 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is a positive number.’)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rint</a:t>
            </a:r>
            <a:r>
              <a:rPr lang="en-US" sz="2000" dirty="0">
                <a:solidFill>
                  <a:srgbClr val="90B179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(‘This is always executed.’)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D2356FC-71E7-4359-8D87-CA999B9A1D5C}"/>
              </a:ext>
            </a:extLst>
          </p:cNvPr>
          <p:cNvSpPr/>
          <p:nvPr/>
        </p:nvSpPr>
        <p:spPr>
          <a:xfrm>
            <a:off x="2884714" y="3326096"/>
            <a:ext cx="6422571" cy="84812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 err="1">
                <a:solidFill>
                  <a:schemeClr val="bg1"/>
                </a:solidFill>
              </a:rPr>
              <a:t>Console</a:t>
            </a:r>
            <a:r>
              <a:rPr lang="de-DE" dirty="0">
                <a:solidFill>
                  <a:schemeClr val="bg1"/>
                </a:solidFill>
              </a:rPr>
              <a:t> Output:</a:t>
            </a:r>
          </a:p>
          <a:p>
            <a:r>
              <a:rPr lang="de-DE" dirty="0">
                <a:solidFill>
                  <a:schemeClr val="bg1"/>
                </a:solidFill>
              </a:rPr>
              <a:t>&gt;&gt;</a:t>
            </a:r>
          </a:p>
          <a:p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F2E68DB9-0AC2-4D0E-B69E-628C32F80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3570" y="365125"/>
            <a:ext cx="6300686" cy="1081711"/>
          </a:xfrm>
        </p:spPr>
        <p:txBody>
          <a:bodyPr/>
          <a:lstStyle/>
          <a:p>
            <a:r>
              <a:rPr lang="de-DE" dirty="0"/>
              <a:t>Write </a:t>
            </a:r>
            <a:r>
              <a:rPr lang="de-DE" dirty="0" err="1"/>
              <a:t>this</a:t>
            </a:r>
            <a:r>
              <a:rPr lang="de-DE" dirty="0"/>
              <a:t> in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VSCode</a:t>
            </a:r>
            <a:r>
              <a:rPr lang="de-DE" dirty="0"/>
              <a:t>:</a:t>
            </a:r>
            <a:endParaRPr lang="en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AE623D3-B091-4A63-892E-19C4A4912A02}"/>
              </a:ext>
            </a:extLst>
          </p:cNvPr>
          <p:cNvSpPr/>
          <p:nvPr/>
        </p:nvSpPr>
        <p:spPr>
          <a:xfrm>
            <a:off x="2520042" y="1977769"/>
            <a:ext cx="7151914" cy="3592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69136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B987FD-FA35-4A15-824D-BB4B9B6DA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3886" y="4391932"/>
            <a:ext cx="9884228" cy="2100943"/>
          </a:xfrm>
        </p:spPr>
        <p:txBody>
          <a:bodyPr/>
          <a:lstStyle/>
          <a:p>
            <a:pPr marL="0" indent="0" algn="just">
              <a:buNone/>
            </a:pPr>
            <a:r>
              <a:rPr lang="de-DE" dirty="0"/>
              <a:t>The block </a:t>
            </a:r>
            <a:r>
              <a:rPr lang="de-DE" dirty="0" err="1"/>
              <a:t>of</a:t>
            </a:r>
            <a:r>
              <a:rPr lang="de-DE" dirty="0"/>
              <a:t> code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seperated</a:t>
            </a:r>
            <a:r>
              <a:rPr lang="de-DE" dirty="0"/>
              <a:t> </a:t>
            </a:r>
            <a:r>
              <a:rPr lang="de-DE" dirty="0" err="1"/>
              <a:t>through</a:t>
            </a:r>
            <a:r>
              <a:rPr lang="de-DE" dirty="0"/>
              <a:t> </a:t>
            </a:r>
            <a:r>
              <a:rPr lang="de-DE" dirty="0" err="1"/>
              <a:t>indentation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body</a:t>
            </a:r>
            <a:r>
              <a:rPr lang="de-DE" dirty="0"/>
              <a:t>. </a:t>
            </a:r>
            <a:r>
              <a:rPr lang="de-DE" dirty="0" err="1"/>
              <a:t>Typically</a:t>
            </a:r>
            <a:r>
              <a:rPr lang="de-DE" dirty="0"/>
              <a:t> via </a:t>
            </a:r>
            <a:r>
              <a:rPr lang="de-DE" dirty="0" err="1"/>
              <a:t>four</a:t>
            </a:r>
            <a:r>
              <a:rPr lang="de-DE" dirty="0"/>
              <a:t> </a:t>
            </a:r>
            <a:r>
              <a:rPr lang="de-DE" dirty="0" err="1"/>
              <a:t>spaces</a:t>
            </a:r>
            <a:r>
              <a:rPr lang="de-DE" dirty="0"/>
              <a:t>.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press „Tab“ on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keyboard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selected</a:t>
            </a:r>
            <a:r>
              <a:rPr lang="de-DE" dirty="0"/>
              <a:t> </a:t>
            </a:r>
            <a:r>
              <a:rPr lang="de-DE" dirty="0" err="1"/>
              <a:t>line</a:t>
            </a:r>
            <a:r>
              <a:rPr lang="de-DE" dirty="0"/>
              <a:t>(s) </a:t>
            </a:r>
            <a:r>
              <a:rPr lang="de-DE" dirty="0" err="1"/>
              <a:t>of</a:t>
            </a:r>
            <a:r>
              <a:rPr lang="de-DE" dirty="0"/>
              <a:t> code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indented</a:t>
            </a:r>
            <a:r>
              <a:rPr lang="de-DE" dirty="0"/>
              <a:t> </a:t>
            </a:r>
            <a:r>
              <a:rPr lang="de-DE" dirty="0" err="1"/>
              <a:t>four</a:t>
            </a:r>
            <a:r>
              <a:rPr lang="de-DE" dirty="0"/>
              <a:t> </a:t>
            </a:r>
            <a:r>
              <a:rPr lang="de-DE" dirty="0" err="1"/>
              <a:t>spaces</a:t>
            </a:r>
            <a:r>
              <a:rPr lang="de-DE" dirty="0"/>
              <a:t> </a:t>
            </a:r>
            <a:r>
              <a:rPr lang="de-DE" dirty="0" err="1"/>
              <a:t>automatically</a:t>
            </a:r>
            <a:r>
              <a:rPr lang="de-DE" dirty="0"/>
              <a:t>. The </a:t>
            </a:r>
            <a:r>
              <a:rPr lang="de-DE" dirty="0" err="1"/>
              <a:t>print</a:t>
            </a:r>
            <a:r>
              <a:rPr lang="de-DE" dirty="0"/>
              <a:t> </a:t>
            </a:r>
            <a:r>
              <a:rPr lang="de-DE" dirty="0" err="1"/>
              <a:t>statement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executed</a:t>
            </a:r>
            <a:r>
              <a:rPr lang="de-DE" dirty="0"/>
              <a:t>,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long</a:t>
            </a:r>
            <a:r>
              <a:rPr lang="de-DE" dirty="0"/>
              <a:t> „</a:t>
            </a:r>
            <a:r>
              <a:rPr lang="de-DE" dirty="0" err="1"/>
              <a:t>number</a:t>
            </a:r>
            <a:r>
              <a:rPr lang="de-DE" dirty="0"/>
              <a:t> &gt; 0“ </a:t>
            </a:r>
            <a:r>
              <a:rPr lang="de-DE" dirty="0" err="1"/>
              <a:t>evaluates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True. Try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happens</a:t>
            </a:r>
            <a:r>
              <a:rPr lang="de-DE" dirty="0"/>
              <a:t>, </a:t>
            </a: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set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-1!</a:t>
            </a:r>
            <a:endParaRPr lang="en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8124B39-E899-4C6F-9D21-EF40AB8B6580}"/>
              </a:ext>
            </a:extLst>
          </p:cNvPr>
          <p:cNvSpPr/>
          <p:nvPr/>
        </p:nvSpPr>
        <p:spPr>
          <a:xfrm>
            <a:off x="2897744" y="1446836"/>
            <a:ext cx="6396513" cy="1780325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n</a:t>
            </a: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umber =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number &gt;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0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(f’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{number} 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is a positive number.’)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rint</a:t>
            </a:r>
            <a:r>
              <a:rPr lang="en-US" sz="2000" dirty="0">
                <a:solidFill>
                  <a:srgbClr val="90B179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(‘This is always executed.’)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D2356FC-71E7-4359-8D87-CA999B9A1D5C}"/>
              </a:ext>
            </a:extLst>
          </p:cNvPr>
          <p:cNvSpPr/>
          <p:nvPr/>
        </p:nvSpPr>
        <p:spPr>
          <a:xfrm>
            <a:off x="2884714" y="3326096"/>
            <a:ext cx="6422571" cy="84812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 err="1">
                <a:solidFill>
                  <a:schemeClr val="bg1"/>
                </a:solidFill>
              </a:rPr>
              <a:t>Console</a:t>
            </a:r>
            <a:r>
              <a:rPr lang="de-DE" dirty="0">
                <a:solidFill>
                  <a:schemeClr val="bg1"/>
                </a:solidFill>
              </a:rPr>
              <a:t> Output:</a:t>
            </a:r>
          </a:p>
          <a:p>
            <a:r>
              <a:rPr lang="de-DE" dirty="0">
                <a:solidFill>
                  <a:schemeClr val="bg1"/>
                </a:solidFill>
              </a:rPr>
              <a:t>&gt;&gt; 1 </a:t>
            </a:r>
            <a:r>
              <a:rPr lang="de-DE" dirty="0" err="1">
                <a:solidFill>
                  <a:schemeClr val="bg1"/>
                </a:solidFill>
              </a:rPr>
              <a:t>is</a:t>
            </a:r>
            <a:r>
              <a:rPr lang="de-DE" dirty="0">
                <a:solidFill>
                  <a:schemeClr val="bg1"/>
                </a:solidFill>
              </a:rPr>
              <a:t> a positive </a:t>
            </a:r>
            <a:r>
              <a:rPr lang="de-DE" dirty="0" err="1">
                <a:solidFill>
                  <a:schemeClr val="bg1"/>
                </a:solidFill>
              </a:rPr>
              <a:t>number</a:t>
            </a:r>
            <a:r>
              <a:rPr lang="de-DE" dirty="0">
                <a:solidFill>
                  <a:schemeClr val="bg1"/>
                </a:solidFill>
              </a:rPr>
              <a:t>.</a:t>
            </a:r>
          </a:p>
          <a:p>
            <a:r>
              <a:rPr lang="de-DE" dirty="0">
                <a:solidFill>
                  <a:schemeClr val="bg1"/>
                </a:solidFill>
              </a:rPr>
              <a:t>&gt;&gt;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F2E68DB9-0AC2-4D0E-B69E-628C32F80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3570" y="365125"/>
            <a:ext cx="6300686" cy="1081711"/>
          </a:xfrm>
        </p:spPr>
        <p:txBody>
          <a:bodyPr/>
          <a:lstStyle/>
          <a:p>
            <a:r>
              <a:rPr lang="de-DE" dirty="0"/>
              <a:t>Write </a:t>
            </a:r>
            <a:r>
              <a:rPr lang="de-DE" dirty="0" err="1"/>
              <a:t>this</a:t>
            </a:r>
            <a:r>
              <a:rPr lang="de-DE" dirty="0"/>
              <a:t> in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VSCode</a:t>
            </a:r>
            <a:r>
              <a:rPr lang="de-DE" dirty="0"/>
              <a:t>:</a:t>
            </a:r>
            <a:endParaRPr lang="en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AE623D3-B091-4A63-892E-19C4A4912A02}"/>
              </a:ext>
            </a:extLst>
          </p:cNvPr>
          <p:cNvSpPr/>
          <p:nvPr/>
        </p:nvSpPr>
        <p:spPr>
          <a:xfrm>
            <a:off x="2520042" y="2378980"/>
            <a:ext cx="7151914" cy="3592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29116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B987FD-FA35-4A15-824D-BB4B9B6DA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3886" y="4391932"/>
            <a:ext cx="9884228" cy="2100943"/>
          </a:xfrm>
        </p:spPr>
        <p:txBody>
          <a:bodyPr/>
          <a:lstStyle/>
          <a:p>
            <a:pPr marL="0" indent="0" algn="just">
              <a:buNone/>
            </a:pPr>
            <a:r>
              <a:rPr lang="de-DE" dirty="0"/>
              <a:t>The block </a:t>
            </a:r>
            <a:r>
              <a:rPr lang="de-DE" dirty="0" err="1"/>
              <a:t>of</a:t>
            </a:r>
            <a:r>
              <a:rPr lang="de-DE" dirty="0"/>
              <a:t> code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seperated</a:t>
            </a:r>
            <a:r>
              <a:rPr lang="de-DE" dirty="0"/>
              <a:t> </a:t>
            </a:r>
            <a:r>
              <a:rPr lang="de-DE" dirty="0" err="1"/>
              <a:t>through</a:t>
            </a:r>
            <a:r>
              <a:rPr lang="de-DE" dirty="0"/>
              <a:t> </a:t>
            </a:r>
            <a:r>
              <a:rPr lang="de-DE" dirty="0" err="1"/>
              <a:t>indentation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body</a:t>
            </a:r>
            <a:r>
              <a:rPr lang="de-DE" dirty="0"/>
              <a:t>. </a:t>
            </a:r>
            <a:r>
              <a:rPr lang="de-DE" dirty="0" err="1"/>
              <a:t>Typically</a:t>
            </a:r>
            <a:r>
              <a:rPr lang="de-DE" dirty="0"/>
              <a:t> via </a:t>
            </a:r>
            <a:r>
              <a:rPr lang="de-DE" dirty="0" err="1"/>
              <a:t>four</a:t>
            </a:r>
            <a:r>
              <a:rPr lang="de-DE" dirty="0"/>
              <a:t> </a:t>
            </a:r>
            <a:r>
              <a:rPr lang="de-DE" dirty="0" err="1"/>
              <a:t>spaces</a:t>
            </a:r>
            <a:r>
              <a:rPr lang="de-DE" dirty="0"/>
              <a:t>.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press „Tab“ on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keyboard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selected</a:t>
            </a:r>
            <a:r>
              <a:rPr lang="de-DE" dirty="0"/>
              <a:t> </a:t>
            </a:r>
            <a:r>
              <a:rPr lang="de-DE" dirty="0" err="1"/>
              <a:t>line</a:t>
            </a:r>
            <a:r>
              <a:rPr lang="de-DE" dirty="0"/>
              <a:t>(s) </a:t>
            </a:r>
            <a:r>
              <a:rPr lang="de-DE" dirty="0" err="1"/>
              <a:t>of</a:t>
            </a:r>
            <a:r>
              <a:rPr lang="de-DE" dirty="0"/>
              <a:t> code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indented</a:t>
            </a:r>
            <a:r>
              <a:rPr lang="de-DE" dirty="0"/>
              <a:t> </a:t>
            </a:r>
            <a:r>
              <a:rPr lang="de-DE" dirty="0" err="1"/>
              <a:t>four</a:t>
            </a:r>
            <a:r>
              <a:rPr lang="de-DE" dirty="0"/>
              <a:t> </a:t>
            </a:r>
            <a:r>
              <a:rPr lang="de-DE" dirty="0" err="1"/>
              <a:t>spaces</a:t>
            </a:r>
            <a:r>
              <a:rPr lang="de-DE" dirty="0"/>
              <a:t> </a:t>
            </a:r>
            <a:r>
              <a:rPr lang="de-DE" dirty="0" err="1"/>
              <a:t>automatically</a:t>
            </a:r>
            <a:r>
              <a:rPr lang="de-DE" dirty="0"/>
              <a:t>. The </a:t>
            </a:r>
            <a:r>
              <a:rPr lang="de-DE" dirty="0" err="1"/>
              <a:t>print</a:t>
            </a:r>
            <a:r>
              <a:rPr lang="de-DE" dirty="0"/>
              <a:t> </a:t>
            </a:r>
            <a:r>
              <a:rPr lang="de-DE" dirty="0" err="1"/>
              <a:t>statement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executed</a:t>
            </a:r>
            <a:r>
              <a:rPr lang="de-DE" dirty="0"/>
              <a:t>,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long</a:t>
            </a:r>
            <a:r>
              <a:rPr lang="de-DE" dirty="0"/>
              <a:t> „</a:t>
            </a:r>
            <a:r>
              <a:rPr lang="de-DE" dirty="0" err="1"/>
              <a:t>number</a:t>
            </a:r>
            <a:r>
              <a:rPr lang="de-DE" dirty="0"/>
              <a:t> &gt; 0“ </a:t>
            </a:r>
            <a:r>
              <a:rPr lang="de-DE" dirty="0" err="1"/>
              <a:t>evaluates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True. Try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happens</a:t>
            </a:r>
            <a:r>
              <a:rPr lang="de-DE" dirty="0"/>
              <a:t>, </a:t>
            </a: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set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-1!</a:t>
            </a:r>
            <a:endParaRPr lang="en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8124B39-E899-4C6F-9D21-EF40AB8B6580}"/>
              </a:ext>
            </a:extLst>
          </p:cNvPr>
          <p:cNvSpPr/>
          <p:nvPr/>
        </p:nvSpPr>
        <p:spPr>
          <a:xfrm>
            <a:off x="2897744" y="1446836"/>
            <a:ext cx="6396513" cy="1780325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n</a:t>
            </a: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umber =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number &gt;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0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(f’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{number} 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is a positive number.’)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rint</a:t>
            </a:r>
            <a:r>
              <a:rPr lang="en-US" sz="2000" dirty="0">
                <a:solidFill>
                  <a:srgbClr val="90B179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(‘This is always executed.’)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D2356FC-71E7-4359-8D87-CA999B9A1D5C}"/>
              </a:ext>
            </a:extLst>
          </p:cNvPr>
          <p:cNvSpPr/>
          <p:nvPr/>
        </p:nvSpPr>
        <p:spPr>
          <a:xfrm>
            <a:off x="2884714" y="3326096"/>
            <a:ext cx="6422571" cy="84812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 err="1">
                <a:solidFill>
                  <a:schemeClr val="bg1"/>
                </a:solidFill>
              </a:rPr>
              <a:t>Console</a:t>
            </a:r>
            <a:r>
              <a:rPr lang="de-DE" dirty="0">
                <a:solidFill>
                  <a:schemeClr val="bg1"/>
                </a:solidFill>
              </a:rPr>
              <a:t> Output:</a:t>
            </a:r>
          </a:p>
          <a:p>
            <a:r>
              <a:rPr lang="de-DE" dirty="0">
                <a:solidFill>
                  <a:schemeClr val="bg1"/>
                </a:solidFill>
              </a:rPr>
              <a:t>&gt;&gt; 1 </a:t>
            </a:r>
            <a:r>
              <a:rPr lang="de-DE" dirty="0" err="1">
                <a:solidFill>
                  <a:schemeClr val="bg1"/>
                </a:solidFill>
              </a:rPr>
              <a:t>is</a:t>
            </a:r>
            <a:r>
              <a:rPr lang="de-DE" dirty="0">
                <a:solidFill>
                  <a:schemeClr val="bg1"/>
                </a:solidFill>
              </a:rPr>
              <a:t> a positive </a:t>
            </a:r>
            <a:r>
              <a:rPr lang="de-DE" dirty="0" err="1">
                <a:solidFill>
                  <a:schemeClr val="bg1"/>
                </a:solidFill>
              </a:rPr>
              <a:t>number</a:t>
            </a:r>
            <a:r>
              <a:rPr lang="de-DE" dirty="0">
                <a:solidFill>
                  <a:schemeClr val="bg1"/>
                </a:solidFill>
              </a:rPr>
              <a:t>.</a:t>
            </a:r>
          </a:p>
          <a:p>
            <a:r>
              <a:rPr lang="de-DE" dirty="0">
                <a:solidFill>
                  <a:schemeClr val="bg1"/>
                </a:solidFill>
              </a:rPr>
              <a:t>&gt;&gt; This </a:t>
            </a:r>
            <a:r>
              <a:rPr lang="de-DE" dirty="0" err="1">
                <a:solidFill>
                  <a:schemeClr val="bg1"/>
                </a:solidFill>
              </a:rPr>
              <a:t>is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always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executed</a:t>
            </a:r>
            <a:r>
              <a:rPr lang="de-DE" dirty="0">
                <a:solidFill>
                  <a:schemeClr val="bg1"/>
                </a:solidFill>
              </a:rPr>
              <a:t>.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F2E68DB9-0AC2-4D0E-B69E-628C32F80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3570" y="365125"/>
            <a:ext cx="6300686" cy="1081711"/>
          </a:xfrm>
        </p:spPr>
        <p:txBody>
          <a:bodyPr/>
          <a:lstStyle/>
          <a:p>
            <a:r>
              <a:rPr lang="de-DE" dirty="0"/>
              <a:t>Write </a:t>
            </a:r>
            <a:r>
              <a:rPr lang="de-DE" dirty="0" err="1"/>
              <a:t>this</a:t>
            </a:r>
            <a:r>
              <a:rPr lang="de-DE" dirty="0"/>
              <a:t> in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VSCode</a:t>
            </a:r>
            <a:r>
              <a:rPr lang="de-DE" dirty="0"/>
              <a:t>:</a:t>
            </a:r>
            <a:endParaRPr lang="en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AE623D3-B091-4A63-892E-19C4A4912A02}"/>
              </a:ext>
            </a:extLst>
          </p:cNvPr>
          <p:cNvSpPr/>
          <p:nvPr/>
        </p:nvSpPr>
        <p:spPr>
          <a:xfrm>
            <a:off x="2520043" y="2797175"/>
            <a:ext cx="7151914" cy="3592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87469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08124B39-E899-4C6F-9D21-EF40AB8B6580}"/>
              </a:ext>
            </a:extLst>
          </p:cNvPr>
          <p:cNvSpPr/>
          <p:nvPr/>
        </p:nvSpPr>
        <p:spPr>
          <a:xfrm>
            <a:off x="2897744" y="1446836"/>
            <a:ext cx="6396513" cy="1780325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n</a:t>
            </a: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umber =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-1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number &gt;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0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(f’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{number} 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is a positive number.’)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rint</a:t>
            </a:r>
            <a:r>
              <a:rPr lang="en-US" sz="2000" dirty="0">
                <a:solidFill>
                  <a:srgbClr val="90B179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(‘This is always executed.’)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D2356FC-71E7-4359-8D87-CA999B9A1D5C}"/>
              </a:ext>
            </a:extLst>
          </p:cNvPr>
          <p:cNvSpPr/>
          <p:nvPr/>
        </p:nvSpPr>
        <p:spPr>
          <a:xfrm>
            <a:off x="2884714" y="3326096"/>
            <a:ext cx="6422571" cy="58187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 err="1">
                <a:solidFill>
                  <a:schemeClr val="bg1"/>
                </a:solidFill>
              </a:rPr>
              <a:t>Console</a:t>
            </a:r>
            <a:r>
              <a:rPr lang="de-DE" dirty="0">
                <a:solidFill>
                  <a:schemeClr val="bg1"/>
                </a:solidFill>
              </a:rPr>
              <a:t> Output:</a:t>
            </a:r>
          </a:p>
          <a:p>
            <a:r>
              <a:rPr lang="de-DE" dirty="0">
                <a:solidFill>
                  <a:schemeClr val="bg1"/>
                </a:solidFill>
              </a:rPr>
              <a:t>&gt;&gt; </a:t>
            </a:r>
            <a:endParaRPr lang="en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9969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08124B39-E899-4C6F-9D21-EF40AB8B6580}"/>
              </a:ext>
            </a:extLst>
          </p:cNvPr>
          <p:cNvSpPr/>
          <p:nvPr/>
        </p:nvSpPr>
        <p:spPr>
          <a:xfrm>
            <a:off x="2897744" y="1446836"/>
            <a:ext cx="6396513" cy="1780325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n</a:t>
            </a: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umber =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-1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number &gt;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0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(f’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{number} 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is a positive number.’)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rint</a:t>
            </a:r>
            <a:r>
              <a:rPr lang="en-US" sz="2000" dirty="0">
                <a:solidFill>
                  <a:srgbClr val="90B179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(‘This is always executed.’)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D2356FC-71E7-4359-8D87-CA999B9A1D5C}"/>
              </a:ext>
            </a:extLst>
          </p:cNvPr>
          <p:cNvSpPr/>
          <p:nvPr/>
        </p:nvSpPr>
        <p:spPr>
          <a:xfrm>
            <a:off x="2884714" y="3326096"/>
            <a:ext cx="6422571" cy="58187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 err="1">
                <a:solidFill>
                  <a:schemeClr val="bg1"/>
                </a:solidFill>
              </a:rPr>
              <a:t>Console</a:t>
            </a:r>
            <a:r>
              <a:rPr lang="de-DE" dirty="0">
                <a:solidFill>
                  <a:schemeClr val="bg1"/>
                </a:solidFill>
              </a:rPr>
              <a:t> Output:</a:t>
            </a:r>
          </a:p>
          <a:p>
            <a:r>
              <a:rPr lang="de-DE" dirty="0">
                <a:solidFill>
                  <a:schemeClr val="bg1"/>
                </a:solidFill>
              </a:rPr>
              <a:t>&gt;&gt; 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71DB85F-2EDE-449B-A890-3514E741C1D6}"/>
              </a:ext>
            </a:extLst>
          </p:cNvPr>
          <p:cNvSpPr/>
          <p:nvPr/>
        </p:nvSpPr>
        <p:spPr>
          <a:xfrm>
            <a:off x="2520043" y="1545771"/>
            <a:ext cx="7151914" cy="3592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049105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08124B39-E899-4C6F-9D21-EF40AB8B6580}"/>
              </a:ext>
            </a:extLst>
          </p:cNvPr>
          <p:cNvSpPr/>
          <p:nvPr/>
        </p:nvSpPr>
        <p:spPr>
          <a:xfrm>
            <a:off x="2897744" y="1446836"/>
            <a:ext cx="6396513" cy="1780325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n</a:t>
            </a: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umber =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-1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number &gt;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0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(f’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{number} 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is a positive number.’)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rint</a:t>
            </a:r>
            <a:r>
              <a:rPr lang="en-US" sz="2000" dirty="0">
                <a:solidFill>
                  <a:srgbClr val="90B179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(‘This is always executed.’)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D2356FC-71E7-4359-8D87-CA999B9A1D5C}"/>
              </a:ext>
            </a:extLst>
          </p:cNvPr>
          <p:cNvSpPr/>
          <p:nvPr/>
        </p:nvSpPr>
        <p:spPr>
          <a:xfrm>
            <a:off x="2884714" y="3326096"/>
            <a:ext cx="6422571" cy="58187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 err="1">
                <a:solidFill>
                  <a:schemeClr val="bg1"/>
                </a:solidFill>
              </a:rPr>
              <a:t>Console</a:t>
            </a:r>
            <a:r>
              <a:rPr lang="de-DE" dirty="0">
                <a:solidFill>
                  <a:schemeClr val="bg1"/>
                </a:solidFill>
              </a:rPr>
              <a:t> Output:</a:t>
            </a:r>
          </a:p>
          <a:p>
            <a:r>
              <a:rPr lang="de-DE" dirty="0">
                <a:solidFill>
                  <a:schemeClr val="bg1"/>
                </a:solidFill>
              </a:rPr>
              <a:t>&gt;&gt; 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7646A53-A4A1-4A29-99C8-658F41D2B7B6}"/>
              </a:ext>
            </a:extLst>
          </p:cNvPr>
          <p:cNvSpPr/>
          <p:nvPr/>
        </p:nvSpPr>
        <p:spPr>
          <a:xfrm>
            <a:off x="2520042" y="1977769"/>
            <a:ext cx="7151914" cy="3592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347032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08124B39-E899-4C6F-9D21-EF40AB8B6580}"/>
              </a:ext>
            </a:extLst>
          </p:cNvPr>
          <p:cNvSpPr/>
          <p:nvPr/>
        </p:nvSpPr>
        <p:spPr>
          <a:xfrm>
            <a:off x="2897744" y="1446836"/>
            <a:ext cx="6396513" cy="1780325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n</a:t>
            </a: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umber =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-1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number &gt;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0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(f’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{number} 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is a positive number.’)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rint</a:t>
            </a:r>
            <a:r>
              <a:rPr lang="en-US" sz="2000" dirty="0">
                <a:solidFill>
                  <a:srgbClr val="90B179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(‘This is always executed.’)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D2356FC-71E7-4359-8D87-CA999B9A1D5C}"/>
              </a:ext>
            </a:extLst>
          </p:cNvPr>
          <p:cNvSpPr/>
          <p:nvPr/>
        </p:nvSpPr>
        <p:spPr>
          <a:xfrm>
            <a:off x="2884714" y="3326096"/>
            <a:ext cx="6422571" cy="58187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 err="1">
                <a:solidFill>
                  <a:schemeClr val="bg1"/>
                </a:solidFill>
              </a:rPr>
              <a:t>Console</a:t>
            </a:r>
            <a:r>
              <a:rPr lang="de-DE" dirty="0">
                <a:solidFill>
                  <a:schemeClr val="bg1"/>
                </a:solidFill>
              </a:rPr>
              <a:t> Output:</a:t>
            </a:r>
          </a:p>
          <a:p>
            <a:r>
              <a:rPr lang="de-DE" dirty="0">
                <a:solidFill>
                  <a:schemeClr val="bg1"/>
                </a:solidFill>
              </a:rPr>
              <a:t>&gt;&gt; This </a:t>
            </a:r>
            <a:r>
              <a:rPr lang="de-DE" dirty="0" err="1">
                <a:solidFill>
                  <a:schemeClr val="bg1"/>
                </a:solidFill>
              </a:rPr>
              <a:t>is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always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executed</a:t>
            </a:r>
            <a:r>
              <a:rPr lang="de-DE" dirty="0">
                <a:solidFill>
                  <a:schemeClr val="bg1"/>
                </a:solidFill>
              </a:rPr>
              <a:t>.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C07D2C1-42AA-420B-9A95-23E5B0E44463}"/>
              </a:ext>
            </a:extLst>
          </p:cNvPr>
          <p:cNvSpPr/>
          <p:nvPr/>
        </p:nvSpPr>
        <p:spPr>
          <a:xfrm>
            <a:off x="2520043" y="2797175"/>
            <a:ext cx="7151914" cy="3592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413668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7B77E1-D80B-49E3-A79B-F4D83A793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If</a:t>
            </a:r>
            <a:r>
              <a:rPr lang="de-DE" dirty="0"/>
              <a:t>…</a:t>
            </a:r>
            <a:r>
              <a:rPr lang="de-DE" dirty="0" err="1"/>
              <a:t>else</a:t>
            </a:r>
            <a:r>
              <a:rPr lang="de-DE" dirty="0"/>
              <a:t> </a:t>
            </a:r>
            <a:r>
              <a:rPr lang="de-DE" dirty="0" err="1"/>
              <a:t>statement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E2C0B05-44BF-418D-9478-07938FFAF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4886"/>
            <a:ext cx="10515600" cy="52033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condition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an „</a:t>
            </a:r>
            <a:r>
              <a:rPr lang="de-DE" dirty="0" err="1">
                <a:solidFill>
                  <a:srgbClr val="9C5BCD"/>
                </a:solidFill>
              </a:rPr>
              <a:t>if</a:t>
            </a:r>
            <a:r>
              <a:rPr lang="de-DE" dirty="0"/>
              <a:t>“ </a:t>
            </a:r>
            <a:r>
              <a:rPr lang="de-DE" dirty="0" err="1"/>
              <a:t>statement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not </a:t>
            </a:r>
            <a:r>
              <a:rPr lang="de-DE" dirty="0" err="1"/>
              <a:t>met</a:t>
            </a:r>
            <a:r>
              <a:rPr lang="de-DE" dirty="0"/>
              <a:t> and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followed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an „</a:t>
            </a:r>
            <a:r>
              <a:rPr lang="de-DE" dirty="0" err="1">
                <a:solidFill>
                  <a:srgbClr val="9C5BCD"/>
                </a:solidFill>
              </a:rPr>
              <a:t>else</a:t>
            </a:r>
            <a:r>
              <a:rPr lang="de-DE" dirty="0"/>
              <a:t>“ </a:t>
            </a:r>
            <a:r>
              <a:rPr lang="de-DE" dirty="0" err="1"/>
              <a:t>statement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code block </a:t>
            </a:r>
            <a:r>
              <a:rPr lang="de-DE" dirty="0" err="1"/>
              <a:t>following</a:t>
            </a:r>
            <a:r>
              <a:rPr lang="de-DE" dirty="0"/>
              <a:t> „</a:t>
            </a:r>
            <a:r>
              <a:rPr lang="de-DE" dirty="0" err="1">
                <a:solidFill>
                  <a:srgbClr val="9C5BCD"/>
                </a:solidFill>
              </a:rPr>
              <a:t>else</a:t>
            </a:r>
            <a:r>
              <a:rPr lang="de-DE" dirty="0"/>
              <a:t>“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executed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 algn="ctr">
              <a:buNone/>
            </a:pPr>
            <a:endParaRPr lang="de-DE" dirty="0"/>
          </a:p>
          <a:p>
            <a:pPr marL="0" indent="0" algn="ctr">
              <a:buNone/>
            </a:pPr>
            <a:r>
              <a:rPr lang="de-DE" dirty="0"/>
              <a:t>Imagine „</a:t>
            </a:r>
            <a:r>
              <a:rPr lang="de-DE" dirty="0" err="1">
                <a:solidFill>
                  <a:srgbClr val="9C5BCD"/>
                </a:solidFill>
              </a:rPr>
              <a:t>else</a:t>
            </a:r>
            <a:r>
              <a:rPr lang="de-DE" dirty="0"/>
              <a:t>“ </a:t>
            </a:r>
            <a:r>
              <a:rPr lang="de-DE" dirty="0" err="1"/>
              <a:t>as</a:t>
            </a:r>
            <a:r>
              <a:rPr lang="de-DE" dirty="0"/>
              <a:t> „</a:t>
            </a:r>
            <a:r>
              <a:rPr lang="de-DE" dirty="0" err="1"/>
              <a:t>for</a:t>
            </a:r>
            <a:r>
              <a:rPr lang="de-DE" dirty="0"/>
              <a:t> all </a:t>
            </a:r>
            <a:r>
              <a:rPr lang="de-DE" dirty="0" err="1"/>
              <a:t>remaining</a:t>
            </a:r>
            <a:r>
              <a:rPr lang="de-DE" dirty="0"/>
              <a:t> </a:t>
            </a:r>
            <a:r>
              <a:rPr lang="de-DE" dirty="0" err="1"/>
              <a:t>cases</a:t>
            </a:r>
            <a:r>
              <a:rPr lang="de-DE" dirty="0"/>
              <a:t>“</a:t>
            </a:r>
            <a:endParaRPr lang="en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679245D-CD24-45BB-9289-1FAD84927C6E}"/>
              </a:ext>
            </a:extLst>
          </p:cNvPr>
          <p:cNvSpPr/>
          <p:nvPr/>
        </p:nvSpPr>
        <p:spPr>
          <a:xfrm>
            <a:off x="2624529" y="2419180"/>
            <a:ext cx="6942942" cy="2424963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n</a:t>
            </a: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umber =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-1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number &gt;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0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(f’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{number} 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is a positive number.’)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else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(f’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{number} 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is not a positive number.’)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(‘This is always executed.’)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EA5CD6E0-C472-43E8-865C-4EFEADB53E92}"/>
              </a:ext>
            </a:extLst>
          </p:cNvPr>
          <p:cNvSpPr/>
          <p:nvPr/>
        </p:nvSpPr>
        <p:spPr>
          <a:xfrm>
            <a:off x="2624529" y="4939563"/>
            <a:ext cx="6942942" cy="82986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 err="1">
                <a:solidFill>
                  <a:schemeClr val="bg1"/>
                </a:solidFill>
              </a:rPr>
              <a:t>Console</a:t>
            </a:r>
            <a:r>
              <a:rPr lang="de-DE" dirty="0">
                <a:solidFill>
                  <a:schemeClr val="bg1"/>
                </a:solidFill>
              </a:rPr>
              <a:t> Output:</a:t>
            </a:r>
          </a:p>
          <a:p>
            <a:r>
              <a:rPr lang="de-DE" dirty="0">
                <a:solidFill>
                  <a:schemeClr val="bg1"/>
                </a:solidFill>
              </a:rPr>
              <a:t>&gt;&gt; -1 </a:t>
            </a:r>
            <a:r>
              <a:rPr lang="de-DE" dirty="0" err="1">
                <a:solidFill>
                  <a:schemeClr val="bg1"/>
                </a:solidFill>
              </a:rPr>
              <a:t>is</a:t>
            </a:r>
            <a:r>
              <a:rPr lang="de-DE" dirty="0">
                <a:solidFill>
                  <a:schemeClr val="bg1"/>
                </a:solidFill>
              </a:rPr>
              <a:t> not a positive </a:t>
            </a:r>
            <a:r>
              <a:rPr lang="de-DE" dirty="0" err="1">
                <a:solidFill>
                  <a:schemeClr val="bg1"/>
                </a:solidFill>
              </a:rPr>
              <a:t>number</a:t>
            </a:r>
            <a:r>
              <a:rPr lang="de-DE" dirty="0">
                <a:solidFill>
                  <a:schemeClr val="bg1"/>
                </a:solidFill>
              </a:rPr>
              <a:t>.</a:t>
            </a:r>
          </a:p>
          <a:p>
            <a:r>
              <a:rPr lang="de-DE" dirty="0">
                <a:solidFill>
                  <a:schemeClr val="bg1"/>
                </a:solidFill>
              </a:rPr>
              <a:t>&gt;&gt; This </a:t>
            </a:r>
            <a:r>
              <a:rPr lang="de-DE" dirty="0" err="1">
                <a:solidFill>
                  <a:schemeClr val="bg1"/>
                </a:solidFill>
              </a:rPr>
              <a:t>is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always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executed</a:t>
            </a:r>
            <a:r>
              <a:rPr lang="de-DE" dirty="0">
                <a:solidFill>
                  <a:schemeClr val="bg1"/>
                </a:solidFill>
              </a:rPr>
              <a:t>.</a:t>
            </a:r>
            <a:endParaRPr lang="en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5816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EFACCC-3FFB-4C49-8456-736170F60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Let‘s</a:t>
            </a:r>
            <a:r>
              <a:rPr lang="de-DE" dirty="0"/>
              <a:t> </a:t>
            </a:r>
            <a:r>
              <a:rPr lang="de-DE" dirty="0" err="1"/>
              <a:t>take</a:t>
            </a:r>
            <a:r>
              <a:rPr lang="de-DE" dirty="0"/>
              <a:t> a </a:t>
            </a:r>
            <a:r>
              <a:rPr lang="de-DE" dirty="0" err="1"/>
              <a:t>ride</a:t>
            </a:r>
            <a:r>
              <a:rPr lang="de-DE" dirty="0"/>
              <a:t>….</a:t>
            </a:r>
            <a:endParaRPr lang="en-DE" dirty="0"/>
          </a:p>
        </p:txBody>
      </p:sp>
      <p:pic>
        <p:nvPicPr>
          <p:cNvPr id="4" name="Picture 4" descr="Rollercoaster Tycoons">
            <a:extLst>
              <a:ext uri="{FF2B5EF4-FFF2-40B4-BE49-F238E27FC236}">
                <a16:creationId xmlns:a16="http://schemas.microsoft.com/office/drawing/2014/main" id="{6E0BE5F1-D2B9-4F3A-8C41-65D0BF0E715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2473" y="1439935"/>
            <a:ext cx="8983004" cy="5052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45058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7D177B-5684-4030-B17E-35C36D1DA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multiple </a:t>
            </a:r>
            <a:r>
              <a:rPr lang="de-DE" dirty="0" err="1"/>
              <a:t>conditions</a:t>
            </a:r>
            <a:r>
              <a:rPr lang="de-DE" dirty="0"/>
              <a:t>?</a:t>
            </a:r>
            <a:endParaRPr lang="en-DE" dirty="0"/>
          </a:p>
        </p:txBody>
      </p:sp>
      <p:pic>
        <p:nvPicPr>
          <p:cNvPr id="2050" name="Picture 2" descr="height restriction at theme park">
            <a:extLst>
              <a:ext uri="{FF2B5EF4-FFF2-40B4-BE49-F238E27FC236}">
                <a16:creationId xmlns:a16="http://schemas.microsoft.com/office/drawing/2014/main" id="{82372BB8-6AD7-4602-93E7-E418852B06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8148" y="1695739"/>
            <a:ext cx="7195704" cy="4797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59981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7D177B-5684-4030-B17E-35C36D1DA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multiple </a:t>
            </a:r>
            <a:r>
              <a:rPr lang="de-DE" dirty="0" err="1"/>
              <a:t>conditions</a:t>
            </a:r>
            <a:r>
              <a:rPr lang="de-DE" dirty="0"/>
              <a:t>?</a:t>
            </a:r>
            <a:endParaRPr lang="en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770E0E5-0788-42E8-9702-3877FCF79A0B}"/>
              </a:ext>
            </a:extLst>
          </p:cNvPr>
          <p:cNvSpPr/>
          <p:nvPr/>
        </p:nvSpPr>
        <p:spPr>
          <a:xfrm>
            <a:off x="2281093" y="1556658"/>
            <a:ext cx="7629814" cy="3058885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</a:t>
            </a:r>
            <a:r>
              <a:rPr lang="en-US" sz="20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ody_size</a:t>
            </a: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=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160</a:t>
            </a: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rgbClr val="90B179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# in cm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body_size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&gt;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150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’Enjoy the ride!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’)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body_size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&gt;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120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’You have to be accompanied by an adult.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’)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else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(’Sorry! Not able to ride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.’)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93D9114-25A9-4FD9-A4D7-C84581CF8A54}"/>
              </a:ext>
            </a:extLst>
          </p:cNvPr>
          <p:cNvSpPr/>
          <p:nvPr/>
        </p:nvSpPr>
        <p:spPr>
          <a:xfrm>
            <a:off x="2281092" y="4700077"/>
            <a:ext cx="7629813" cy="82986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 err="1">
                <a:solidFill>
                  <a:schemeClr val="bg1"/>
                </a:solidFill>
              </a:rPr>
              <a:t>Console</a:t>
            </a:r>
            <a:r>
              <a:rPr lang="de-DE" dirty="0">
                <a:solidFill>
                  <a:schemeClr val="bg1"/>
                </a:solidFill>
              </a:rPr>
              <a:t> Output:</a:t>
            </a:r>
          </a:p>
          <a:p>
            <a:r>
              <a:rPr lang="de-DE" dirty="0">
                <a:solidFill>
                  <a:schemeClr val="bg1"/>
                </a:solidFill>
              </a:rPr>
              <a:t>&gt;&gt; </a:t>
            </a:r>
            <a:r>
              <a:rPr lang="de-DE" dirty="0" err="1">
                <a:solidFill>
                  <a:schemeClr val="bg1"/>
                </a:solidFill>
              </a:rPr>
              <a:t>Enjoy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ride</a:t>
            </a:r>
            <a:r>
              <a:rPr lang="de-DE" dirty="0">
                <a:solidFill>
                  <a:schemeClr val="bg1"/>
                </a:solidFill>
              </a:rPr>
              <a:t>!</a:t>
            </a:r>
          </a:p>
          <a:p>
            <a:r>
              <a:rPr lang="de-DE" dirty="0">
                <a:solidFill>
                  <a:schemeClr val="bg1"/>
                </a:solidFill>
              </a:rPr>
              <a:t>&gt;&gt; </a:t>
            </a:r>
            <a:r>
              <a:rPr lang="de-DE" dirty="0" err="1">
                <a:solidFill>
                  <a:schemeClr val="bg1"/>
                </a:solidFill>
              </a:rPr>
              <a:t>You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have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be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accompanied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by</a:t>
            </a:r>
            <a:r>
              <a:rPr lang="de-DE" dirty="0">
                <a:solidFill>
                  <a:schemeClr val="bg1"/>
                </a:solidFill>
              </a:rPr>
              <a:t> an adult.</a:t>
            </a:r>
            <a:endParaRPr lang="en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10516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7D177B-5684-4030-B17E-35C36D1DA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multiple </a:t>
            </a:r>
            <a:r>
              <a:rPr lang="de-DE" dirty="0" err="1"/>
              <a:t>conditions</a:t>
            </a:r>
            <a:r>
              <a:rPr lang="de-DE" dirty="0"/>
              <a:t>?</a:t>
            </a:r>
            <a:endParaRPr lang="en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770E0E5-0788-42E8-9702-3877FCF79A0B}"/>
              </a:ext>
            </a:extLst>
          </p:cNvPr>
          <p:cNvSpPr/>
          <p:nvPr/>
        </p:nvSpPr>
        <p:spPr>
          <a:xfrm>
            <a:off x="2281093" y="1556658"/>
            <a:ext cx="7629814" cy="3058885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</a:t>
            </a:r>
            <a:r>
              <a:rPr lang="en-US" sz="20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ody_size</a:t>
            </a: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=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160</a:t>
            </a: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rgbClr val="90B179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# in cm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body_size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&gt;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150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’Enjoy the ride!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’)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body_size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&gt;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120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’You have to be accompanied by an adult.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’)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else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(’Sorry! Not able to ride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.’)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93D9114-25A9-4FD9-A4D7-C84581CF8A54}"/>
              </a:ext>
            </a:extLst>
          </p:cNvPr>
          <p:cNvSpPr/>
          <p:nvPr/>
        </p:nvSpPr>
        <p:spPr>
          <a:xfrm>
            <a:off x="2281092" y="4700077"/>
            <a:ext cx="7629813" cy="82986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 err="1">
                <a:solidFill>
                  <a:schemeClr val="bg1"/>
                </a:solidFill>
              </a:rPr>
              <a:t>Console</a:t>
            </a:r>
            <a:r>
              <a:rPr lang="de-DE" dirty="0">
                <a:solidFill>
                  <a:schemeClr val="bg1"/>
                </a:solidFill>
              </a:rPr>
              <a:t> Output:</a:t>
            </a:r>
          </a:p>
          <a:p>
            <a:r>
              <a:rPr lang="de-DE" dirty="0">
                <a:solidFill>
                  <a:schemeClr val="bg1"/>
                </a:solidFill>
              </a:rPr>
              <a:t>&gt;&gt; </a:t>
            </a:r>
            <a:r>
              <a:rPr lang="de-DE" dirty="0" err="1">
                <a:solidFill>
                  <a:schemeClr val="bg1"/>
                </a:solidFill>
              </a:rPr>
              <a:t>Enjoy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ride</a:t>
            </a:r>
            <a:r>
              <a:rPr lang="de-DE" dirty="0">
                <a:solidFill>
                  <a:schemeClr val="bg1"/>
                </a:solidFill>
              </a:rPr>
              <a:t>!</a:t>
            </a:r>
          </a:p>
          <a:p>
            <a:r>
              <a:rPr lang="de-DE" dirty="0">
                <a:solidFill>
                  <a:schemeClr val="bg1"/>
                </a:solidFill>
              </a:rPr>
              <a:t>&gt;&gt; </a:t>
            </a:r>
            <a:r>
              <a:rPr lang="de-DE" dirty="0" err="1">
                <a:solidFill>
                  <a:schemeClr val="bg1"/>
                </a:solidFill>
              </a:rPr>
              <a:t>You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have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be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accompanied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by</a:t>
            </a:r>
            <a:r>
              <a:rPr lang="de-DE" dirty="0">
                <a:solidFill>
                  <a:schemeClr val="bg1"/>
                </a:solidFill>
              </a:rPr>
              <a:t> an adult.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7DBC8A7-56A6-4538-A429-9D4243AE2E5A}"/>
              </a:ext>
            </a:extLst>
          </p:cNvPr>
          <p:cNvSpPr/>
          <p:nvPr/>
        </p:nvSpPr>
        <p:spPr>
          <a:xfrm>
            <a:off x="2095500" y="1606493"/>
            <a:ext cx="8000999" cy="3592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84678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7D177B-5684-4030-B17E-35C36D1DA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multiple </a:t>
            </a:r>
            <a:r>
              <a:rPr lang="de-DE" dirty="0" err="1"/>
              <a:t>conditions</a:t>
            </a:r>
            <a:r>
              <a:rPr lang="de-DE" dirty="0"/>
              <a:t>?</a:t>
            </a:r>
            <a:endParaRPr lang="en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770E0E5-0788-42E8-9702-3877FCF79A0B}"/>
              </a:ext>
            </a:extLst>
          </p:cNvPr>
          <p:cNvSpPr/>
          <p:nvPr/>
        </p:nvSpPr>
        <p:spPr>
          <a:xfrm>
            <a:off x="2281093" y="1556658"/>
            <a:ext cx="7629814" cy="3058885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</a:t>
            </a:r>
            <a:r>
              <a:rPr lang="en-US" sz="20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ody_size</a:t>
            </a: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=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160</a:t>
            </a: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rgbClr val="90B179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# in cm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body_size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&gt;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150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’Enjoy the ride!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’)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body_size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&gt;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120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’You have to be accompanied by an adult.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’)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else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(’Sorry! Not able to ride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.’)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93D9114-25A9-4FD9-A4D7-C84581CF8A54}"/>
              </a:ext>
            </a:extLst>
          </p:cNvPr>
          <p:cNvSpPr/>
          <p:nvPr/>
        </p:nvSpPr>
        <p:spPr>
          <a:xfrm>
            <a:off x="2281092" y="4700077"/>
            <a:ext cx="7629813" cy="82986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 err="1">
                <a:solidFill>
                  <a:schemeClr val="bg1"/>
                </a:solidFill>
              </a:rPr>
              <a:t>Console</a:t>
            </a:r>
            <a:r>
              <a:rPr lang="de-DE" dirty="0">
                <a:solidFill>
                  <a:schemeClr val="bg1"/>
                </a:solidFill>
              </a:rPr>
              <a:t> Output:</a:t>
            </a:r>
          </a:p>
          <a:p>
            <a:r>
              <a:rPr lang="de-DE" dirty="0">
                <a:solidFill>
                  <a:schemeClr val="bg1"/>
                </a:solidFill>
              </a:rPr>
              <a:t>&gt;&gt; </a:t>
            </a:r>
            <a:r>
              <a:rPr lang="de-DE" dirty="0" err="1">
                <a:solidFill>
                  <a:schemeClr val="bg1"/>
                </a:solidFill>
              </a:rPr>
              <a:t>Enjoy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ride</a:t>
            </a:r>
            <a:r>
              <a:rPr lang="de-DE" dirty="0">
                <a:solidFill>
                  <a:schemeClr val="bg1"/>
                </a:solidFill>
              </a:rPr>
              <a:t>!</a:t>
            </a:r>
          </a:p>
          <a:p>
            <a:r>
              <a:rPr lang="de-DE" dirty="0">
                <a:solidFill>
                  <a:schemeClr val="bg1"/>
                </a:solidFill>
              </a:rPr>
              <a:t>&gt;&gt; </a:t>
            </a:r>
            <a:r>
              <a:rPr lang="de-DE" dirty="0" err="1">
                <a:solidFill>
                  <a:schemeClr val="bg1"/>
                </a:solidFill>
              </a:rPr>
              <a:t>You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have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be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accompanied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by</a:t>
            </a:r>
            <a:r>
              <a:rPr lang="de-DE" dirty="0">
                <a:solidFill>
                  <a:schemeClr val="bg1"/>
                </a:solidFill>
              </a:rPr>
              <a:t> an adult.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7DBC8A7-56A6-4538-A429-9D4243AE2E5A}"/>
              </a:ext>
            </a:extLst>
          </p:cNvPr>
          <p:cNvSpPr/>
          <p:nvPr/>
        </p:nvSpPr>
        <p:spPr>
          <a:xfrm>
            <a:off x="2095500" y="2052808"/>
            <a:ext cx="8000999" cy="3592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778603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7D177B-5684-4030-B17E-35C36D1DA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multiple </a:t>
            </a:r>
            <a:r>
              <a:rPr lang="de-DE" dirty="0" err="1"/>
              <a:t>conditions</a:t>
            </a:r>
            <a:r>
              <a:rPr lang="de-DE" dirty="0"/>
              <a:t>?</a:t>
            </a:r>
            <a:endParaRPr lang="en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770E0E5-0788-42E8-9702-3877FCF79A0B}"/>
              </a:ext>
            </a:extLst>
          </p:cNvPr>
          <p:cNvSpPr/>
          <p:nvPr/>
        </p:nvSpPr>
        <p:spPr>
          <a:xfrm>
            <a:off x="2281093" y="1556658"/>
            <a:ext cx="7629814" cy="3058885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</a:t>
            </a:r>
            <a:r>
              <a:rPr lang="en-US" sz="20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ody_size</a:t>
            </a: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=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160</a:t>
            </a: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rgbClr val="90B179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# in cm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body_size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&gt;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150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’Enjoy the ride!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’)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body_size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&gt;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120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’You have to be accompanied by an adult.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’)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else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(’Sorry! Not able to ride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.’)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93D9114-25A9-4FD9-A4D7-C84581CF8A54}"/>
              </a:ext>
            </a:extLst>
          </p:cNvPr>
          <p:cNvSpPr/>
          <p:nvPr/>
        </p:nvSpPr>
        <p:spPr>
          <a:xfrm>
            <a:off x="2281092" y="4700077"/>
            <a:ext cx="7629813" cy="82986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 err="1">
                <a:solidFill>
                  <a:schemeClr val="bg1"/>
                </a:solidFill>
              </a:rPr>
              <a:t>Console</a:t>
            </a:r>
            <a:r>
              <a:rPr lang="de-DE" dirty="0">
                <a:solidFill>
                  <a:schemeClr val="bg1"/>
                </a:solidFill>
              </a:rPr>
              <a:t> Output:</a:t>
            </a:r>
          </a:p>
          <a:p>
            <a:r>
              <a:rPr lang="de-DE" dirty="0">
                <a:solidFill>
                  <a:schemeClr val="bg1"/>
                </a:solidFill>
              </a:rPr>
              <a:t>&gt;&gt; </a:t>
            </a:r>
            <a:r>
              <a:rPr lang="de-DE" dirty="0" err="1">
                <a:solidFill>
                  <a:schemeClr val="bg1"/>
                </a:solidFill>
              </a:rPr>
              <a:t>Enjoy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ride</a:t>
            </a:r>
            <a:r>
              <a:rPr lang="de-DE" dirty="0">
                <a:solidFill>
                  <a:schemeClr val="bg1"/>
                </a:solidFill>
              </a:rPr>
              <a:t>!</a:t>
            </a:r>
          </a:p>
          <a:p>
            <a:r>
              <a:rPr lang="de-DE" dirty="0">
                <a:solidFill>
                  <a:schemeClr val="bg1"/>
                </a:solidFill>
              </a:rPr>
              <a:t>&gt;&gt; </a:t>
            </a:r>
            <a:r>
              <a:rPr lang="de-DE" dirty="0" err="1">
                <a:solidFill>
                  <a:schemeClr val="bg1"/>
                </a:solidFill>
              </a:rPr>
              <a:t>You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have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be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accompanied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by</a:t>
            </a:r>
            <a:r>
              <a:rPr lang="de-DE" dirty="0">
                <a:solidFill>
                  <a:schemeClr val="bg1"/>
                </a:solidFill>
              </a:rPr>
              <a:t> an adult.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7DBC8A7-56A6-4538-A429-9D4243AE2E5A}"/>
              </a:ext>
            </a:extLst>
          </p:cNvPr>
          <p:cNvSpPr/>
          <p:nvPr/>
        </p:nvSpPr>
        <p:spPr>
          <a:xfrm>
            <a:off x="2095500" y="2477351"/>
            <a:ext cx="8000999" cy="3592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767444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7D177B-5684-4030-B17E-35C36D1DA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multiple </a:t>
            </a:r>
            <a:r>
              <a:rPr lang="de-DE" dirty="0" err="1"/>
              <a:t>conditions</a:t>
            </a:r>
            <a:r>
              <a:rPr lang="de-DE" dirty="0"/>
              <a:t>?</a:t>
            </a:r>
            <a:endParaRPr lang="en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770E0E5-0788-42E8-9702-3877FCF79A0B}"/>
              </a:ext>
            </a:extLst>
          </p:cNvPr>
          <p:cNvSpPr/>
          <p:nvPr/>
        </p:nvSpPr>
        <p:spPr>
          <a:xfrm>
            <a:off x="2281093" y="1556658"/>
            <a:ext cx="7629814" cy="3058885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</a:t>
            </a:r>
            <a:r>
              <a:rPr lang="en-US" sz="20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ody_size</a:t>
            </a: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=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160</a:t>
            </a: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rgbClr val="90B179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# in cm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body_size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&gt;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150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’Enjoy the ride!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’)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body_size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&gt;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120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’You have to be accompanied by an adult.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’)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else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(’Sorry! Not able to ride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.’)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93D9114-25A9-4FD9-A4D7-C84581CF8A54}"/>
              </a:ext>
            </a:extLst>
          </p:cNvPr>
          <p:cNvSpPr/>
          <p:nvPr/>
        </p:nvSpPr>
        <p:spPr>
          <a:xfrm>
            <a:off x="2281092" y="4700077"/>
            <a:ext cx="7629813" cy="82986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 err="1">
                <a:solidFill>
                  <a:schemeClr val="bg1"/>
                </a:solidFill>
              </a:rPr>
              <a:t>Console</a:t>
            </a:r>
            <a:r>
              <a:rPr lang="de-DE" dirty="0">
                <a:solidFill>
                  <a:schemeClr val="bg1"/>
                </a:solidFill>
              </a:rPr>
              <a:t> Output:</a:t>
            </a:r>
          </a:p>
          <a:p>
            <a:r>
              <a:rPr lang="de-DE" dirty="0">
                <a:solidFill>
                  <a:schemeClr val="bg1"/>
                </a:solidFill>
              </a:rPr>
              <a:t>&gt;&gt; </a:t>
            </a:r>
            <a:r>
              <a:rPr lang="de-DE" dirty="0" err="1">
                <a:solidFill>
                  <a:schemeClr val="bg1"/>
                </a:solidFill>
              </a:rPr>
              <a:t>Enjoy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ride</a:t>
            </a:r>
            <a:r>
              <a:rPr lang="de-DE" dirty="0">
                <a:solidFill>
                  <a:schemeClr val="bg1"/>
                </a:solidFill>
              </a:rPr>
              <a:t>!</a:t>
            </a:r>
          </a:p>
          <a:p>
            <a:r>
              <a:rPr lang="de-DE" dirty="0">
                <a:solidFill>
                  <a:schemeClr val="bg1"/>
                </a:solidFill>
              </a:rPr>
              <a:t>&gt;&gt; </a:t>
            </a:r>
            <a:r>
              <a:rPr lang="de-DE" dirty="0" err="1">
                <a:solidFill>
                  <a:schemeClr val="bg1"/>
                </a:solidFill>
              </a:rPr>
              <a:t>You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have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be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accompanied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by</a:t>
            </a:r>
            <a:r>
              <a:rPr lang="de-DE" dirty="0">
                <a:solidFill>
                  <a:schemeClr val="bg1"/>
                </a:solidFill>
              </a:rPr>
              <a:t> an adult.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7DBC8A7-56A6-4538-A429-9D4243AE2E5A}"/>
              </a:ext>
            </a:extLst>
          </p:cNvPr>
          <p:cNvSpPr/>
          <p:nvPr/>
        </p:nvSpPr>
        <p:spPr>
          <a:xfrm>
            <a:off x="2095498" y="2882221"/>
            <a:ext cx="8000999" cy="3592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818433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7D177B-5684-4030-B17E-35C36D1DA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multiple </a:t>
            </a:r>
            <a:r>
              <a:rPr lang="de-DE" dirty="0" err="1"/>
              <a:t>conditions</a:t>
            </a:r>
            <a:r>
              <a:rPr lang="de-DE" dirty="0"/>
              <a:t>?</a:t>
            </a:r>
            <a:endParaRPr lang="en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770E0E5-0788-42E8-9702-3877FCF79A0B}"/>
              </a:ext>
            </a:extLst>
          </p:cNvPr>
          <p:cNvSpPr/>
          <p:nvPr/>
        </p:nvSpPr>
        <p:spPr>
          <a:xfrm>
            <a:off x="2281093" y="1556658"/>
            <a:ext cx="7629814" cy="3058885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</a:t>
            </a:r>
            <a:r>
              <a:rPr lang="en-US" sz="20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ody_size</a:t>
            </a: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=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160</a:t>
            </a: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rgbClr val="90B179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# in cm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body_size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&gt;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150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’Enjoy the ride!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’)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body_size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&gt;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120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’You have to be accompanied by an adult.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’)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else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(’Sorry! Not able to ride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.’)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93D9114-25A9-4FD9-A4D7-C84581CF8A54}"/>
              </a:ext>
            </a:extLst>
          </p:cNvPr>
          <p:cNvSpPr/>
          <p:nvPr/>
        </p:nvSpPr>
        <p:spPr>
          <a:xfrm>
            <a:off x="2281092" y="4700077"/>
            <a:ext cx="7629813" cy="82986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 err="1">
                <a:solidFill>
                  <a:schemeClr val="bg1"/>
                </a:solidFill>
              </a:rPr>
              <a:t>Console</a:t>
            </a:r>
            <a:r>
              <a:rPr lang="de-DE" dirty="0">
                <a:solidFill>
                  <a:schemeClr val="bg1"/>
                </a:solidFill>
              </a:rPr>
              <a:t> Output:</a:t>
            </a:r>
          </a:p>
          <a:p>
            <a:r>
              <a:rPr lang="de-DE" dirty="0">
                <a:solidFill>
                  <a:schemeClr val="bg1"/>
                </a:solidFill>
              </a:rPr>
              <a:t>&gt;&gt; </a:t>
            </a:r>
            <a:r>
              <a:rPr lang="de-DE" dirty="0" err="1">
                <a:solidFill>
                  <a:schemeClr val="bg1"/>
                </a:solidFill>
              </a:rPr>
              <a:t>Enjoy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ride</a:t>
            </a:r>
            <a:r>
              <a:rPr lang="de-DE" dirty="0">
                <a:solidFill>
                  <a:schemeClr val="bg1"/>
                </a:solidFill>
              </a:rPr>
              <a:t>!</a:t>
            </a:r>
          </a:p>
          <a:p>
            <a:r>
              <a:rPr lang="de-DE" dirty="0">
                <a:solidFill>
                  <a:schemeClr val="bg1"/>
                </a:solidFill>
              </a:rPr>
              <a:t>&gt;&gt; </a:t>
            </a:r>
            <a:r>
              <a:rPr lang="de-DE" dirty="0" err="1">
                <a:solidFill>
                  <a:schemeClr val="bg1"/>
                </a:solidFill>
              </a:rPr>
              <a:t>You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have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be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accompanied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by</a:t>
            </a:r>
            <a:r>
              <a:rPr lang="de-DE" dirty="0">
                <a:solidFill>
                  <a:schemeClr val="bg1"/>
                </a:solidFill>
              </a:rPr>
              <a:t> an adult.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7DBC8A7-56A6-4538-A429-9D4243AE2E5A}"/>
              </a:ext>
            </a:extLst>
          </p:cNvPr>
          <p:cNvSpPr/>
          <p:nvPr/>
        </p:nvSpPr>
        <p:spPr>
          <a:xfrm>
            <a:off x="2095498" y="3337322"/>
            <a:ext cx="8000999" cy="3592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603223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7D177B-5684-4030-B17E-35C36D1DA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multiple </a:t>
            </a:r>
            <a:r>
              <a:rPr lang="de-DE" dirty="0" err="1"/>
              <a:t>conditions</a:t>
            </a:r>
            <a:r>
              <a:rPr lang="de-DE" dirty="0"/>
              <a:t>?</a:t>
            </a:r>
            <a:endParaRPr lang="en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770E0E5-0788-42E8-9702-3877FCF79A0B}"/>
              </a:ext>
            </a:extLst>
          </p:cNvPr>
          <p:cNvSpPr/>
          <p:nvPr/>
        </p:nvSpPr>
        <p:spPr>
          <a:xfrm>
            <a:off x="2281093" y="1556658"/>
            <a:ext cx="7629814" cy="3058885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</a:t>
            </a:r>
            <a:r>
              <a:rPr lang="en-US" sz="20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ody_size</a:t>
            </a: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=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160</a:t>
            </a: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rgbClr val="90B179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# in cm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body_size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&gt;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150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’Enjoy the ride!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’)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body_size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&gt;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120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’You have to be accompanied by an adult.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’)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else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(’Sorry! Not able to ride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.’)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93D9114-25A9-4FD9-A4D7-C84581CF8A54}"/>
              </a:ext>
            </a:extLst>
          </p:cNvPr>
          <p:cNvSpPr/>
          <p:nvPr/>
        </p:nvSpPr>
        <p:spPr>
          <a:xfrm>
            <a:off x="2281092" y="4700077"/>
            <a:ext cx="7629813" cy="82986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 err="1">
                <a:solidFill>
                  <a:schemeClr val="bg1"/>
                </a:solidFill>
              </a:rPr>
              <a:t>Console</a:t>
            </a:r>
            <a:r>
              <a:rPr lang="de-DE" dirty="0">
                <a:solidFill>
                  <a:schemeClr val="bg1"/>
                </a:solidFill>
              </a:rPr>
              <a:t> Output:</a:t>
            </a:r>
          </a:p>
          <a:p>
            <a:r>
              <a:rPr lang="de-DE" dirty="0">
                <a:solidFill>
                  <a:schemeClr val="bg1"/>
                </a:solidFill>
              </a:rPr>
              <a:t>&gt;&gt; </a:t>
            </a:r>
            <a:r>
              <a:rPr lang="de-DE" dirty="0" err="1">
                <a:solidFill>
                  <a:schemeClr val="bg1"/>
                </a:solidFill>
              </a:rPr>
              <a:t>Enjoy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ride</a:t>
            </a:r>
            <a:r>
              <a:rPr lang="de-DE" dirty="0">
                <a:solidFill>
                  <a:schemeClr val="bg1"/>
                </a:solidFill>
              </a:rPr>
              <a:t>!</a:t>
            </a:r>
          </a:p>
          <a:p>
            <a:r>
              <a:rPr lang="de-DE" dirty="0">
                <a:solidFill>
                  <a:schemeClr val="bg1"/>
                </a:solidFill>
              </a:rPr>
              <a:t>&gt;&gt; </a:t>
            </a:r>
            <a:r>
              <a:rPr lang="de-DE" dirty="0" err="1">
                <a:solidFill>
                  <a:schemeClr val="bg1"/>
                </a:solidFill>
              </a:rPr>
              <a:t>You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have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be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accompanied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by</a:t>
            </a:r>
            <a:r>
              <a:rPr lang="de-DE" dirty="0">
                <a:solidFill>
                  <a:schemeClr val="bg1"/>
                </a:solidFill>
              </a:rPr>
              <a:t> an adult.</a:t>
            </a:r>
            <a:endParaRPr lang="en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22745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8D1C84-CCC5-46A4-AAE8-571E30224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7" y="365125"/>
            <a:ext cx="10907486" cy="1325563"/>
          </a:xfrm>
        </p:spPr>
        <p:txBody>
          <a:bodyPr/>
          <a:lstStyle/>
          <a:p>
            <a:r>
              <a:rPr lang="de-DE" dirty="0"/>
              <a:t>Multiple </a:t>
            </a:r>
            <a:r>
              <a:rPr lang="de-DE" dirty="0" err="1"/>
              <a:t>conditions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…</a:t>
            </a:r>
            <a:r>
              <a:rPr lang="de-DE" dirty="0" err="1"/>
              <a:t>elif</a:t>
            </a:r>
            <a:r>
              <a:rPr lang="de-DE" dirty="0"/>
              <a:t>…</a:t>
            </a:r>
            <a:r>
              <a:rPr lang="de-DE" dirty="0" err="1"/>
              <a:t>else</a:t>
            </a:r>
            <a:r>
              <a:rPr lang="de-DE" dirty="0"/>
              <a:t> </a:t>
            </a:r>
            <a:r>
              <a:rPr lang="de-DE" dirty="0" err="1"/>
              <a:t>statement</a:t>
            </a:r>
            <a:endParaRPr lang="en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E44DDE1-50EA-48F8-B1A3-656C9F34F61A}"/>
              </a:ext>
            </a:extLst>
          </p:cNvPr>
          <p:cNvSpPr/>
          <p:nvPr/>
        </p:nvSpPr>
        <p:spPr>
          <a:xfrm>
            <a:off x="4166249" y="1690688"/>
            <a:ext cx="3859502" cy="3739357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32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condition1:</a:t>
            </a:r>
            <a:endParaRPr lang="en-DE" sz="32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# do this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dirty="0" err="1">
                <a:solidFill>
                  <a:srgbClr val="9C5BCD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elif</a:t>
            </a:r>
            <a:r>
              <a:rPr lang="en-US" sz="32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condition2:</a:t>
            </a:r>
            <a:endParaRPr lang="en-DE" sz="3200" dirty="0"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F7CAAC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32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# do this</a:t>
            </a:r>
            <a:endParaRPr lang="en-US" sz="3200" dirty="0"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9C5BCD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else</a:t>
            </a:r>
            <a:r>
              <a:rPr lang="en-US" sz="3200" dirty="0">
                <a:solidFill>
                  <a:srgbClr val="F7CAAC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F7CAAC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# do this</a:t>
            </a:r>
          </a:p>
        </p:txBody>
      </p:sp>
    </p:spTree>
    <p:extLst>
      <p:ext uri="{BB962C8B-B14F-4D97-AF65-F5344CB8AC3E}">
        <p14:creationId xmlns:p14="http://schemas.microsoft.com/office/powerpoint/2010/main" val="17992468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7D177B-5684-4030-B17E-35C36D1DA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multiple </a:t>
            </a:r>
            <a:r>
              <a:rPr lang="de-DE" dirty="0" err="1"/>
              <a:t>conditions</a:t>
            </a:r>
            <a:r>
              <a:rPr lang="de-DE" dirty="0"/>
              <a:t>?</a:t>
            </a:r>
            <a:endParaRPr lang="en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770E0E5-0788-42E8-9702-3877FCF79A0B}"/>
              </a:ext>
            </a:extLst>
          </p:cNvPr>
          <p:cNvSpPr/>
          <p:nvPr/>
        </p:nvSpPr>
        <p:spPr>
          <a:xfrm>
            <a:off x="2281093" y="1556658"/>
            <a:ext cx="7629814" cy="3058885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</a:t>
            </a:r>
            <a:r>
              <a:rPr lang="en-US" sz="20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ody_size</a:t>
            </a: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=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160</a:t>
            </a: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rgbClr val="90B179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# in cm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body_size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&gt;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150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’Enjoy the ride!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’)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 err="1">
                <a:solidFill>
                  <a:srgbClr val="9C5BCD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elif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body_size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&gt;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120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’You have to be accompanied by an adult.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’)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else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(’Sorry! Not able to ride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.’)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93D9114-25A9-4FD9-A4D7-C84581CF8A54}"/>
              </a:ext>
            </a:extLst>
          </p:cNvPr>
          <p:cNvSpPr/>
          <p:nvPr/>
        </p:nvSpPr>
        <p:spPr>
          <a:xfrm>
            <a:off x="2281092" y="4700077"/>
            <a:ext cx="7629813" cy="6012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 err="1">
                <a:solidFill>
                  <a:schemeClr val="bg1"/>
                </a:solidFill>
              </a:rPr>
              <a:t>Console</a:t>
            </a:r>
            <a:r>
              <a:rPr lang="de-DE" dirty="0">
                <a:solidFill>
                  <a:schemeClr val="bg1"/>
                </a:solidFill>
              </a:rPr>
              <a:t> Output:</a:t>
            </a:r>
          </a:p>
          <a:p>
            <a:r>
              <a:rPr lang="de-DE" dirty="0">
                <a:solidFill>
                  <a:schemeClr val="bg1"/>
                </a:solidFill>
              </a:rPr>
              <a:t>&gt;&gt; </a:t>
            </a:r>
            <a:r>
              <a:rPr lang="de-DE" dirty="0" err="1">
                <a:solidFill>
                  <a:schemeClr val="bg1"/>
                </a:solidFill>
              </a:rPr>
              <a:t>Enjoy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ride</a:t>
            </a:r>
            <a:r>
              <a:rPr lang="de-DE" dirty="0">
                <a:solidFill>
                  <a:schemeClr val="bg1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5540220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7D177B-5684-4030-B17E-35C36D1DA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multiple </a:t>
            </a:r>
            <a:r>
              <a:rPr lang="de-DE" dirty="0" err="1"/>
              <a:t>conditions</a:t>
            </a:r>
            <a:r>
              <a:rPr lang="de-DE" dirty="0"/>
              <a:t>?</a:t>
            </a:r>
            <a:endParaRPr lang="en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770E0E5-0788-42E8-9702-3877FCF79A0B}"/>
              </a:ext>
            </a:extLst>
          </p:cNvPr>
          <p:cNvSpPr/>
          <p:nvPr/>
        </p:nvSpPr>
        <p:spPr>
          <a:xfrm>
            <a:off x="2281093" y="1556658"/>
            <a:ext cx="7629814" cy="3058885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</a:t>
            </a:r>
            <a:r>
              <a:rPr lang="en-US" sz="20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ody_size</a:t>
            </a: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=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160</a:t>
            </a: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rgbClr val="90B179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# in cm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body_size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&gt;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150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’Enjoy the ride!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’)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 err="1">
                <a:solidFill>
                  <a:srgbClr val="9C5BCD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elif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body_size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&gt;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120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’You have to be accompanied by an adult.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’)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else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(’Sorry! Not able to ride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.’)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93D9114-25A9-4FD9-A4D7-C84581CF8A54}"/>
              </a:ext>
            </a:extLst>
          </p:cNvPr>
          <p:cNvSpPr/>
          <p:nvPr/>
        </p:nvSpPr>
        <p:spPr>
          <a:xfrm>
            <a:off x="2281092" y="4700077"/>
            <a:ext cx="7629813" cy="6012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 err="1">
                <a:solidFill>
                  <a:schemeClr val="bg1"/>
                </a:solidFill>
              </a:rPr>
              <a:t>Console</a:t>
            </a:r>
            <a:r>
              <a:rPr lang="de-DE" dirty="0">
                <a:solidFill>
                  <a:schemeClr val="bg1"/>
                </a:solidFill>
              </a:rPr>
              <a:t> Output:</a:t>
            </a:r>
          </a:p>
          <a:p>
            <a:r>
              <a:rPr lang="de-DE" dirty="0">
                <a:solidFill>
                  <a:schemeClr val="bg1"/>
                </a:solidFill>
              </a:rPr>
              <a:t>&gt;&gt; </a:t>
            </a:r>
            <a:r>
              <a:rPr lang="de-DE" dirty="0" err="1">
                <a:solidFill>
                  <a:schemeClr val="bg1"/>
                </a:solidFill>
              </a:rPr>
              <a:t>Enjoy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ride</a:t>
            </a:r>
            <a:r>
              <a:rPr lang="de-DE" dirty="0">
                <a:solidFill>
                  <a:schemeClr val="bg1"/>
                </a:solidFill>
              </a:rPr>
              <a:t>!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DD5EB8A-D086-4872-AC62-C56D02534F17}"/>
              </a:ext>
            </a:extLst>
          </p:cNvPr>
          <p:cNvSpPr/>
          <p:nvPr/>
        </p:nvSpPr>
        <p:spPr>
          <a:xfrm>
            <a:off x="2095500" y="1606493"/>
            <a:ext cx="8000999" cy="3592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350410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7D177B-5684-4030-B17E-35C36D1DA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multiple </a:t>
            </a:r>
            <a:r>
              <a:rPr lang="de-DE" dirty="0" err="1"/>
              <a:t>conditions</a:t>
            </a:r>
            <a:r>
              <a:rPr lang="de-DE" dirty="0"/>
              <a:t>?</a:t>
            </a:r>
            <a:endParaRPr lang="en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770E0E5-0788-42E8-9702-3877FCF79A0B}"/>
              </a:ext>
            </a:extLst>
          </p:cNvPr>
          <p:cNvSpPr/>
          <p:nvPr/>
        </p:nvSpPr>
        <p:spPr>
          <a:xfrm>
            <a:off x="2281093" y="1556658"/>
            <a:ext cx="7629814" cy="3058885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</a:t>
            </a:r>
            <a:r>
              <a:rPr lang="en-US" sz="20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ody_size</a:t>
            </a: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=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160</a:t>
            </a: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rgbClr val="90B179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# in cm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body_size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&gt;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150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’Enjoy the ride!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’)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 err="1">
                <a:solidFill>
                  <a:srgbClr val="9C5BCD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elif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body_size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&gt;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120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’You have to be accompanied by an adult.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’)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else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(’Sorry! Not able to ride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.’)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93D9114-25A9-4FD9-A4D7-C84581CF8A54}"/>
              </a:ext>
            </a:extLst>
          </p:cNvPr>
          <p:cNvSpPr/>
          <p:nvPr/>
        </p:nvSpPr>
        <p:spPr>
          <a:xfrm>
            <a:off x="2281092" y="4700077"/>
            <a:ext cx="7629813" cy="6012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 err="1">
                <a:solidFill>
                  <a:schemeClr val="bg1"/>
                </a:solidFill>
              </a:rPr>
              <a:t>Console</a:t>
            </a:r>
            <a:r>
              <a:rPr lang="de-DE" dirty="0">
                <a:solidFill>
                  <a:schemeClr val="bg1"/>
                </a:solidFill>
              </a:rPr>
              <a:t> Output:</a:t>
            </a:r>
          </a:p>
          <a:p>
            <a:r>
              <a:rPr lang="de-DE" dirty="0">
                <a:solidFill>
                  <a:schemeClr val="bg1"/>
                </a:solidFill>
              </a:rPr>
              <a:t>&gt;&gt; </a:t>
            </a:r>
            <a:r>
              <a:rPr lang="de-DE" dirty="0" err="1">
                <a:solidFill>
                  <a:schemeClr val="bg1"/>
                </a:solidFill>
              </a:rPr>
              <a:t>Enjoy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ride</a:t>
            </a:r>
            <a:r>
              <a:rPr lang="de-DE" dirty="0">
                <a:solidFill>
                  <a:schemeClr val="bg1"/>
                </a:solidFill>
              </a:rPr>
              <a:t>!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DD5EB8A-D086-4872-AC62-C56D02534F17}"/>
              </a:ext>
            </a:extLst>
          </p:cNvPr>
          <p:cNvSpPr/>
          <p:nvPr/>
        </p:nvSpPr>
        <p:spPr>
          <a:xfrm>
            <a:off x="2095500" y="2043624"/>
            <a:ext cx="8000999" cy="3592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18918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7D177B-5684-4030-B17E-35C36D1DA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multiple </a:t>
            </a:r>
            <a:r>
              <a:rPr lang="de-DE" dirty="0" err="1"/>
              <a:t>conditions</a:t>
            </a:r>
            <a:r>
              <a:rPr lang="de-DE" dirty="0"/>
              <a:t>?</a:t>
            </a:r>
            <a:endParaRPr lang="en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770E0E5-0788-42E8-9702-3877FCF79A0B}"/>
              </a:ext>
            </a:extLst>
          </p:cNvPr>
          <p:cNvSpPr/>
          <p:nvPr/>
        </p:nvSpPr>
        <p:spPr>
          <a:xfrm>
            <a:off x="2281093" y="1556658"/>
            <a:ext cx="7629814" cy="3058885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</a:t>
            </a:r>
            <a:r>
              <a:rPr lang="en-US" sz="20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ody_size</a:t>
            </a: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=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160</a:t>
            </a: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rgbClr val="90B179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# in cm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body_size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&gt;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150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’Enjoy the ride!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’)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 err="1">
                <a:solidFill>
                  <a:srgbClr val="9C5BCD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elif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body_size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&gt;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120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’You have to be accompanied by an adult.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’)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else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(’Sorry! Not able to ride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.’)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93D9114-25A9-4FD9-A4D7-C84581CF8A54}"/>
              </a:ext>
            </a:extLst>
          </p:cNvPr>
          <p:cNvSpPr/>
          <p:nvPr/>
        </p:nvSpPr>
        <p:spPr>
          <a:xfrm>
            <a:off x="2281092" y="4700077"/>
            <a:ext cx="7629813" cy="6012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 err="1">
                <a:solidFill>
                  <a:schemeClr val="bg1"/>
                </a:solidFill>
              </a:rPr>
              <a:t>Console</a:t>
            </a:r>
            <a:r>
              <a:rPr lang="de-DE" dirty="0">
                <a:solidFill>
                  <a:schemeClr val="bg1"/>
                </a:solidFill>
              </a:rPr>
              <a:t> Output:</a:t>
            </a:r>
          </a:p>
          <a:p>
            <a:r>
              <a:rPr lang="de-DE" dirty="0">
                <a:solidFill>
                  <a:schemeClr val="bg1"/>
                </a:solidFill>
              </a:rPr>
              <a:t>&gt;&gt; </a:t>
            </a:r>
            <a:r>
              <a:rPr lang="de-DE" dirty="0" err="1">
                <a:solidFill>
                  <a:schemeClr val="bg1"/>
                </a:solidFill>
              </a:rPr>
              <a:t>Enjoy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ride</a:t>
            </a:r>
            <a:r>
              <a:rPr lang="de-DE" dirty="0">
                <a:solidFill>
                  <a:schemeClr val="bg1"/>
                </a:solidFill>
              </a:rPr>
              <a:t>!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DD5EB8A-D086-4872-AC62-C56D02534F17}"/>
              </a:ext>
            </a:extLst>
          </p:cNvPr>
          <p:cNvSpPr/>
          <p:nvPr/>
        </p:nvSpPr>
        <p:spPr>
          <a:xfrm>
            <a:off x="2095500" y="2489939"/>
            <a:ext cx="8000999" cy="3592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551265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7D177B-5684-4030-B17E-35C36D1DA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multiple </a:t>
            </a:r>
            <a:r>
              <a:rPr lang="de-DE" dirty="0" err="1"/>
              <a:t>conditions</a:t>
            </a:r>
            <a:r>
              <a:rPr lang="de-DE" dirty="0"/>
              <a:t>?</a:t>
            </a:r>
            <a:endParaRPr lang="en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770E0E5-0788-42E8-9702-3877FCF79A0B}"/>
              </a:ext>
            </a:extLst>
          </p:cNvPr>
          <p:cNvSpPr/>
          <p:nvPr/>
        </p:nvSpPr>
        <p:spPr>
          <a:xfrm>
            <a:off x="2281093" y="1556658"/>
            <a:ext cx="7629814" cy="3058885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</a:t>
            </a:r>
            <a:r>
              <a:rPr lang="en-US" sz="20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ody_size</a:t>
            </a: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=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160</a:t>
            </a: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rgbClr val="90B179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# in cm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body_size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&gt;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150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’Enjoy the ride!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’)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 err="1">
                <a:solidFill>
                  <a:srgbClr val="9C5BCD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elif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body_size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&gt;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120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’You have to be accompanied by an adult.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’)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else</a:t>
            </a:r>
            <a:r>
              <a:rPr lang="en-US" sz="2000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(’Sorry! Not able to ride</a:t>
            </a:r>
            <a:r>
              <a:rPr lang="en-US" sz="2000" dirty="0">
                <a:solidFill>
                  <a:srgbClr val="90B179"/>
                </a:solidFill>
                <a:latin typeface="Consolas" panose="020B0609020204030204" pitchFamily="49" charset="0"/>
              </a:rPr>
              <a:t>.’)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93D9114-25A9-4FD9-A4D7-C84581CF8A54}"/>
              </a:ext>
            </a:extLst>
          </p:cNvPr>
          <p:cNvSpPr/>
          <p:nvPr/>
        </p:nvSpPr>
        <p:spPr>
          <a:xfrm>
            <a:off x="2281092" y="4700077"/>
            <a:ext cx="7629813" cy="6012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 err="1">
                <a:solidFill>
                  <a:schemeClr val="bg1"/>
                </a:solidFill>
              </a:rPr>
              <a:t>Console</a:t>
            </a:r>
            <a:r>
              <a:rPr lang="de-DE" dirty="0">
                <a:solidFill>
                  <a:schemeClr val="bg1"/>
                </a:solidFill>
              </a:rPr>
              <a:t> Output:</a:t>
            </a:r>
          </a:p>
          <a:p>
            <a:r>
              <a:rPr lang="de-DE" dirty="0">
                <a:solidFill>
                  <a:schemeClr val="bg1"/>
                </a:solidFill>
              </a:rPr>
              <a:t>&gt;&gt; </a:t>
            </a:r>
            <a:r>
              <a:rPr lang="de-DE" dirty="0" err="1">
                <a:solidFill>
                  <a:schemeClr val="bg1"/>
                </a:solidFill>
              </a:rPr>
              <a:t>Enjoy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ride</a:t>
            </a:r>
            <a:r>
              <a:rPr lang="de-DE" dirty="0">
                <a:solidFill>
                  <a:schemeClr val="bg1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2814504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9F34AC-3CA6-45C5-8FDB-C3A0789C6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many</a:t>
            </a:r>
            <a:r>
              <a:rPr lang="de-DE" dirty="0"/>
              <a:t> „</a:t>
            </a:r>
            <a:r>
              <a:rPr lang="de-DE" dirty="0" err="1">
                <a:solidFill>
                  <a:srgbClr val="9C5BCD"/>
                </a:solidFill>
              </a:rPr>
              <a:t>elif</a:t>
            </a:r>
            <a:r>
              <a:rPr lang="de-DE" dirty="0"/>
              <a:t>“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!</a:t>
            </a:r>
            <a:endParaRPr lang="en-DE" dirty="0"/>
          </a:p>
        </p:txBody>
      </p:sp>
      <p:pic>
        <p:nvPicPr>
          <p:cNvPr id="1026" name="Picture 2" descr="grading scale">
            <a:extLst>
              <a:ext uri="{FF2B5EF4-FFF2-40B4-BE49-F238E27FC236}">
                <a16:creationId xmlns:a16="http://schemas.microsoft.com/office/drawing/2014/main" id="{9013C31C-D9BE-49E8-B41F-87D89788F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3280" y="1690688"/>
            <a:ext cx="4905440" cy="4506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75788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CB4548-E51B-4512-8463-5D0797448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Nested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statements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1E4D1E-B9BE-477D-9986-9C2D85C37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nest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many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statements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other</a:t>
            </a:r>
            <a:r>
              <a:rPr lang="de-DE" dirty="0"/>
              <a:t>,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like!</a:t>
            </a:r>
          </a:p>
          <a:p>
            <a:endParaRPr lang="en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4EAAA07-7244-46C7-BD2A-4FB52D279D01}"/>
              </a:ext>
            </a:extLst>
          </p:cNvPr>
          <p:cNvSpPr/>
          <p:nvPr/>
        </p:nvSpPr>
        <p:spPr>
          <a:xfrm>
            <a:off x="2260846" y="2401202"/>
            <a:ext cx="7670307" cy="3990720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choice = </a:t>
            </a:r>
            <a:r>
              <a:rPr lang="en-US" sz="1600" dirty="0">
                <a:solidFill>
                  <a:srgbClr val="90B179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“Cappuccino”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milk_level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= 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0.7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bean_level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= 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0.5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water_tank_full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= </a:t>
            </a:r>
            <a:r>
              <a:rPr lang="en-US" sz="1600" dirty="0">
                <a:solidFill>
                  <a:srgbClr val="2E75B6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True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600" dirty="0">
              <a:solidFill>
                <a:schemeClr val="tx1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16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choice == </a:t>
            </a:r>
            <a:r>
              <a:rPr lang="en-US" sz="1600" dirty="0">
                <a:solidFill>
                  <a:srgbClr val="90B179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“Cappuccino”</a:t>
            </a:r>
            <a:r>
              <a:rPr lang="en-US" sz="16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1600" dirty="0">
              <a:solidFill>
                <a:schemeClr val="tx1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1600" dirty="0">
                <a:solidFill>
                  <a:srgbClr val="9C5BCD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milk_level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&gt; 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0.4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		</a:t>
            </a:r>
            <a:r>
              <a:rPr lang="en-US" sz="1600" dirty="0">
                <a:solidFill>
                  <a:srgbClr val="9C5BCD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16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bean_level</a:t>
            </a:r>
            <a:r>
              <a:rPr lang="en-US" sz="16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&gt; 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0.2</a:t>
            </a:r>
            <a:r>
              <a:rPr lang="en-US" sz="16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			</a:t>
            </a:r>
            <a:r>
              <a:rPr lang="en-US" sz="1600" dirty="0">
                <a:solidFill>
                  <a:srgbClr val="9C5BCD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water_tank_full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				</a:t>
            </a:r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16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1600" dirty="0">
                <a:solidFill>
                  <a:srgbClr val="90B179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“Cappuccino in progress…”</a:t>
            </a:r>
            <a:r>
              <a:rPr lang="en-US" sz="16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490691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EC5A7-8CCB-496B-84E4-DD8D87C1B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Boolean </a:t>
            </a:r>
            <a:r>
              <a:rPr lang="de-DE" dirty="0" err="1"/>
              <a:t>operators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1904C3-DC48-498A-B47B-360AC204B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437" y="1825625"/>
            <a:ext cx="10990555" cy="4351338"/>
          </a:xfrm>
        </p:spPr>
        <p:txBody>
          <a:bodyPr/>
          <a:lstStyle/>
          <a:p>
            <a:r>
              <a:rPr lang="de-DE" dirty="0"/>
              <a:t>„</a:t>
            </a:r>
            <a:r>
              <a:rPr lang="de-DE" dirty="0">
                <a:solidFill>
                  <a:srgbClr val="2E75B6"/>
                </a:solidFill>
              </a:rPr>
              <a:t>and</a:t>
            </a:r>
            <a:r>
              <a:rPr lang="de-DE" dirty="0"/>
              <a:t>“ links </a:t>
            </a:r>
            <a:r>
              <a:rPr lang="de-DE" dirty="0" err="1"/>
              <a:t>conditions</a:t>
            </a:r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„</a:t>
            </a:r>
            <a:r>
              <a:rPr lang="de-DE" dirty="0">
                <a:solidFill>
                  <a:srgbClr val="2E75B6"/>
                </a:solidFill>
              </a:rPr>
              <a:t>and</a:t>
            </a:r>
            <a:r>
              <a:rPr lang="de-DE" dirty="0"/>
              <a:t>“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strict</a:t>
            </a:r>
            <a:r>
              <a:rPr lang="de-DE" dirty="0"/>
              <a:t>, all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>
                <a:solidFill>
                  <a:srgbClr val="2E75B6"/>
                </a:solidFill>
              </a:rPr>
              <a:t>True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FC1343B-AEC5-44A3-BDF5-ACEC86719213}"/>
              </a:ext>
            </a:extLst>
          </p:cNvPr>
          <p:cNvSpPr/>
          <p:nvPr/>
        </p:nvSpPr>
        <p:spPr>
          <a:xfrm>
            <a:off x="2260846" y="2401202"/>
            <a:ext cx="7670307" cy="2523883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choice = </a:t>
            </a:r>
            <a:r>
              <a:rPr lang="en-US" sz="1600" dirty="0">
                <a:solidFill>
                  <a:srgbClr val="90B179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“Cappuccino”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milk_level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= 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0.7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bean_level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= 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0.5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600" dirty="0">
              <a:solidFill>
                <a:schemeClr val="tx1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16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choice == </a:t>
            </a:r>
            <a:r>
              <a:rPr lang="en-US" sz="1600" dirty="0">
                <a:solidFill>
                  <a:srgbClr val="90B179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“Cappuccino”</a:t>
            </a:r>
            <a:r>
              <a:rPr lang="en-US" sz="16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1600" dirty="0">
              <a:solidFill>
                <a:schemeClr val="tx1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1600" dirty="0">
                <a:solidFill>
                  <a:srgbClr val="9C5BCD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milk_level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&gt; 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0.4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and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bean_level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&gt; 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0.2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		</a:t>
            </a:r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16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“Cappuccino in progress…”</a:t>
            </a:r>
            <a:r>
              <a:rPr lang="en-US" sz="16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926520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EC5A7-8CCB-496B-84E4-DD8D87C1B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Boolean </a:t>
            </a:r>
            <a:r>
              <a:rPr lang="de-DE" dirty="0" err="1"/>
              <a:t>operators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1904C3-DC48-498A-B47B-360AC204B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437" y="1825625"/>
            <a:ext cx="10990555" cy="4351338"/>
          </a:xfrm>
        </p:spPr>
        <p:txBody>
          <a:bodyPr/>
          <a:lstStyle/>
          <a:p>
            <a:r>
              <a:rPr lang="de-DE" dirty="0"/>
              <a:t>„</a:t>
            </a:r>
            <a:r>
              <a:rPr lang="de-DE" dirty="0" err="1">
                <a:solidFill>
                  <a:srgbClr val="2E75B6"/>
                </a:solidFill>
              </a:rPr>
              <a:t>or</a:t>
            </a:r>
            <a:r>
              <a:rPr lang="de-DE" dirty="0"/>
              <a:t>“ also links </a:t>
            </a:r>
            <a:r>
              <a:rPr lang="de-DE" dirty="0" err="1"/>
              <a:t>conditions</a:t>
            </a:r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„</a:t>
            </a:r>
            <a:r>
              <a:rPr lang="de-DE" dirty="0" err="1">
                <a:solidFill>
                  <a:srgbClr val="2E75B6"/>
                </a:solidFill>
              </a:rPr>
              <a:t>or</a:t>
            </a:r>
            <a:r>
              <a:rPr lang="de-DE" dirty="0"/>
              <a:t>“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lenient</a:t>
            </a:r>
            <a:r>
              <a:rPr lang="de-DE" dirty="0"/>
              <a:t>,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condition</a:t>
            </a:r>
            <a:r>
              <a:rPr lang="de-DE" dirty="0"/>
              <a:t> </a:t>
            </a:r>
            <a:r>
              <a:rPr lang="de-DE" dirty="0" err="1"/>
              <a:t>needs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„</a:t>
            </a:r>
            <a:r>
              <a:rPr lang="de-DE" dirty="0">
                <a:solidFill>
                  <a:srgbClr val="2E75B6"/>
                </a:solidFill>
              </a:rPr>
              <a:t>True</a:t>
            </a:r>
            <a:r>
              <a:rPr lang="de-DE" dirty="0"/>
              <a:t>“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FC1343B-AEC5-44A3-BDF5-ACEC86719213}"/>
              </a:ext>
            </a:extLst>
          </p:cNvPr>
          <p:cNvSpPr/>
          <p:nvPr/>
        </p:nvSpPr>
        <p:spPr>
          <a:xfrm>
            <a:off x="4259493" y="2552000"/>
            <a:ext cx="3714441" cy="1753999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weekend =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False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holiday =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True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600" dirty="0">
              <a:solidFill>
                <a:schemeClr val="tx1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16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weekend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or</a:t>
            </a:r>
            <a:r>
              <a:rPr lang="en-US" sz="16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holiday:</a:t>
            </a:r>
            <a:endParaRPr lang="en-DE" sz="16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16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1600" dirty="0">
                <a:solidFill>
                  <a:srgbClr val="90B179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“Store is closed.”</a:t>
            </a:r>
            <a:r>
              <a:rPr lang="en-US" sz="16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88575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EC5A7-8CCB-496B-84E4-DD8D87C1B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Boolean </a:t>
            </a:r>
            <a:r>
              <a:rPr lang="de-DE" dirty="0" err="1"/>
              <a:t>operators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1904C3-DC48-498A-B47B-360AC204B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437" y="1825625"/>
            <a:ext cx="10990555" cy="4351338"/>
          </a:xfrm>
        </p:spPr>
        <p:txBody>
          <a:bodyPr/>
          <a:lstStyle/>
          <a:p>
            <a:r>
              <a:rPr lang="de-DE" dirty="0"/>
              <a:t>„not“ </a:t>
            </a:r>
            <a:r>
              <a:rPr lang="de-DE" dirty="0" err="1"/>
              <a:t>negates</a:t>
            </a:r>
            <a:r>
              <a:rPr lang="de-DE" dirty="0"/>
              <a:t> a </a:t>
            </a:r>
            <a:r>
              <a:rPr lang="de-DE" dirty="0" err="1"/>
              <a:t>boolean</a:t>
            </a:r>
            <a:r>
              <a:rPr lang="de-DE" dirty="0"/>
              <a:t>: </a:t>
            </a:r>
            <a:r>
              <a:rPr lang="de-DE" dirty="0">
                <a:solidFill>
                  <a:srgbClr val="2E75B6"/>
                </a:solidFill>
              </a:rPr>
              <a:t>not</a:t>
            </a:r>
            <a:r>
              <a:rPr lang="de-DE" dirty="0"/>
              <a:t> </a:t>
            </a:r>
            <a:r>
              <a:rPr lang="de-DE" dirty="0" err="1">
                <a:solidFill>
                  <a:srgbClr val="2E75B6"/>
                </a:solidFill>
              </a:rPr>
              <a:t>False</a:t>
            </a:r>
            <a:r>
              <a:rPr lang="de-DE" dirty="0"/>
              <a:t> == </a:t>
            </a:r>
            <a:r>
              <a:rPr lang="de-DE" dirty="0">
                <a:solidFill>
                  <a:srgbClr val="2E75B6"/>
                </a:solidFill>
              </a:rPr>
              <a:t>True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 err="1"/>
              <a:t>Increases</a:t>
            </a:r>
            <a:r>
              <a:rPr lang="de-DE" dirty="0"/>
              <a:t> </a:t>
            </a:r>
            <a:r>
              <a:rPr lang="de-DE" dirty="0" err="1"/>
              <a:t>readibility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avoiding</a:t>
            </a:r>
            <a:r>
              <a:rPr lang="de-DE" dirty="0"/>
              <a:t> </a:t>
            </a:r>
            <a:r>
              <a:rPr lang="de-DE" dirty="0" err="1"/>
              <a:t>writing</a:t>
            </a:r>
            <a:r>
              <a:rPr lang="de-DE" dirty="0"/>
              <a:t> „</a:t>
            </a:r>
            <a:r>
              <a:rPr lang="de-DE" dirty="0" err="1">
                <a:solidFill>
                  <a:srgbClr val="9C5BCD"/>
                </a:solidFill>
              </a:rPr>
              <a:t>if</a:t>
            </a:r>
            <a:r>
              <a:rPr lang="de-DE" dirty="0"/>
              <a:t> </a:t>
            </a:r>
            <a:r>
              <a:rPr lang="de-DE" dirty="0" err="1"/>
              <a:t>has_ring</a:t>
            </a:r>
            <a:r>
              <a:rPr lang="de-DE" dirty="0"/>
              <a:t> == </a:t>
            </a:r>
            <a:r>
              <a:rPr lang="de-DE" dirty="0" err="1">
                <a:solidFill>
                  <a:srgbClr val="2E75B6"/>
                </a:solidFill>
              </a:rPr>
              <a:t>False</a:t>
            </a:r>
            <a:r>
              <a:rPr lang="de-DE" dirty="0"/>
              <a:t>“ </a:t>
            </a:r>
            <a:endParaRPr lang="en-DE" dirty="0"/>
          </a:p>
          <a:p>
            <a:endParaRPr lang="de-DE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9CDC883-B3E8-44A6-B0EC-17F221AB3364}"/>
              </a:ext>
            </a:extLst>
          </p:cNvPr>
          <p:cNvSpPr/>
          <p:nvPr/>
        </p:nvSpPr>
        <p:spPr>
          <a:xfrm>
            <a:off x="4078673" y="2727968"/>
            <a:ext cx="4034654" cy="1539089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has_ring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=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False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600" dirty="0">
              <a:solidFill>
                <a:schemeClr val="tx1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16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not</a:t>
            </a:r>
            <a:r>
              <a:rPr lang="en-US" sz="16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has_ring</a:t>
            </a:r>
            <a:r>
              <a:rPr lang="en-US" sz="16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16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1600" dirty="0">
                <a:solidFill>
                  <a:srgbClr val="90B179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“Stolen! My Precious!”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en-US" sz="1600" dirty="0">
              <a:solidFill>
                <a:schemeClr val="tx1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34750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57DBB3-EB4D-4434-8958-19EF3E598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Hands-on Part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4757171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BC74D5-C23F-43EB-A523-023C7251B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Some</a:t>
            </a:r>
            <a:r>
              <a:rPr lang="de-DE" dirty="0"/>
              <a:t> Debugging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2E99E25-8E1D-4F6A-8B42-648DEC069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604888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16AEAF-2E8F-45A5-B775-F10560BCC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0" y="354240"/>
            <a:ext cx="5812971" cy="1325563"/>
          </a:xfrm>
        </p:spPr>
        <p:txBody>
          <a:bodyPr/>
          <a:lstStyle/>
          <a:p>
            <a:r>
              <a:rPr lang="de-DE" dirty="0" err="1"/>
              <a:t>Why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suboptimal?</a:t>
            </a:r>
            <a:endParaRPr lang="en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42C1D61-5230-4C5B-9E10-2857BF1B3C16}"/>
              </a:ext>
            </a:extLst>
          </p:cNvPr>
          <p:cNvSpPr/>
          <p:nvPr/>
        </p:nvSpPr>
        <p:spPr>
          <a:xfrm>
            <a:off x="141515" y="1892753"/>
            <a:ext cx="5812971" cy="307249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FFFF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number = 11</a:t>
            </a:r>
            <a:endParaRPr lang="en-DE" sz="16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16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number &gt; 0:</a:t>
            </a:r>
            <a:endParaRPr lang="en-DE" sz="16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16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1600" dirty="0">
                <a:solidFill>
                  <a:srgbClr val="C5E0B3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f’</a:t>
            </a:r>
            <a:r>
              <a:rPr lang="en-US" sz="1600" dirty="0">
                <a:solidFill>
                  <a:srgbClr val="EEAAA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{number}</a:t>
            </a:r>
            <a:r>
              <a:rPr lang="en-US" sz="1600" dirty="0">
                <a:solidFill>
                  <a:srgbClr val="C5E0B3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is a positive number.’</a:t>
            </a:r>
            <a:r>
              <a:rPr lang="en-US" sz="16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en-DE" sz="16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 err="1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elif</a:t>
            </a:r>
            <a:r>
              <a:rPr lang="en-US" sz="16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number &gt; 10:</a:t>
            </a:r>
            <a:endParaRPr lang="en-DE" sz="16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16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1600" dirty="0">
                <a:solidFill>
                  <a:srgbClr val="C5E0B3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f’</a:t>
            </a:r>
            <a:r>
              <a:rPr lang="en-US" sz="1600" dirty="0">
                <a:solidFill>
                  <a:srgbClr val="EEAAA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{number}</a:t>
            </a:r>
            <a:r>
              <a:rPr lang="en-US" sz="1600" dirty="0">
                <a:solidFill>
                  <a:srgbClr val="C5E0B3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is a large positive number.’</a:t>
            </a:r>
            <a:r>
              <a:rPr lang="en-US" sz="16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en-DE" sz="16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else</a:t>
            </a:r>
            <a:r>
              <a:rPr lang="en-US" sz="16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16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16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1600" dirty="0">
                <a:solidFill>
                  <a:srgbClr val="C5E0B3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f’</a:t>
            </a:r>
            <a:r>
              <a:rPr lang="en-US" sz="1600" dirty="0">
                <a:solidFill>
                  <a:srgbClr val="EEAAA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{number}</a:t>
            </a:r>
            <a:r>
              <a:rPr lang="en-US" sz="1600" dirty="0">
                <a:solidFill>
                  <a:srgbClr val="C5E0B3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is not positive.’</a:t>
            </a:r>
            <a:r>
              <a:rPr lang="en-US" sz="16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en-DE" sz="16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n-DE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0A68601-D168-4B66-9D85-C0431092E26B}"/>
              </a:ext>
            </a:extLst>
          </p:cNvPr>
          <p:cNvSpPr/>
          <p:nvPr/>
        </p:nvSpPr>
        <p:spPr>
          <a:xfrm>
            <a:off x="6259286" y="1892753"/>
            <a:ext cx="5812971" cy="307249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FFFF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number = 11</a:t>
            </a:r>
            <a:endParaRPr lang="en-DE" sz="16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16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number &gt; 10:</a:t>
            </a:r>
            <a:endParaRPr lang="en-DE" sz="16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16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1600" dirty="0">
                <a:solidFill>
                  <a:srgbClr val="C5E0B3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f’</a:t>
            </a:r>
            <a:r>
              <a:rPr lang="en-US" sz="1600" dirty="0">
                <a:solidFill>
                  <a:srgbClr val="EEAAA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{number}</a:t>
            </a:r>
            <a:r>
              <a:rPr lang="en-US" sz="1600" dirty="0">
                <a:solidFill>
                  <a:srgbClr val="C5E0B3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is a positive number.’</a:t>
            </a:r>
            <a:r>
              <a:rPr lang="en-US" sz="16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en-DE" sz="16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16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number &gt; 0:</a:t>
            </a:r>
            <a:endParaRPr lang="en-DE" sz="16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16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1600" dirty="0">
                <a:solidFill>
                  <a:srgbClr val="C5E0B3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f’</a:t>
            </a:r>
            <a:r>
              <a:rPr lang="en-US" sz="1600" dirty="0">
                <a:solidFill>
                  <a:srgbClr val="EEAAA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{number}</a:t>
            </a:r>
            <a:r>
              <a:rPr lang="en-US" sz="1600" dirty="0">
                <a:solidFill>
                  <a:srgbClr val="C5E0B3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is a large positive number.’</a:t>
            </a:r>
            <a:r>
              <a:rPr lang="en-US" sz="16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en-DE" sz="16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else</a:t>
            </a:r>
            <a:r>
              <a:rPr lang="en-US" sz="16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16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16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1600" dirty="0">
                <a:solidFill>
                  <a:srgbClr val="C5E0B3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f’</a:t>
            </a:r>
            <a:r>
              <a:rPr lang="en-US" sz="1600" dirty="0">
                <a:solidFill>
                  <a:srgbClr val="EEAAA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{number}</a:t>
            </a:r>
            <a:r>
              <a:rPr lang="en-US" sz="1600" dirty="0">
                <a:solidFill>
                  <a:srgbClr val="C5E0B3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is not positive.’</a:t>
            </a:r>
            <a:r>
              <a:rPr lang="en-US" sz="16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en-DE" sz="16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n-DE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2058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6678FF-5582-49B9-A0C3-500D62E59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3670" y="354238"/>
            <a:ext cx="4604658" cy="1325563"/>
          </a:xfrm>
        </p:spPr>
        <p:txBody>
          <a:bodyPr/>
          <a:lstStyle/>
          <a:p>
            <a:r>
              <a:rPr lang="de-DE" dirty="0" err="1"/>
              <a:t>Whats</a:t>
            </a:r>
            <a:r>
              <a:rPr lang="de-DE" dirty="0"/>
              <a:t> </a:t>
            </a:r>
            <a:r>
              <a:rPr lang="de-DE" dirty="0" err="1"/>
              <a:t>wrong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?</a:t>
            </a:r>
            <a:endParaRPr lang="en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6E3CB89-8AF7-4149-9B3B-0A8DA2C089A5}"/>
              </a:ext>
            </a:extLst>
          </p:cNvPr>
          <p:cNvSpPr/>
          <p:nvPr/>
        </p:nvSpPr>
        <p:spPr>
          <a:xfrm>
            <a:off x="3434101" y="2709182"/>
            <a:ext cx="5323795" cy="143963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FFFF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a = 1</a:t>
            </a:r>
            <a:endParaRPr lang="en-DE" sz="16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FFFF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 = 2</a:t>
            </a:r>
            <a:endParaRPr lang="en-DE" sz="16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16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a + b &gt; 0:</a:t>
            </a:r>
            <a:endParaRPr lang="en-DE" sz="16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16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1600" dirty="0" err="1">
                <a:solidFill>
                  <a:srgbClr val="C5E0B3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f’The</a:t>
            </a:r>
            <a:r>
              <a:rPr lang="en-US" sz="1600" dirty="0">
                <a:solidFill>
                  <a:srgbClr val="C5E0B3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sum of a and b is positive.’</a:t>
            </a:r>
            <a:r>
              <a:rPr lang="en-US" sz="16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en-DE" sz="16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2470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7518CCC5-629F-4AE3-9BC5-2F54B6DBE7F1}"/>
              </a:ext>
            </a:extLst>
          </p:cNvPr>
          <p:cNvSpPr/>
          <p:nvPr/>
        </p:nvSpPr>
        <p:spPr>
          <a:xfrm>
            <a:off x="3518467" y="1983922"/>
            <a:ext cx="5155066" cy="2890156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FFFF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a = 1</a:t>
            </a:r>
            <a:endParaRPr lang="en-DE" sz="16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FFFF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 = 2</a:t>
            </a:r>
            <a:endParaRPr lang="en-DE" sz="16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16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a &gt; b</a:t>
            </a:r>
            <a:endParaRPr lang="en-DE" sz="16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16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1600" dirty="0">
                <a:solidFill>
                  <a:srgbClr val="C5E0B3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f’</a:t>
            </a:r>
            <a:r>
              <a:rPr lang="en-US" sz="1600" dirty="0">
                <a:solidFill>
                  <a:srgbClr val="EEAAA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{a}</a:t>
            </a:r>
            <a:r>
              <a:rPr lang="en-US" sz="1600" dirty="0">
                <a:solidFill>
                  <a:srgbClr val="C5E0B3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is larger than </a:t>
            </a:r>
            <a:r>
              <a:rPr lang="en-US" sz="1600" dirty="0">
                <a:solidFill>
                  <a:srgbClr val="EEAAA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{b}</a:t>
            </a:r>
            <a:r>
              <a:rPr lang="en-US" sz="1600" dirty="0">
                <a:solidFill>
                  <a:srgbClr val="C5E0B3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.’</a:t>
            </a:r>
            <a:r>
              <a:rPr lang="en-US" sz="16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en-DE" sz="16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 err="1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elif</a:t>
            </a:r>
            <a:r>
              <a:rPr lang="en-US" sz="16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a &lt; b</a:t>
            </a:r>
            <a:endParaRPr lang="en-DE" sz="16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16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1600" dirty="0">
                <a:solidFill>
                  <a:srgbClr val="C5E0B3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f’</a:t>
            </a:r>
            <a:r>
              <a:rPr lang="en-US" sz="1600" dirty="0">
                <a:solidFill>
                  <a:srgbClr val="EEAAA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{b}</a:t>
            </a:r>
            <a:r>
              <a:rPr lang="en-US" sz="1600" dirty="0">
                <a:solidFill>
                  <a:srgbClr val="C5E0B3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is larger than </a:t>
            </a:r>
            <a:r>
              <a:rPr lang="en-US" sz="1600" dirty="0">
                <a:solidFill>
                  <a:srgbClr val="EEAAA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{a}</a:t>
            </a:r>
            <a:r>
              <a:rPr lang="en-US" sz="1600" dirty="0">
                <a:solidFill>
                  <a:srgbClr val="C5E0B3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.’</a:t>
            </a:r>
            <a:r>
              <a:rPr lang="en-US" sz="16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en-DE" sz="16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else</a:t>
            </a:r>
            <a:endParaRPr lang="en-DE" sz="16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16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1600" dirty="0">
                <a:solidFill>
                  <a:srgbClr val="C5E0B3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f’</a:t>
            </a:r>
            <a:r>
              <a:rPr lang="en-US" sz="1600" dirty="0">
                <a:solidFill>
                  <a:srgbClr val="EEAAA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{a}</a:t>
            </a:r>
            <a:r>
              <a:rPr lang="en-US" sz="1600" dirty="0">
                <a:solidFill>
                  <a:srgbClr val="C5E0B3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equals </a:t>
            </a:r>
            <a:r>
              <a:rPr lang="en-US" sz="1600" dirty="0">
                <a:solidFill>
                  <a:srgbClr val="EEAAA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{b}</a:t>
            </a:r>
            <a:r>
              <a:rPr lang="en-US" sz="1600" dirty="0">
                <a:solidFill>
                  <a:srgbClr val="C5E0B3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.’</a:t>
            </a:r>
            <a:r>
              <a:rPr lang="en-US" sz="16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en-DE" sz="16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8D07CFAE-ED3E-495A-BC85-F8D9D6804117}"/>
              </a:ext>
            </a:extLst>
          </p:cNvPr>
          <p:cNvSpPr txBox="1">
            <a:spLocks/>
          </p:cNvSpPr>
          <p:nvPr/>
        </p:nvSpPr>
        <p:spPr>
          <a:xfrm>
            <a:off x="3793670" y="354238"/>
            <a:ext cx="460465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/>
              <a:t>Whats wrong here?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2834577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6678FF-5582-49B9-A0C3-500D62E59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3670" y="691695"/>
            <a:ext cx="4604658" cy="1325563"/>
          </a:xfrm>
        </p:spPr>
        <p:txBody>
          <a:bodyPr/>
          <a:lstStyle/>
          <a:p>
            <a:r>
              <a:rPr lang="de-DE" dirty="0" err="1"/>
              <a:t>Whats</a:t>
            </a:r>
            <a:r>
              <a:rPr lang="de-DE" dirty="0"/>
              <a:t> </a:t>
            </a:r>
            <a:r>
              <a:rPr lang="de-DE" dirty="0" err="1"/>
              <a:t>wrong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?</a:t>
            </a:r>
            <a:endParaRPr lang="en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F0CF039-4212-43CF-8059-A008516D2CD1}"/>
              </a:ext>
            </a:extLst>
          </p:cNvPr>
          <p:cNvSpPr/>
          <p:nvPr/>
        </p:nvSpPr>
        <p:spPr>
          <a:xfrm>
            <a:off x="3518466" y="2389754"/>
            <a:ext cx="5155067" cy="2078491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FFFF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a = 1</a:t>
            </a:r>
            <a:endParaRPr lang="en-DE" sz="16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FFFF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 = 2</a:t>
            </a:r>
            <a:endParaRPr lang="en-DE" sz="16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16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a = b:</a:t>
            </a:r>
            <a:endParaRPr lang="en-DE" sz="16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457200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16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1600" dirty="0">
                <a:solidFill>
                  <a:srgbClr val="C5E0B3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’Both numbers are equal.’</a:t>
            </a:r>
            <a:r>
              <a:rPr lang="en-US" sz="16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en-DE" sz="16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16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a != b:</a:t>
            </a:r>
            <a:endParaRPr lang="en-DE" sz="16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457200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16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1600" dirty="0">
                <a:solidFill>
                  <a:srgbClr val="C5E0B3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’Both numbers are not equal.’</a:t>
            </a:r>
            <a:r>
              <a:rPr lang="en-US" sz="16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en-DE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2389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2266</Words>
  <Application>Microsoft Office PowerPoint</Application>
  <PresentationFormat>Breitbild</PresentationFormat>
  <Paragraphs>341</Paragraphs>
  <Slides>41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41</vt:i4>
      </vt:variant>
    </vt:vector>
  </HeadingPairs>
  <TitlesOfParts>
    <vt:vector size="46" baseType="lpstr">
      <vt:lpstr>Arial</vt:lpstr>
      <vt:lpstr>Calibri</vt:lpstr>
      <vt:lpstr>Calibri Light</vt:lpstr>
      <vt:lpstr>Consolas</vt:lpstr>
      <vt:lpstr>Office Theme</vt:lpstr>
      <vt:lpstr>Lesson 04 :  Conditional Statements</vt:lpstr>
      <vt:lpstr>Let‘s stay real for a moment…</vt:lpstr>
      <vt:lpstr>In Python:</vt:lpstr>
      <vt:lpstr>Conditional Statements enable you to:</vt:lpstr>
      <vt:lpstr>What is a Condition?</vt:lpstr>
      <vt:lpstr>PowerPoint-Präsentation</vt:lpstr>
      <vt:lpstr>Write this in your VSCode:</vt:lpstr>
      <vt:lpstr>Write this in your VSCode:</vt:lpstr>
      <vt:lpstr>Write this in your VSCode:</vt:lpstr>
      <vt:lpstr>Write this in your VSCode:</vt:lpstr>
      <vt:lpstr>PowerPoint-Präsentation</vt:lpstr>
      <vt:lpstr>PowerPoint-Präsentation</vt:lpstr>
      <vt:lpstr>PowerPoint-Präsentation</vt:lpstr>
      <vt:lpstr>PowerPoint-Präsentation</vt:lpstr>
      <vt:lpstr>If…else statement</vt:lpstr>
      <vt:lpstr>Let‘s take a ride….</vt:lpstr>
      <vt:lpstr>What if there are multiple conditions?</vt:lpstr>
      <vt:lpstr>What if there are multiple conditions?</vt:lpstr>
      <vt:lpstr>What if there are multiple conditions?</vt:lpstr>
      <vt:lpstr>What if there are multiple conditions?</vt:lpstr>
      <vt:lpstr>What if there are multiple conditions?</vt:lpstr>
      <vt:lpstr>What if there are multiple conditions?</vt:lpstr>
      <vt:lpstr>What if there are multiple conditions?</vt:lpstr>
      <vt:lpstr>What if there are multiple conditions?</vt:lpstr>
      <vt:lpstr>Multiple conditions with if…elif…else statement</vt:lpstr>
      <vt:lpstr>What if there are multiple conditions?</vt:lpstr>
      <vt:lpstr>What if there are multiple conditions?</vt:lpstr>
      <vt:lpstr>What if there are multiple conditions?</vt:lpstr>
      <vt:lpstr>What if there are multiple conditions?</vt:lpstr>
      <vt:lpstr>What if there are multiple conditions?</vt:lpstr>
      <vt:lpstr>You can add as many „elif“ as you want!</vt:lpstr>
      <vt:lpstr>Nested if statements</vt:lpstr>
      <vt:lpstr>Boolean operators</vt:lpstr>
      <vt:lpstr>Boolean operators</vt:lpstr>
      <vt:lpstr>Boolean operators</vt:lpstr>
      <vt:lpstr>Hands-on Part</vt:lpstr>
      <vt:lpstr>Some Debugging</vt:lpstr>
      <vt:lpstr>Why is this suboptimal?</vt:lpstr>
      <vt:lpstr>Whats wrong here?</vt:lpstr>
      <vt:lpstr>PowerPoint-Präsentation</vt:lpstr>
      <vt:lpstr>Whats wrong here?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04 :  Conditional Statements</dc:title>
  <dc:creator>Fabian Quicken</dc:creator>
  <cp:lastModifiedBy>Fabian Quicken</cp:lastModifiedBy>
  <cp:revision>33</cp:revision>
  <dcterms:created xsi:type="dcterms:W3CDTF">2026-01-07T08:42:46Z</dcterms:created>
  <dcterms:modified xsi:type="dcterms:W3CDTF">2026-03-02T01:26:36Z</dcterms:modified>
</cp:coreProperties>
</file>
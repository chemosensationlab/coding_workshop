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76" r:id="rId4"/>
    <p:sldId id="303" r:id="rId5"/>
    <p:sldId id="304" r:id="rId6"/>
    <p:sldId id="305" r:id="rId7"/>
    <p:sldId id="311" r:id="rId8"/>
    <p:sldId id="266" r:id="rId9"/>
    <p:sldId id="310" r:id="rId10"/>
    <p:sldId id="306" r:id="rId11"/>
    <p:sldId id="290" r:id="rId12"/>
    <p:sldId id="307" r:id="rId13"/>
    <p:sldId id="308" r:id="rId14"/>
    <p:sldId id="30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BFE6"/>
    <a:srgbClr val="397DF8"/>
    <a:srgbClr val="397CF7"/>
    <a:srgbClr val="006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62603-5B5A-97C9-8518-E18AA1A9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CBFC0E-2EBB-341E-A62B-9596D7264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0D5B19-F325-3986-C7E6-D436DC5F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60DEFF-F2A5-B09E-6FBB-1A6A8E56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12F1E4-8B93-1DF0-3391-67967ABF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15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60F2C-05FA-98F3-A528-68A04DE9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DDF199-DE80-815E-74C3-2FF1A4A8D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07FFAF-0D6C-2816-AE2A-4DE08662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E127E1-1161-8109-C514-EB535D8E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3489E-974D-A597-61C8-73DB447E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17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51ED9-962B-7762-8CCF-2E462554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368A63-F9D3-BCE2-9599-94D3B2DAC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E4D831-F915-91ED-8C5C-C2B9A09D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7A4B07-B35E-DFE6-0E3B-FF7281DB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79D8D-6731-68E1-9097-9982FB2B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92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3E473-4D38-FCB0-4A71-76EA415B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06A8DC-7F7F-8E26-4E76-8EE9E457D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8A1279-F295-B8B9-75FD-FD5D6137C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A01D17-81AE-DA0D-D2B4-752C23CC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4506A4-66A9-E0DC-D0DF-02E14F70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4D9D08-AC57-2A2F-DEA1-F9DFF78D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41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1AB10-335A-F36D-22F5-EFD2C1B9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082742-EAF6-A4E6-3EE0-59B30873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BDA161-F74A-2C17-A05A-ED142E26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788628-81F6-135E-E1ED-7A6AB5E55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1C4FA6-4C9B-B38B-85BC-B58924094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322646-DAFC-F6C4-8C8A-510F08B2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83CD22-E94D-E66C-0349-1C0C0121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A158B7-B2A8-198C-B5A8-2F35C880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56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34EB3-0A06-017E-0047-B742C668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6C38E3-85B4-8F86-5186-E27CE467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E708F0-220D-CA94-3CB4-7D295A69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220587-413B-6E9E-A938-1FEB572B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38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0523C6-99C4-6CD5-6171-8279AAE4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E04F6E-13DD-74E6-D6B8-F26E156F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0EF32D-BA4C-9F11-412F-63842976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31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D268E-1ABF-A55A-8C7E-8DA6A860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BF9683-3814-0312-FAE5-6744A462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0A58EC-1C19-D836-B7A2-5DAD9368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E4CF2A-8D7A-CC36-973C-49AB8798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E86A9F-3A31-E531-219F-2669FFB1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8CE0DD-44F2-EB07-EF20-E27B7144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3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5EDF6-DA35-8915-C411-1AD9721D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717572F-EA16-DB39-30B8-15F08D375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809D44-CF3A-DB12-DE4E-96D90E37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313D3C-043C-5B82-EFCD-F8CAF966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E69A03-8E5B-18EC-038B-C34CBD05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ADFBC3-2CD2-0DEF-597C-9740D8F7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20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6183A-79C0-3440-490D-E3F9BB20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F6BF54-7D61-6402-A50C-7C15D49BF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62010F-C037-FBD4-9FB9-718726BB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D39693-FAE6-55B9-9AB8-3649005C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615849-F90B-F899-16C6-EFEB8CFF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1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E81D8A-7C59-5E49-2838-C1E87D053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9B30E6-8B19-8BE4-5391-2D190A0F9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D34AF-3A32-C4BF-D97E-35D5061D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B3469-06BD-21A4-EB7E-A11CED33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276805-937C-D1AC-14C2-D60F52FB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95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1779AF-C0EE-9CA6-1030-CF5DF0D2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24C71E-45A2-5A60-8539-D095AC77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2046EA-DC58-2E70-EB53-BFED48FED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B3C52-5577-4B07-9DDD-CD25056515E5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0A617B-B9D6-9A06-832D-BB1C69E4D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C76A0D-C418-EBB5-2E8E-B4151797C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25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8746E97-2A1E-4CD8-BD86-057981A5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446BA3-813D-57F5-2950-F4B34540E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20" y="4961199"/>
            <a:ext cx="8988879" cy="1896801"/>
          </a:xfrm>
        </p:spPr>
        <p:txBody>
          <a:bodyPr anchor="ctr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solidFill>
                  <a:srgbClr val="397DF8"/>
                </a:solidFill>
              </a:rPr>
              <a:t>Coding Workshop</a:t>
            </a:r>
            <a:br>
              <a:rPr lang="de-DE" dirty="0">
                <a:solidFill>
                  <a:srgbClr val="397DF8"/>
                </a:solidFill>
              </a:rPr>
            </a:br>
            <a:r>
              <a:rPr lang="de-DE" dirty="0">
                <a:solidFill>
                  <a:srgbClr val="397DF8"/>
                </a:solidFill>
              </a:rPr>
              <a:t>Debugging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9B9C4F-CD58-363A-CBB4-092841ADF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 anchor="b"/>
          <a:lstStyle/>
          <a:p>
            <a:pPr algn="r"/>
            <a:r>
              <a:rPr lang="de-DE">
                <a:solidFill>
                  <a:srgbClr val="94BFE6"/>
                </a:solidFill>
              </a:rPr>
              <a:t>06.04.2026</a:t>
            </a:r>
            <a:endParaRPr lang="de-DE" dirty="0">
              <a:solidFill>
                <a:srgbClr val="94BFE6"/>
              </a:solidFill>
            </a:endParaRPr>
          </a:p>
          <a:p>
            <a:pPr algn="r"/>
            <a:r>
              <a:rPr lang="de-DE" dirty="0">
                <a:solidFill>
                  <a:srgbClr val="94BFE6"/>
                </a:solidFill>
              </a:rPr>
              <a:t>Melissa Franke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E3E7F2C-9B81-4C57-AEE5-2D4D5ECA9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BAA8E53-B093-41D9-88E6-E8A7BFA9E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15480"/>
            <a:ext cx="121920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Recap</a:t>
            </a:r>
            <a:r>
              <a:rPr lang="de-DE" dirty="0">
                <a:solidFill>
                  <a:srgbClr val="397CF7"/>
                </a:solidFill>
              </a:rPr>
              <a:t> - </a:t>
            </a:r>
            <a:r>
              <a:rPr lang="de-DE" dirty="0" err="1">
                <a:solidFill>
                  <a:srgbClr val="397CF7"/>
                </a:solidFill>
              </a:rPr>
              <a:t>Documentation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871992"/>
            <a:ext cx="11893422" cy="553632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94BFE6"/>
                </a:solidFill>
              </a:rPr>
              <a:t>Documentation is useful to understand foreign code without reading the </a:t>
            </a:r>
            <a:r>
              <a:rPr lang="en-GB" dirty="0" err="1">
                <a:solidFill>
                  <a:srgbClr val="94BFE6"/>
                </a:solidFill>
              </a:rPr>
              <a:t>sourcecode</a:t>
            </a:r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What you need to understand potential packages can also be called API</a:t>
            </a:r>
          </a:p>
          <a:p>
            <a:r>
              <a:rPr lang="en-GB" dirty="0">
                <a:solidFill>
                  <a:srgbClr val="94BFE6"/>
                </a:solidFill>
              </a:rPr>
              <a:t>Not always complete, up to date, helpful</a:t>
            </a:r>
          </a:p>
          <a:p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Navigating documentations is a </a:t>
            </a:r>
            <a:r>
              <a:rPr lang="en-GB">
                <a:solidFill>
                  <a:srgbClr val="94BFE6"/>
                </a:solidFill>
              </a:rPr>
              <a:t>skill,</a:t>
            </a:r>
            <a:br>
              <a:rPr lang="en-GB">
                <a:solidFill>
                  <a:srgbClr val="94BFE6"/>
                </a:solidFill>
              </a:rPr>
            </a:br>
            <a:r>
              <a:rPr lang="en-GB">
                <a:solidFill>
                  <a:srgbClr val="94BFE6"/>
                </a:solidFill>
              </a:rPr>
              <a:t>learning </a:t>
            </a:r>
            <a:r>
              <a:rPr lang="en-GB" dirty="0">
                <a:solidFill>
                  <a:srgbClr val="94BFE6"/>
                </a:solidFill>
              </a:rPr>
              <a:t>it a struggle</a:t>
            </a:r>
          </a:p>
          <a:p>
            <a:r>
              <a:rPr lang="en-GB" dirty="0">
                <a:solidFill>
                  <a:srgbClr val="94BFE6"/>
                </a:solidFill>
              </a:rPr>
              <a:t>Trial and error helps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A836155E-DCF6-4C5C-B521-F998460C1B9B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0347E7D-2C41-4307-9904-BFAD494452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494" y="2433669"/>
            <a:ext cx="3862137" cy="280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6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Bugs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Informal term for all errors or un-intended workings of software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30CBF11-9DED-4C83-8DFB-A9E3E3FF5E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987340"/>
            <a:ext cx="4943475" cy="370760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3CC9EAD-E201-46B7-9078-E9E4010891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900" y="1718765"/>
            <a:ext cx="5596713" cy="4424901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25BA99F-04DB-4758-BB31-52843988DE98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9516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Types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of</a:t>
            </a:r>
            <a:r>
              <a:rPr lang="de-DE" dirty="0">
                <a:solidFill>
                  <a:srgbClr val="397CF7"/>
                </a:solidFill>
              </a:rPr>
              <a:t> Bugs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Ranges of severity (data loss, financial loss, frustration, time loss, …)</a:t>
            </a:r>
          </a:p>
          <a:p>
            <a:r>
              <a:rPr lang="en-GB" dirty="0">
                <a:solidFill>
                  <a:srgbClr val="94BFE6"/>
                </a:solidFill>
              </a:rPr>
              <a:t>Categorised by Effects: 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Crashing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Freezing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Glitching</a:t>
            </a:r>
          </a:p>
          <a:p>
            <a:r>
              <a:rPr lang="en-GB" dirty="0">
                <a:solidFill>
                  <a:srgbClr val="94BFE6"/>
                </a:solidFill>
              </a:rPr>
              <a:t>Categorised by severity (impact)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Fatal crash – unexpected error, program cannot run, data lost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Controlled crash – expected error, program cannot run, data lost or saved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Operation error – program runs, but calculates the wrong thing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Logic error – the program runs in unexpected ways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…</a:t>
            </a:r>
          </a:p>
          <a:p>
            <a:endParaRPr lang="en-GB" dirty="0">
              <a:solidFill>
                <a:srgbClr val="94BFE6"/>
              </a:solidFill>
            </a:endParaRPr>
          </a:p>
          <a:p>
            <a:pPr lvl="1"/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007CC5F-52EE-43C4-83DE-CC5DF8B060B6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214967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Debugging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Bugs are 99% of the time a 50cm problem</a:t>
            </a:r>
          </a:p>
          <a:p>
            <a:r>
              <a:rPr lang="en-GB" dirty="0">
                <a:solidFill>
                  <a:srgbClr val="94BFE6"/>
                </a:solidFill>
              </a:rPr>
              <a:t>Bugs can be a problem of the OS, the programming language or packages used</a:t>
            </a:r>
          </a:p>
          <a:p>
            <a:r>
              <a:rPr lang="en-GB" dirty="0">
                <a:solidFill>
                  <a:srgbClr val="94BFE6"/>
                </a:solidFill>
              </a:rPr>
              <a:t>Writing bug-free code is the ideal</a:t>
            </a:r>
          </a:p>
          <a:p>
            <a:r>
              <a:rPr lang="en-GB" dirty="0">
                <a:solidFill>
                  <a:srgbClr val="94BFE6"/>
                </a:solidFill>
              </a:rPr>
              <a:t>Writing bug-free, highly complex code is almost impossible</a:t>
            </a:r>
          </a:p>
          <a:p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All code needs intensive testing and debugging</a:t>
            </a: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79031B3-6754-4058-B01D-AE2D33169DA1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268700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Common </a:t>
            </a:r>
            <a:r>
              <a:rPr lang="de-DE" dirty="0" err="1">
                <a:solidFill>
                  <a:srgbClr val="397CF7"/>
                </a:solidFill>
              </a:rPr>
              <a:t>types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of</a:t>
            </a:r>
            <a:r>
              <a:rPr lang="de-DE" dirty="0">
                <a:solidFill>
                  <a:srgbClr val="397CF7"/>
                </a:solidFill>
              </a:rPr>
              <a:t> Debugging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181796"/>
          </a:xfrm>
        </p:spPr>
        <p:txBody>
          <a:bodyPr numCol="2"/>
          <a:lstStyle/>
          <a:p>
            <a:r>
              <a:rPr lang="en-GB" dirty="0">
                <a:solidFill>
                  <a:srgbClr val="94BFE6"/>
                </a:solidFill>
              </a:rPr>
              <a:t>Preventive debugging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Intensive testing of functions before integrating them into code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Idiot-proof as much as possible: unexpected inputs</a:t>
            </a:r>
          </a:p>
          <a:p>
            <a:r>
              <a:rPr lang="en-GB" dirty="0">
                <a:solidFill>
                  <a:srgbClr val="94BFE6"/>
                </a:solidFill>
              </a:rPr>
              <a:t>Print debugging /tracing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After every major step, set a status-print</a:t>
            </a:r>
          </a:p>
          <a:p>
            <a:r>
              <a:rPr lang="en-GB" dirty="0">
                <a:solidFill>
                  <a:srgbClr val="94BFE6"/>
                </a:solidFill>
              </a:rPr>
              <a:t>Activity tracing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Keep track of hardware resources</a:t>
            </a:r>
          </a:p>
          <a:p>
            <a:r>
              <a:rPr lang="en-GB" dirty="0">
                <a:solidFill>
                  <a:srgbClr val="94BFE6"/>
                </a:solidFill>
              </a:rPr>
              <a:t>Interactive debugging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Start, stop debugger, go line by line, …</a:t>
            </a:r>
          </a:p>
          <a:p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Post-mortem debugging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Track files, create logs during runtime to access after crash</a:t>
            </a:r>
          </a:p>
          <a:p>
            <a:r>
              <a:rPr lang="en-GB" dirty="0">
                <a:solidFill>
                  <a:srgbClr val="94BFE6"/>
                </a:solidFill>
              </a:rPr>
              <a:t>Rubber-duck debugging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Your code does not do what you want it to?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Explain it to the rubber duck.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990770A-6C61-4E33-9889-13CA1E24F82B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425277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Common </a:t>
            </a:r>
            <a:r>
              <a:rPr lang="de-DE" dirty="0" err="1">
                <a:solidFill>
                  <a:srgbClr val="397CF7"/>
                </a:solidFill>
              </a:rPr>
              <a:t>types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of</a:t>
            </a:r>
            <a:r>
              <a:rPr lang="de-DE" dirty="0">
                <a:solidFill>
                  <a:srgbClr val="397CF7"/>
                </a:solidFill>
              </a:rPr>
              <a:t> Debugging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990770A-6C61-4E33-9889-13CA1E24F82B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B862361-FA51-492C-8A77-652D00022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669" y="1023196"/>
            <a:ext cx="6538662" cy="502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51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6C6DA-8606-4241-A43F-B523CA69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CF7D08-58F4-42AB-AF05-FCE69B36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4093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853FD-DAE3-47B9-80D0-3FD107C2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807"/>
            <a:ext cx="12192000" cy="45719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4D09B0D3-28B7-E4DF-0794-3656AFBF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2937707"/>
            <a:ext cx="11893422" cy="982586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397DF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7450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6C6DA-8606-4241-A43F-B523CA69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CF7D08-58F4-42AB-AF05-FCE69B36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4093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853FD-DAE3-47B9-80D0-3FD107C2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807"/>
            <a:ext cx="12192000" cy="45719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4D09B0D3-28B7-E4DF-0794-3656AFBF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2937707"/>
            <a:ext cx="11893422" cy="982586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397DF8"/>
                </a:solidFill>
              </a:rPr>
              <a:t>DO NOT RUN THE EXERCISE CODE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DB8DA0E-EC3A-48F0-9E96-CD3563EA7862}"/>
              </a:ext>
            </a:extLst>
          </p:cNvPr>
          <p:cNvSpPr txBox="1">
            <a:spLocks/>
          </p:cNvSpPr>
          <p:nvPr/>
        </p:nvSpPr>
        <p:spPr>
          <a:xfrm>
            <a:off x="149289" y="4014327"/>
            <a:ext cx="11893422" cy="414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000" dirty="0">
                <a:solidFill>
                  <a:srgbClr val="397DF8"/>
                </a:solidFill>
              </a:rPr>
              <a:t>(</a:t>
            </a:r>
            <a:r>
              <a:rPr lang="de-DE" sz="2000" dirty="0" err="1">
                <a:solidFill>
                  <a:srgbClr val="397DF8"/>
                </a:solidFill>
              </a:rPr>
              <a:t>unless</a:t>
            </a:r>
            <a:r>
              <a:rPr lang="de-DE" sz="2000" dirty="0">
                <a:solidFill>
                  <a:srgbClr val="397DF8"/>
                </a:solidFill>
              </a:rPr>
              <a:t> </a:t>
            </a:r>
            <a:r>
              <a:rPr lang="de-DE" sz="2000" dirty="0" err="1">
                <a:solidFill>
                  <a:srgbClr val="397DF8"/>
                </a:solidFill>
              </a:rPr>
              <a:t>asked</a:t>
            </a:r>
            <a:r>
              <a:rPr lang="de-DE" sz="2000" dirty="0">
                <a:solidFill>
                  <a:srgbClr val="397DF8"/>
                </a:solidFill>
              </a:rPr>
              <a:t> </a:t>
            </a:r>
            <a:r>
              <a:rPr lang="de-DE" sz="2000" dirty="0" err="1">
                <a:solidFill>
                  <a:srgbClr val="397DF8"/>
                </a:solidFill>
              </a:rPr>
              <a:t>to</a:t>
            </a:r>
            <a:r>
              <a:rPr lang="de-DE" sz="2000" dirty="0">
                <a:solidFill>
                  <a:srgbClr val="397DF8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315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8" y="1160190"/>
            <a:ext cx="11893421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1: preventive debugging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Open the file for Exercise 1.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Understand the working code of this exercise.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What does it do?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Run the code with inputs that will get it to crash! The more the better!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How could you idiot-proof the function?</a:t>
            </a:r>
            <a:endParaRPr lang="en-GB" sz="26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Debugging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7D53611-877C-4B48-8E8E-BA870C10EF99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2662623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8" y="1160190"/>
            <a:ext cx="10433897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2: print debugging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Open the file for Exercise 2.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Understand the working code of this exercise.</a:t>
            </a:r>
          </a:p>
          <a:p>
            <a:pPr marL="0" indent="0"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Ignore the hopefully obvious errors.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Identify the major parts of the functions.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Write print messages after each part similar to: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Print(‘[Step1] started’)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Print(‘[Step1] finished’)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Run the code. What was the last printed message?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Identify the error and correct it.</a:t>
            </a:r>
            <a:endParaRPr lang="en-GB" sz="26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Debugging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CBF4A65-B89E-4C9C-B06F-16E89BCF91AC}"/>
              </a:ext>
            </a:extLst>
          </p:cNvPr>
          <p:cNvSpPr txBox="1">
            <a:spLocks/>
          </p:cNvSpPr>
          <p:nvPr/>
        </p:nvSpPr>
        <p:spPr>
          <a:xfrm>
            <a:off x="7680960" y="777781"/>
            <a:ext cx="4511039" cy="4448215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You can also keep track of your variables this way!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If you know a calculation is wrong, but there is no obvious error, print the variable at each point it is changed and check in which step a calculation is wrong.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Since the rise of IDEs with integrated debugging, this type of debugging is seldomly used, but still sometimes faster. 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F824CAC-BADD-45E6-9B0E-0DED0698795D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1286620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8" y="1160190"/>
            <a:ext cx="11984402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3: activity tracing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FF0000"/>
                </a:solidFill>
              </a:rPr>
              <a:t>RUN THIS AT YOUR OWN RISK – this is a RAM-gobbler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Open the file for Exercise 3.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Understand the code of this exercise.</a:t>
            </a:r>
          </a:p>
          <a:p>
            <a:pPr marL="0" indent="0"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Ignore the hopefully obvious error.</a:t>
            </a:r>
          </a:p>
          <a:p>
            <a:pPr marL="0" indent="0"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Open the task manager , run the program and observe the resources accumulated over time. </a:t>
            </a:r>
            <a:r>
              <a:rPr lang="en-GB" sz="2400" dirty="0">
                <a:solidFill>
                  <a:srgbClr val="FF0000"/>
                </a:solidFill>
              </a:rPr>
              <a:t>Close the program before your RAM is used up.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At a certain point it should be obvious that the code should not behave this way and that there is an error. (Also the long runtime and the interrupt from the IDE.)</a:t>
            </a:r>
            <a:endParaRPr lang="en-GB" sz="26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Debugging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B3E2C67-3C59-4DED-814C-880565BA9C1D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2709459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8" y="1160190"/>
            <a:ext cx="10433897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4: rubber duck debugging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Open the file for Exercise 4.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Understand the code of this exercise.</a:t>
            </a:r>
          </a:p>
          <a:p>
            <a:pPr marL="0" indent="0"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Explain the code line by line.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Find the error.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Debugging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CBF4A65-B89E-4C9C-B06F-16E89BCF91AC}"/>
              </a:ext>
            </a:extLst>
          </p:cNvPr>
          <p:cNvSpPr txBox="1">
            <a:spLocks/>
          </p:cNvSpPr>
          <p:nvPr/>
        </p:nvSpPr>
        <p:spPr>
          <a:xfrm>
            <a:off x="7680960" y="777782"/>
            <a:ext cx="4511039" cy="1798442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You will likely look stupid actually explaining it to a rubber duck.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But it works also if you do it silently in your head.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5ECF9B8-B1CB-484C-8940-AA247EA6E004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4080275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7531670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5: interactive debugging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Open the file for Exercise 5.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This is the same code from </a:t>
            </a:r>
            <a:r>
              <a:rPr lang="en-GB" sz="2400">
                <a:solidFill>
                  <a:srgbClr val="94BFE6"/>
                </a:solidFill>
              </a:rPr>
              <a:t>Exercise 3.</a:t>
            </a: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Set a breakpoint in line 32.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Go through the code line by line.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Once an error was found, set a breakpoint above and correct the error.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Continue until the script is bug-free</a:t>
            </a:r>
          </a:p>
          <a:p>
            <a:pPr marL="0" indent="0">
              <a:buNone/>
            </a:pPr>
            <a:endParaRPr lang="en-GB" sz="24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>
                <a:solidFill>
                  <a:srgbClr val="397CF7"/>
                </a:solidFill>
              </a:rPr>
              <a:t>Debugging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113FB68-B5F5-4954-A138-769A022AF735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>
                <a:solidFill>
                  <a:srgbClr val="397DF8"/>
                </a:solidFill>
              </a:rPr>
              <a:t>Debugging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7D177928-A86B-454D-9BE3-7C9222AC1FAF}"/>
              </a:ext>
            </a:extLst>
          </p:cNvPr>
          <p:cNvSpPr txBox="1">
            <a:spLocks/>
          </p:cNvSpPr>
          <p:nvPr/>
        </p:nvSpPr>
        <p:spPr>
          <a:xfrm>
            <a:off x="7680960" y="777781"/>
            <a:ext cx="4511039" cy="4281237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To set a breakpoint, left-click left of the line number.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To delete a breakpoint, click it again.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Continue (F5) runs to the end or next breakpoint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Step over (F10) does not enter functions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Step into (F11) enters functions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Restart (ctrl+shift+F5)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Stop (shift+F5)</a:t>
            </a:r>
          </a:p>
        </p:txBody>
      </p:sp>
    </p:spTree>
    <p:extLst>
      <p:ext uri="{BB962C8B-B14F-4D97-AF65-F5344CB8AC3E}">
        <p14:creationId xmlns:p14="http://schemas.microsoft.com/office/powerpoint/2010/main" val="303332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Breitbild</PresentationFormat>
  <Paragraphs>171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</vt:lpstr>
      <vt:lpstr>Coding Workshop Debugging</vt:lpstr>
      <vt:lpstr>Recap - Documentation</vt:lpstr>
      <vt:lpstr>Bugs</vt:lpstr>
      <vt:lpstr>Types of Bugs</vt:lpstr>
      <vt:lpstr>Debugging</vt:lpstr>
      <vt:lpstr>Common types of Debugging</vt:lpstr>
      <vt:lpstr>Common types of Debugging</vt:lpstr>
      <vt:lpstr>Questions?</vt:lpstr>
      <vt:lpstr>DO NOT RUN THE EXERCISE CODE</vt:lpstr>
      <vt:lpstr>Debugging - Exercises</vt:lpstr>
      <vt:lpstr>Debugging - Exercises</vt:lpstr>
      <vt:lpstr>Debugging - Exercises</vt:lpstr>
      <vt:lpstr>Debugging - Exercises</vt:lpstr>
      <vt:lpstr>Debugging -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 long titel that needs two lines</dc:title>
  <dc:creator>melissa.franke@rwth-aachen.de</dc:creator>
  <cp:lastModifiedBy>Melissa Franke</cp:lastModifiedBy>
  <cp:revision>81</cp:revision>
  <dcterms:created xsi:type="dcterms:W3CDTF">2024-01-02T08:44:02Z</dcterms:created>
  <dcterms:modified xsi:type="dcterms:W3CDTF">2026-04-10T13:32:23Z</dcterms:modified>
</cp:coreProperties>
</file>
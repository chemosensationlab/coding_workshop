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76" r:id="rId4"/>
    <p:sldId id="280" r:id="rId5"/>
    <p:sldId id="279" r:id="rId6"/>
    <p:sldId id="281" r:id="rId7"/>
    <p:sldId id="282" r:id="rId8"/>
    <p:sldId id="283" r:id="rId9"/>
    <p:sldId id="285" r:id="rId10"/>
    <p:sldId id="286" r:id="rId11"/>
    <p:sldId id="266" r:id="rId12"/>
    <p:sldId id="290" r:id="rId13"/>
    <p:sldId id="292" r:id="rId14"/>
    <p:sldId id="295" r:id="rId15"/>
    <p:sldId id="297" r:id="rId16"/>
    <p:sldId id="291" r:id="rId17"/>
    <p:sldId id="294" r:id="rId18"/>
    <p:sldId id="296" r:id="rId19"/>
    <p:sldId id="273" r:id="rId20"/>
    <p:sldId id="278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FE6"/>
    <a:srgbClr val="397DF8"/>
    <a:srgbClr val="397CF7"/>
    <a:srgbClr val="006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62603-5B5A-97C9-8518-E18AA1A9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CBFC0E-2EBB-341E-A62B-9596D7264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0D5B19-F325-3986-C7E6-D436DC5F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60DEFF-F2A5-B09E-6FBB-1A6A8E56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12F1E4-8B93-1DF0-3391-67967ABF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5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60F2C-05FA-98F3-A528-68A04DE9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DDF199-DE80-815E-74C3-2FF1A4A8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07FFAF-0D6C-2816-AE2A-4DE08662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E127E1-1161-8109-C514-EB535D8E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3489E-974D-A597-61C8-73DB447E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17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51ED9-962B-7762-8CCF-2E462554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368A63-F9D3-BCE2-9599-94D3B2DAC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E4D831-F915-91ED-8C5C-C2B9A09D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7A4B07-B35E-DFE6-0E3B-FF7281DB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79D8D-6731-68E1-9097-9982FB2B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92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3E473-4D38-FCB0-4A71-76EA415B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06A8DC-7F7F-8E26-4E76-8EE9E457D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8A1279-F295-B8B9-75FD-FD5D6137C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A01D17-81AE-DA0D-D2B4-752C23CC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4506A4-66A9-E0DC-D0DF-02E14F70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4D9D08-AC57-2A2F-DEA1-F9DFF78D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41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1AB10-335A-F36D-22F5-EFD2C1B9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082742-EAF6-A4E6-3EE0-59B30873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BDA161-F74A-2C17-A05A-ED142E26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788628-81F6-135E-E1ED-7A6AB5E5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1C4FA6-4C9B-B38B-85BC-B58924094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322646-DAFC-F6C4-8C8A-510F08B2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83CD22-E94D-E66C-0349-1C0C0121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A158B7-B2A8-198C-B5A8-2F35C88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56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34EB3-0A06-017E-0047-B742C668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6C38E3-85B4-8F86-5186-E27CE467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E708F0-220D-CA94-3CB4-7D295A69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220587-413B-6E9E-A938-1FEB572B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38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0523C6-99C4-6CD5-6171-8279AAE4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E04F6E-13DD-74E6-D6B8-F26E156F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0EF32D-BA4C-9F11-412F-63842976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31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D268E-1ABF-A55A-8C7E-8DA6A860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BF9683-3814-0312-FAE5-6744A462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0A58EC-1C19-D836-B7A2-5DAD9368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E4CF2A-8D7A-CC36-973C-49AB8798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E86A9F-3A31-E531-219F-2669FFB1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8CE0DD-44F2-EB07-EF20-E27B7144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3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5EDF6-DA35-8915-C411-1AD9721D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717572F-EA16-DB39-30B8-15F08D375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809D44-CF3A-DB12-DE4E-96D90E37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313D3C-043C-5B82-EFCD-F8CAF966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E69A03-8E5B-18EC-038B-C34CBD05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ADFBC3-2CD2-0DEF-597C-9740D8F7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20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6183A-79C0-3440-490D-E3F9BB20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F6BF54-7D61-6402-A50C-7C15D49BF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62010F-C037-FBD4-9FB9-718726BB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D39693-FAE6-55B9-9AB8-3649005C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15849-F90B-F899-16C6-EFEB8CFF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1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E81D8A-7C59-5E49-2838-C1E87D053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9B30E6-8B19-8BE4-5391-2D190A0F9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D34AF-3A32-C4BF-D97E-35D5061D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B3469-06BD-21A4-EB7E-A11CED33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276805-937C-D1AC-14C2-D60F52FB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95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1779AF-C0EE-9CA6-1030-CF5DF0D2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24C71E-45A2-5A60-8539-D095AC77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2046EA-DC58-2E70-EB53-BFED48FED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B3C52-5577-4B07-9DDD-CD25056515E5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0A617B-B9D6-9A06-832D-BB1C69E4D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C76A0D-C418-EBB5-2E8E-B4151797C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25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8746E97-2A1E-4CD8-BD86-057981A5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446BA3-813D-57F5-2950-F4B34540E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20" y="4961199"/>
            <a:ext cx="8988879" cy="1896801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solidFill>
                  <a:srgbClr val="397DF8"/>
                </a:solidFill>
              </a:rPr>
              <a:t>Coding Workshop</a:t>
            </a:r>
            <a:br>
              <a:rPr lang="de-DE" dirty="0">
                <a:solidFill>
                  <a:srgbClr val="397DF8"/>
                </a:solidFill>
              </a:rPr>
            </a:br>
            <a:r>
              <a:rPr lang="de-DE" dirty="0" err="1">
                <a:solidFill>
                  <a:srgbClr val="397DF8"/>
                </a:solidFill>
              </a:rPr>
              <a:t>Datatypes</a:t>
            </a:r>
            <a:r>
              <a:rPr lang="de-DE" dirty="0">
                <a:solidFill>
                  <a:srgbClr val="397DF8"/>
                </a:solidFill>
              </a:rPr>
              <a:t> II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9B9C4F-CD58-363A-CBB4-092841ADF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 anchor="b"/>
          <a:lstStyle/>
          <a:p>
            <a:pPr algn="r"/>
            <a:r>
              <a:rPr lang="de-DE">
                <a:solidFill>
                  <a:srgbClr val="94BFE6"/>
                </a:solidFill>
              </a:rPr>
              <a:t>2</a:t>
            </a:r>
            <a:r>
              <a:rPr lang="de-DE" dirty="0">
                <a:solidFill>
                  <a:srgbClr val="94BFE6"/>
                </a:solidFill>
              </a:rPr>
              <a:t>3</a:t>
            </a:r>
            <a:r>
              <a:rPr lang="de-DE">
                <a:solidFill>
                  <a:srgbClr val="94BFE6"/>
                </a:solidFill>
              </a:rPr>
              <a:t>.02.2026</a:t>
            </a:r>
            <a:endParaRPr lang="de-DE" dirty="0">
              <a:solidFill>
                <a:srgbClr val="94BFE6"/>
              </a:solidFill>
            </a:endParaRPr>
          </a:p>
          <a:p>
            <a:pPr algn="r"/>
            <a:r>
              <a:rPr lang="de-DE" dirty="0">
                <a:solidFill>
                  <a:srgbClr val="94BFE6"/>
                </a:solidFill>
              </a:rPr>
              <a:t>Melissa Franke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E3E7F2C-9B81-4C57-AEE5-2D4D5ECA9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BAA8E53-B093-41D9-88E6-E8A7BFA9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15480"/>
            <a:ext cx="121920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Recap</a:t>
            </a:r>
            <a:r>
              <a:rPr lang="de-DE" dirty="0">
                <a:solidFill>
                  <a:srgbClr val="397CF7"/>
                </a:solidFill>
              </a:rPr>
              <a:t> -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 – simple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871992"/>
            <a:ext cx="11893422" cy="5536326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rgbClr val="94BFE6"/>
                </a:solidFill>
              </a:rPr>
              <a:t>All variables are stored in RAM -&gt; RAM is temporary storage (and limited)</a:t>
            </a:r>
          </a:p>
          <a:p>
            <a:r>
              <a:rPr lang="en-GB" sz="2000" dirty="0">
                <a:solidFill>
                  <a:srgbClr val="94BFE6"/>
                </a:solidFill>
              </a:rPr>
              <a:t>It is good practise for variable names to make sense</a:t>
            </a:r>
          </a:p>
          <a:p>
            <a:r>
              <a:rPr lang="en-GB" sz="2000" dirty="0">
                <a:solidFill>
                  <a:srgbClr val="94BFE6"/>
                </a:solidFill>
              </a:rPr>
              <a:t>Variables are assigned as name = value</a:t>
            </a:r>
          </a:p>
          <a:p>
            <a:r>
              <a:rPr lang="en-GB" sz="2000" dirty="0">
                <a:solidFill>
                  <a:srgbClr val="94BFE6"/>
                </a:solidFill>
              </a:rPr>
              <a:t>Simple datatypes: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Boolean – False or True 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Integer – whole numbers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Float – real numbers 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Char – characters 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String – combinations of characters</a:t>
            </a:r>
          </a:p>
          <a:p>
            <a:r>
              <a:rPr lang="en-GB" sz="2000" dirty="0">
                <a:solidFill>
                  <a:srgbClr val="94BFE6"/>
                </a:solidFill>
              </a:rPr>
              <a:t>Typing conventions: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Duck typing – assigns data type by value and operator – may create errors</a:t>
            </a:r>
          </a:p>
          <a:p>
            <a:r>
              <a:rPr lang="en-GB" sz="2000" dirty="0">
                <a:solidFill>
                  <a:srgbClr val="94BFE6"/>
                </a:solidFill>
              </a:rPr>
              <a:t>Typecasting: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Convert one datatype into another</a:t>
            </a:r>
            <a:endParaRPr lang="en-GB" sz="2000" dirty="0">
              <a:solidFill>
                <a:srgbClr val="94BFE6"/>
              </a:solidFill>
            </a:endParaRPr>
          </a:p>
          <a:p>
            <a:r>
              <a:rPr lang="en-GB" sz="2000" dirty="0">
                <a:solidFill>
                  <a:srgbClr val="94BFE6"/>
                </a:solidFill>
              </a:rPr>
              <a:t>Statements:</a:t>
            </a:r>
          </a:p>
          <a:p>
            <a:pPr lvl="1"/>
            <a:r>
              <a:rPr lang="en-GB" sz="1600" dirty="0">
                <a:solidFill>
                  <a:srgbClr val="94BFE6"/>
                </a:solidFill>
              </a:rPr>
              <a:t>Programming logic is created by combining Boolean statements</a:t>
            </a:r>
            <a:endParaRPr lang="en-GB" sz="2000" dirty="0">
              <a:solidFill>
                <a:srgbClr val="94BFE6"/>
              </a:solidFill>
            </a:endParaRPr>
          </a:p>
          <a:p>
            <a:r>
              <a:rPr lang="en-GB" sz="2000" dirty="0">
                <a:solidFill>
                  <a:srgbClr val="94BFE6"/>
                </a:solidFill>
              </a:rPr>
              <a:t>Comment your code by using the character #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7" name="Pfeil: nach unten 6">
            <a:extLst>
              <a:ext uri="{FF2B5EF4-FFF2-40B4-BE49-F238E27FC236}">
                <a16:creationId xmlns:a16="http://schemas.microsoft.com/office/drawing/2014/main" id="{C30C94C1-6FB1-4599-98BD-B0A49B4B2766}"/>
              </a:ext>
            </a:extLst>
          </p:cNvPr>
          <p:cNvSpPr/>
          <p:nvPr/>
        </p:nvSpPr>
        <p:spPr>
          <a:xfrm>
            <a:off x="4166069" y="2451890"/>
            <a:ext cx="230588" cy="11768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FFD9A6F-4537-4B24-8E81-32F66979A400}"/>
              </a:ext>
            </a:extLst>
          </p:cNvPr>
          <p:cNvSpPr txBox="1"/>
          <p:nvPr/>
        </p:nvSpPr>
        <p:spPr>
          <a:xfrm>
            <a:off x="4643147" y="2753897"/>
            <a:ext cx="3415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rgbClr val="94BFE6"/>
                </a:solidFill>
              </a:rPr>
              <a:t>Increasing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complexity</a:t>
            </a:r>
            <a:r>
              <a:rPr lang="de-DE" dirty="0">
                <a:solidFill>
                  <a:srgbClr val="94BFE6"/>
                </a:solidFill>
              </a:rPr>
              <a:t>,</a:t>
            </a:r>
          </a:p>
          <a:p>
            <a:r>
              <a:rPr lang="de-DE" dirty="0" err="1">
                <a:solidFill>
                  <a:srgbClr val="94BFE6"/>
                </a:solidFill>
              </a:rPr>
              <a:t>Increasing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memory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consumption</a:t>
            </a:r>
            <a:endParaRPr lang="de-DE" dirty="0">
              <a:solidFill>
                <a:srgbClr val="94BFE6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836155E-DCF6-4C5C-B521-F998460C1B9B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91586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List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Values of a List are multiples of one Datatype sorted in order</a:t>
            </a:r>
          </a:p>
          <a:p>
            <a:r>
              <a:rPr lang="en-GB" dirty="0">
                <a:solidFill>
                  <a:srgbClr val="94BFE6"/>
                </a:solidFill>
              </a:rPr>
              <a:t>Can be used to: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store data of the same type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Store data of different types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manipulate data</a:t>
            </a:r>
          </a:p>
          <a:p>
            <a:r>
              <a:rPr lang="en-GB" dirty="0">
                <a:solidFill>
                  <a:srgbClr val="94BFE6"/>
                </a:solidFill>
              </a:rPr>
              <a:t>Can be 1-, 2-, 3- or n-dimensional</a:t>
            </a:r>
          </a:p>
          <a:p>
            <a:r>
              <a:rPr lang="en-GB" dirty="0">
                <a:solidFill>
                  <a:srgbClr val="94BFE6"/>
                </a:solidFill>
              </a:rPr>
              <a:t>lists in python are similar to arrays in other languages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9516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List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Thought example: from index box to archive 			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					        Dimension=1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first card: 		</a:t>
            </a:r>
            <a:r>
              <a:rPr lang="en-GB" dirty="0" err="1">
                <a:solidFill>
                  <a:srgbClr val="94BFE6"/>
                </a:solidFill>
              </a:rPr>
              <a:t>Aach</a:t>
            </a: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second card: 	Aachen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third card:		Aalen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…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last card:		</a:t>
            </a:r>
            <a:r>
              <a:rPr lang="en-GB" dirty="0" err="1">
                <a:solidFill>
                  <a:srgbClr val="94BFE6"/>
                </a:solidFill>
              </a:rPr>
              <a:t>Zellah</a:t>
            </a:r>
            <a:r>
              <a:rPr lang="en-GB" dirty="0">
                <a:solidFill>
                  <a:srgbClr val="94BFE6"/>
                </a:solidFill>
              </a:rPr>
              <a:t>-Mehlis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index = city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555021D-FB55-4C56-ABE0-666BA3E81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391" y="2277797"/>
            <a:ext cx="2347728" cy="230240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12430B1-BB9B-4A21-8A13-9740A8CA2F6B}"/>
              </a:ext>
            </a:extLst>
          </p:cNvPr>
          <p:cNvSpPr txBox="1"/>
          <p:nvPr/>
        </p:nvSpPr>
        <p:spPr>
          <a:xfrm>
            <a:off x="1696515" y="4591078"/>
            <a:ext cx="1841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94BFE6"/>
                </a:solidFill>
              </a:rPr>
              <a:t>Index box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all </a:t>
            </a:r>
            <a:r>
              <a:rPr lang="de-DE" dirty="0" err="1">
                <a:solidFill>
                  <a:srgbClr val="94BFE6"/>
                </a:solidFill>
              </a:rPr>
              <a:t>cities</a:t>
            </a:r>
            <a:r>
              <a:rPr lang="de-DE" dirty="0">
                <a:solidFill>
                  <a:srgbClr val="94BFE6"/>
                </a:solidFill>
              </a:rPr>
              <a:t> in Germany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74AC43E-F27E-4867-A6D1-520949683D71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9748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List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Thought example: from index box to archive		    	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					        Dimension=2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first row, first card:		Aalst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first row, last card:		</a:t>
            </a:r>
            <a:r>
              <a:rPr lang="en-GB" dirty="0" err="1">
                <a:solidFill>
                  <a:srgbClr val="94BFE6"/>
                </a:solidFill>
              </a:rPr>
              <a:t>Zoutleeuw</a:t>
            </a: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second row, first card: 	</a:t>
            </a:r>
            <a:r>
              <a:rPr lang="en-GB" dirty="0" err="1">
                <a:solidFill>
                  <a:srgbClr val="94BFE6"/>
                </a:solidFill>
              </a:rPr>
              <a:t>Aach</a:t>
            </a: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second row, last card: 	</a:t>
            </a:r>
            <a:r>
              <a:rPr lang="en-GB" dirty="0" err="1">
                <a:solidFill>
                  <a:srgbClr val="94BFE6"/>
                </a:solidFill>
              </a:rPr>
              <a:t>Zellah</a:t>
            </a:r>
            <a:r>
              <a:rPr lang="en-GB" dirty="0">
                <a:solidFill>
                  <a:srgbClr val="94BFE6"/>
                </a:solidFill>
              </a:rPr>
              <a:t>-Mehlis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…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indices = country, city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E1EEF39-99D2-4000-9DF2-BDE47117EC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46" y="1730257"/>
            <a:ext cx="3399845" cy="339984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6A013A0-446C-4EDF-841A-41B419E7313D}"/>
              </a:ext>
            </a:extLst>
          </p:cNvPr>
          <p:cNvSpPr txBox="1"/>
          <p:nvPr/>
        </p:nvSpPr>
        <p:spPr>
          <a:xfrm>
            <a:off x="504245" y="5170711"/>
            <a:ext cx="339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rgbClr val="94BFE6"/>
                </a:solidFill>
              </a:rPr>
              <a:t>Filing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cabinet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cities</a:t>
            </a:r>
            <a:r>
              <a:rPr lang="de-DE" dirty="0">
                <a:solidFill>
                  <a:srgbClr val="94BFE6"/>
                </a:solidFill>
              </a:rPr>
              <a:t> in Europe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6E5F309-76A0-4B64-A843-25968C3B0E32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315659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List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Thought example: from index box to archive 			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					        Dimension=3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first row, first column, first card:	Aalst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first row, first column, last card:		</a:t>
            </a:r>
            <a:r>
              <a:rPr lang="en-GB" dirty="0" err="1">
                <a:solidFill>
                  <a:srgbClr val="94BFE6"/>
                </a:solidFill>
              </a:rPr>
              <a:t>Zoutleeuw</a:t>
            </a: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…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indices = continent, country, city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6A013A0-446C-4EDF-841A-41B419E7313D}"/>
              </a:ext>
            </a:extLst>
          </p:cNvPr>
          <p:cNvSpPr txBox="1"/>
          <p:nvPr/>
        </p:nvSpPr>
        <p:spPr>
          <a:xfrm>
            <a:off x="504245" y="5170711"/>
            <a:ext cx="3399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rgbClr val="94BFE6"/>
                </a:solidFill>
              </a:rPr>
              <a:t>Filing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cabinet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cities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all </a:t>
            </a:r>
            <a:r>
              <a:rPr lang="de-DE" dirty="0" err="1">
                <a:solidFill>
                  <a:srgbClr val="94BFE6"/>
                </a:solidFill>
              </a:rPr>
              <a:t>continents</a:t>
            </a:r>
            <a:endParaRPr lang="de-DE" dirty="0">
              <a:solidFill>
                <a:srgbClr val="94BFE6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13586FB-109B-4A13-BB6D-59D79EA16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036" y="1289012"/>
            <a:ext cx="3876261" cy="3876261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F940EDE0-96FD-4F0C-8B16-84876AC9F81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384035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List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94BFE6"/>
                </a:solidFill>
              </a:rPr>
              <a:t>Thought example: from index box to archive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</a:t>
            </a: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More and more dimensions possible, but path to 					information is always clear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indices = planet, continent, country, city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				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2512552-93A6-4866-8FE9-27AA400F91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97" y="1861207"/>
            <a:ext cx="3733707" cy="2763675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F851D126-97FC-4AD4-BE84-42A076556828}"/>
              </a:ext>
            </a:extLst>
          </p:cNvPr>
          <p:cNvSpPr txBox="1"/>
          <p:nvPr/>
        </p:nvSpPr>
        <p:spPr>
          <a:xfrm>
            <a:off x="511797" y="4924220"/>
            <a:ext cx="3399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94BFE6"/>
                </a:solidFill>
              </a:rPr>
              <a:t>Room </a:t>
            </a:r>
            <a:r>
              <a:rPr lang="de-DE" dirty="0" err="1">
                <a:solidFill>
                  <a:srgbClr val="94BFE6"/>
                </a:solidFill>
              </a:rPr>
              <a:t>with</a:t>
            </a:r>
            <a:r>
              <a:rPr lang="de-DE" dirty="0">
                <a:solidFill>
                  <a:srgbClr val="94BFE6"/>
                </a:solidFill>
              </a:rPr>
              <a:t> all </a:t>
            </a:r>
            <a:r>
              <a:rPr lang="de-DE" dirty="0" err="1">
                <a:solidFill>
                  <a:srgbClr val="94BFE6"/>
                </a:solidFill>
              </a:rPr>
              <a:t>cities</a:t>
            </a:r>
            <a:r>
              <a:rPr lang="de-DE" dirty="0">
                <a:solidFill>
                  <a:srgbClr val="94BFE6"/>
                </a:solidFill>
              </a:rPr>
              <a:t> </a:t>
            </a:r>
            <a:r>
              <a:rPr lang="de-DE" dirty="0" err="1">
                <a:solidFill>
                  <a:srgbClr val="94BFE6"/>
                </a:solidFill>
              </a:rPr>
              <a:t>of</a:t>
            </a:r>
            <a:r>
              <a:rPr lang="de-DE" dirty="0">
                <a:solidFill>
                  <a:srgbClr val="94BFE6"/>
                </a:solidFill>
              </a:rPr>
              <a:t> different </a:t>
            </a:r>
            <a:r>
              <a:rPr lang="de-DE" dirty="0" err="1">
                <a:solidFill>
                  <a:srgbClr val="94BFE6"/>
                </a:solidFill>
              </a:rPr>
              <a:t>planets</a:t>
            </a:r>
            <a:r>
              <a:rPr lang="de-DE" dirty="0">
                <a:solidFill>
                  <a:srgbClr val="94BFE6"/>
                </a:solidFill>
              </a:rPr>
              <a:t> in </a:t>
            </a:r>
            <a:r>
              <a:rPr lang="de-DE" dirty="0" err="1">
                <a:solidFill>
                  <a:srgbClr val="94BFE6"/>
                </a:solidFill>
              </a:rPr>
              <a:t>the</a:t>
            </a:r>
            <a:r>
              <a:rPr lang="de-DE" dirty="0">
                <a:solidFill>
                  <a:srgbClr val="94BFE6"/>
                </a:solidFill>
              </a:rPr>
              <a:t> solar </a:t>
            </a:r>
            <a:r>
              <a:rPr lang="de-DE" dirty="0" err="1">
                <a:solidFill>
                  <a:srgbClr val="94BFE6"/>
                </a:solidFill>
              </a:rPr>
              <a:t>system</a:t>
            </a:r>
            <a:endParaRPr lang="de-DE" dirty="0">
              <a:solidFill>
                <a:srgbClr val="94BFE6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B449DED-D1CA-4176-AD4D-EA434E37BCD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28050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List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List in python:</a:t>
            </a:r>
          </a:p>
          <a:p>
            <a:r>
              <a:rPr lang="en-GB" dirty="0">
                <a:solidFill>
                  <a:srgbClr val="94BFE6"/>
                </a:solidFill>
              </a:rPr>
              <a:t>1D is called list, higher dimensionality: list of lists</a:t>
            </a:r>
          </a:p>
          <a:p>
            <a:r>
              <a:rPr lang="en-GB" dirty="0">
                <a:solidFill>
                  <a:srgbClr val="94BFE6"/>
                </a:solidFill>
              </a:rPr>
              <a:t>A list is </a:t>
            </a:r>
            <a:r>
              <a:rPr lang="en-GB" dirty="0" err="1">
                <a:solidFill>
                  <a:srgbClr val="94BFE6"/>
                </a:solidFill>
              </a:rPr>
              <a:t>iterable</a:t>
            </a:r>
            <a:r>
              <a:rPr lang="en-GB" dirty="0">
                <a:solidFill>
                  <a:srgbClr val="94BFE6"/>
                </a:solidFill>
              </a:rPr>
              <a:t>, meaning it can be sequentially moved through</a:t>
            </a:r>
          </a:p>
          <a:p>
            <a:r>
              <a:rPr lang="en-GB" dirty="0">
                <a:solidFill>
                  <a:srgbClr val="94BFE6"/>
                </a:solidFill>
              </a:rPr>
              <a:t>Every element has a position, called index</a:t>
            </a:r>
          </a:p>
          <a:p>
            <a:r>
              <a:rPr lang="en-GB" dirty="0">
                <a:solidFill>
                  <a:srgbClr val="94BFE6"/>
                </a:solidFill>
              </a:rPr>
              <a:t>A list starts always at position 0!</a:t>
            </a:r>
          </a:p>
          <a:p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Elements can be excised, inserted, appended, sorted, …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38F38DB0-20EA-46D1-998C-2CFDACA1DA00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94576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Dictionary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A Dictionary is used to keep data attributes together</a:t>
            </a:r>
          </a:p>
          <a:p>
            <a:r>
              <a:rPr lang="en-GB" dirty="0">
                <a:solidFill>
                  <a:srgbClr val="94BFE6"/>
                </a:solidFill>
              </a:rPr>
              <a:t>Can be used to store: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Data of different types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contextual data</a:t>
            </a:r>
          </a:p>
          <a:p>
            <a:r>
              <a:rPr lang="en-GB" dirty="0">
                <a:solidFill>
                  <a:srgbClr val="94BFE6"/>
                </a:solidFill>
              </a:rPr>
              <a:t>Has a name, keys and values</a:t>
            </a:r>
          </a:p>
          <a:p>
            <a:endParaRPr lang="en-GB" dirty="0">
              <a:solidFill>
                <a:srgbClr val="94BFE6"/>
              </a:solidFill>
            </a:endParaRP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F90E474-C3ED-487C-BEA8-FF9F3DA993A6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4985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Complex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- Dictionary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 numCol="3"/>
          <a:lstStyle/>
          <a:p>
            <a:r>
              <a:rPr lang="en-GB" dirty="0">
                <a:solidFill>
                  <a:srgbClr val="94BFE6"/>
                </a:solidFill>
              </a:rPr>
              <a:t>Dictionary example: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Coffee Pads: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strength: 3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taste: 5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Has stones: False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beans: [</a:t>
            </a:r>
            <a:r>
              <a:rPr lang="en-GB" dirty="0" err="1">
                <a:solidFill>
                  <a:srgbClr val="94BFE6"/>
                </a:solidFill>
              </a:rPr>
              <a:t>Arrabica</a:t>
            </a:r>
            <a:r>
              <a:rPr lang="en-GB" dirty="0">
                <a:solidFill>
                  <a:srgbClr val="94BFE6"/>
                </a:solidFill>
              </a:rPr>
              <a:t>, Robusta]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owner: Melissa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 err="1">
                <a:solidFill>
                  <a:srgbClr val="94BFE6"/>
                </a:solidFill>
              </a:rPr>
              <a:t>Schümli</a:t>
            </a:r>
            <a:r>
              <a:rPr lang="en-GB" dirty="0">
                <a:solidFill>
                  <a:srgbClr val="94BFE6"/>
                </a:solidFill>
              </a:rPr>
              <a:t> Coffee: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strength: 3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taste: 4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Has stones: True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beans: [Robusta, </a:t>
            </a:r>
            <a:r>
              <a:rPr lang="en-GB" dirty="0" err="1">
                <a:solidFill>
                  <a:srgbClr val="94BFE6"/>
                </a:solidFill>
              </a:rPr>
              <a:t>Arrabica</a:t>
            </a:r>
            <a:r>
              <a:rPr lang="en-GB" dirty="0">
                <a:solidFill>
                  <a:srgbClr val="94BFE6"/>
                </a:solidFill>
              </a:rPr>
              <a:t>]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owner: </a:t>
            </a:r>
            <a:r>
              <a:rPr lang="en-GB" dirty="0" err="1">
                <a:solidFill>
                  <a:srgbClr val="94BFE6"/>
                </a:solidFill>
              </a:rPr>
              <a:t>Chemosensation</a:t>
            </a:r>
            <a:r>
              <a:rPr lang="en-GB" dirty="0">
                <a:solidFill>
                  <a:srgbClr val="94BFE6"/>
                </a:solidFill>
              </a:rPr>
              <a:t> Lab</a:t>
            </a:r>
          </a:p>
          <a:p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32A30AB-239F-49E1-B1B2-24F4A4504FF2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413201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7450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8086476" y="777781"/>
            <a:ext cx="4105523" cy="5602977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accent6"/>
                </a:solidFill>
                <a:latin typeface="Consolas" panose="020B0609020204030204" pitchFamily="49" charset="0"/>
              </a:rPr>
              <a:t>list()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[a, b, c, …, z]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ctr">
              <a:buNone/>
            </a:pPr>
            <a:endParaRPr lang="en-GB" sz="2000" dirty="0">
              <a:solidFill>
                <a:srgbClr val="94BFE6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.sort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() </a:t>
            </a:r>
          </a:p>
          <a:p>
            <a:pPr marL="0" indent="0" algn="ctr"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.append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ctr"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.pop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.index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.remove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.insert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8088262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1: create, access, manipulate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1. Create a list containing the following integers: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	1, 10, 9, 7, 8, 6, 2, 3, 4, 5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2. Without coding, what is the number at indices: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	 3, 6, 0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3. Sort the list. Get the index of value 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4. What is the length of the list?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5. Delete the value at index 3. What is now at index 3?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6. Add the deleted value back in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7. Print the numbers at indices 3, 6 and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8. Replace the last value with 9000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9EAC5A-0B4C-4F5E-91DA-BE0D3A5CD9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28662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4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8086476" y="777781"/>
            <a:ext cx="4105523" cy="982587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 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[a, b, c, …, z]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8088262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2: indexing ranges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Create a list with the following values: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	0.1, 2.3, 3.5, 4.6, 5.2, 6.9, 7.4, 8.1, 9.0, 9000.9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2:4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:4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2: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What does the ‘</a:t>
            </a:r>
            <a:r>
              <a:rPr lang="en-GB" sz="2400" dirty="0">
                <a:solidFill>
                  <a:schemeClr val="bg1"/>
                </a:solidFill>
              </a:rPr>
              <a:t>:</a:t>
            </a:r>
            <a:r>
              <a:rPr lang="en-GB" sz="2400" dirty="0">
                <a:solidFill>
                  <a:srgbClr val="94BFE6"/>
                </a:solidFill>
              </a:rPr>
              <a:t>’ character do? What are its rules?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0: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len(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4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4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400" dirty="0">
                <a:solidFill>
                  <a:schemeClr val="bg1"/>
                </a:solidFill>
                <a:latin typeface="Consolas" panose="020B0609020204030204" pitchFamily="49" charset="0"/>
              </a:rPr>
              <a:t>::2</a:t>
            </a:r>
            <a:r>
              <a:rPr lang="en-GB" sz="24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en-GB" sz="2400" dirty="0">
                <a:solidFill>
                  <a:srgbClr val="94BFE6"/>
                </a:solidFill>
              </a:rPr>
              <a:t>What happens?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4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4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400" dirty="0">
                <a:solidFill>
                  <a:schemeClr val="bg1"/>
                </a:solidFill>
                <a:latin typeface="Consolas" panose="020B0609020204030204" pitchFamily="49" charset="0"/>
              </a:rPr>
              <a:t>2:4:2</a:t>
            </a:r>
            <a:r>
              <a:rPr lang="en-GB" sz="24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en-GB" sz="2400" dirty="0">
                <a:solidFill>
                  <a:srgbClr val="94BFE6"/>
                </a:solidFill>
              </a:rPr>
              <a:t>What are the rules?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9EAC5A-0B4C-4F5E-91DA-BE0D3A5CD9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036550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8086476" y="777782"/>
            <a:ext cx="4105523" cy="982586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[a, b, c, …, z]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8088262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3: indexing quirks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Create a list with the following values: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	1, ‘</a:t>
            </a:r>
            <a:r>
              <a:rPr lang="en-GB" sz="2400" dirty="0" err="1">
                <a:solidFill>
                  <a:srgbClr val="94BFE6"/>
                </a:solidFill>
              </a:rPr>
              <a:t>Alt+Tab</a:t>
            </a:r>
            <a:r>
              <a:rPr lang="en-GB" sz="2400" dirty="0">
                <a:solidFill>
                  <a:srgbClr val="94BFE6"/>
                </a:solidFill>
              </a:rPr>
              <a:t>’, 3, 4.5, True, 6, ’g’, 8, 9, 9000.0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GB" sz="22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[</a:t>
            </a:r>
            <a:r>
              <a:rPr lang="en-GB" sz="2200" dirty="0">
                <a:solidFill>
                  <a:schemeClr val="bg1"/>
                </a:solidFill>
                <a:latin typeface="Consolas" panose="020B0609020204030204" pitchFamily="49" charset="0"/>
              </a:rPr>
              <a:t>-1</a:t>
            </a:r>
            <a:r>
              <a:rPr lang="en-GB" sz="2200" dirty="0">
                <a:solidFill>
                  <a:srgbClr val="94BFE6"/>
                </a:solidFill>
                <a:latin typeface="Consolas" panose="020B0609020204030204" pitchFamily="49" charset="0"/>
              </a:rPr>
              <a:t>]</a:t>
            </a:r>
            <a:r>
              <a:rPr lang="en-GB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What does a negative index do?</a:t>
            </a:r>
          </a:p>
          <a:p>
            <a:pPr marL="457200" indent="-457200"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Using your vast indexing knowledge, print all values from the second to last value to the end.</a:t>
            </a:r>
          </a:p>
          <a:p>
            <a:pPr marL="457200" indent="-457200">
              <a:buAutoNum type="arabicPeriod"/>
            </a:pPr>
            <a:endParaRPr lang="en-GB" sz="24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9EAC5A-0B4C-4F5E-91DA-BE0D3A5CD9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009077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8086476" y="777781"/>
            <a:ext cx="4105523" cy="2468339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[a, b, c, …, z]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accent6"/>
                </a:solidFill>
                <a:latin typeface="Consolas" panose="020B0609020204030204" pitchFamily="49" charset="0"/>
              </a:rPr>
              <a:t>list()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  <a:latin typeface="Consolas" panose="020B06090202040302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[a]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x</a:t>
            </a:r>
          </a:p>
          <a:p>
            <a:pPr marL="0" indent="0" algn="ctr"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[a][b]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x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8088262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4: more dimensions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Create a list with these values: 1, 2 ,3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Create another list with these values: 4, 5, 6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94BFE6"/>
                </a:solidFill>
              </a:rPr>
              <a:t>Create another list with these values: 7, 8, 9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Create an empty list and append list1 and list2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Print this list and look how it is structured.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Copying this structure, create a list of all three lists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Try to navigate this 2D list. Find a way to print the values 3, 6, 4, 5 and 7</a:t>
            </a:r>
          </a:p>
          <a:p>
            <a:pPr marL="457200" indent="-457200">
              <a:buAutoNum type="arabicPeriod"/>
            </a:pPr>
            <a:endParaRPr lang="en-GB" sz="24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9EAC5A-0B4C-4F5E-91DA-BE0D3A5CD9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093795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5494351" y="777782"/>
            <a:ext cx="6697649" cy="1347206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[a, b, c, …, z]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my_dict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{</a:t>
            </a:r>
            <a:r>
              <a:rPr lang="en-GB" sz="2000" dirty="0">
                <a:solidFill>
                  <a:schemeClr val="accent2"/>
                </a:solidFill>
                <a:latin typeface="Consolas" panose="020B0609020204030204" pitchFamily="49" charset="0"/>
              </a:rPr>
              <a:t>‘key1’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value, </a:t>
            </a:r>
            <a:r>
              <a:rPr lang="en-GB" sz="2000" dirty="0">
                <a:solidFill>
                  <a:schemeClr val="accent2"/>
                </a:solidFill>
                <a:latin typeface="Consolas" panose="020B0609020204030204" pitchFamily="49" charset="0"/>
              </a:rPr>
              <a:t>‘key2’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value, …}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7364694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5: list of dictionaries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Create an appropriate </a:t>
            </a:r>
            <a:r>
              <a:rPr lang="en-GB" sz="2400" dirty="0" err="1">
                <a:solidFill>
                  <a:srgbClr val="94BFE6"/>
                </a:solidFill>
              </a:rPr>
              <a:t>datastructure</a:t>
            </a:r>
            <a:r>
              <a:rPr lang="en-GB" sz="2400" dirty="0">
                <a:solidFill>
                  <a:srgbClr val="94BFE6"/>
                </a:solidFill>
              </a:rPr>
              <a:t> for </a:t>
            </a:r>
            <a:br>
              <a:rPr lang="en-GB" sz="2400" dirty="0">
                <a:solidFill>
                  <a:srgbClr val="94BFE6"/>
                </a:solidFill>
              </a:rPr>
            </a:br>
            <a:r>
              <a:rPr lang="en-GB" sz="2400" dirty="0">
                <a:solidFill>
                  <a:srgbClr val="94BFE6"/>
                </a:solidFill>
              </a:rPr>
              <a:t>the following scenario: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A dance school wants an overview on new applicants. Three people have applied for a dancing course.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600" dirty="0">
                <a:solidFill>
                  <a:srgbClr val="94BFE6"/>
                </a:solidFill>
              </a:rPr>
              <a:t>Rob is 32 years old, has a dance partner, but no previous dancing knowledge. Catherin is alone, 27 years old and has danced for two years. Clara is also 27 years old, has a dance partner, and 10 years experience.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9EAC5A-0B4C-4F5E-91DA-BE0D3A5CD9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4014093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8" y="1160190"/>
            <a:ext cx="7968993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6: handling combined datatypes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The dance school wants to compare </a:t>
            </a:r>
            <a:br>
              <a:rPr lang="en-GB" sz="2400" dirty="0">
                <a:solidFill>
                  <a:srgbClr val="94BFE6"/>
                </a:solidFill>
              </a:rPr>
            </a:br>
            <a:r>
              <a:rPr lang="en-GB" sz="2400" dirty="0">
                <a:solidFill>
                  <a:srgbClr val="94BFE6"/>
                </a:solidFill>
              </a:rPr>
              <a:t>all ages of the applicants. Do they </a:t>
            </a:r>
            <a:br>
              <a:rPr lang="en-GB" sz="2400" dirty="0">
                <a:solidFill>
                  <a:srgbClr val="94BFE6"/>
                </a:solidFill>
              </a:rPr>
            </a:br>
            <a:r>
              <a:rPr lang="en-GB" sz="2400" dirty="0">
                <a:solidFill>
                  <a:srgbClr val="94BFE6"/>
                </a:solidFill>
              </a:rPr>
              <a:t>have the same age?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The dance school wants to know if </a:t>
            </a:r>
            <a:br>
              <a:rPr lang="en-GB" sz="2400" dirty="0">
                <a:solidFill>
                  <a:srgbClr val="94BFE6"/>
                </a:solidFill>
              </a:rPr>
            </a:br>
            <a:r>
              <a:rPr lang="en-GB" sz="2400" dirty="0">
                <a:solidFill>
                  <a:srgbClr val="94BFE6"/>
                </a:solidFill>
              </a:rPr>
              <a:t>applicant 3 has a dance partner.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GB" sz="2400" dirty="0">
              <a:solidFill>
                <a:srgbClr val="94BFE6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“Catherin” has contacted the dance school, as she has made a typo. Her name is actually Catherine. And she has a dance partner. Delete her entry and replace it with the corrected one.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2400" dirty="0">
                <a:solidFill>
                  <a:srgbClr val="94BFE6"/>
                </a:solidFill>
              </a:rPr>
              <a:t>The course is only for experienced dancers. Delete all applications that do not fit.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 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5565913" y="777782"/>
            <a:ext cx="6626087" cy="2842052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[a, b, c, …, z]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my_dict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{‘</a:t>
            </a:r>
            <a:r>
              <a:rPr lang="en-GB" sz="2000" dirty="0">
                <a:solidFill>
                  <a:schemeClr val="accent2"/>
                </a:solidFill>
                <a:latin typeface="Consolas" panose="020B0609020204030204" pitchFamily="49" charset="0"/>
              </a:rPr>
              <a:t>key1’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value, </a:t>
            </a:r>
            <a:r>
              <a:rPr lang="en-GB" sz="2000" dirty="0">
                <a:solidFill>
                  <a:schemeClr val="accent2"/>
                </a:solidFill>
                <a:latin typeface="Consolas" panose="020B0609020204030204" pitchFamily="49" charset="0"/>
              </a:rPr>
              <a:t>’key2’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 value, …}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my_dict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.get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chemeClr val="accent2"/>
                </a:solidFill>
                <a:latin typeface="Consolas" panose="020B0609020204030204" pitchFamily="49" charset="0"/>
              </a:rPr>
              <a:t>‘key1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’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		</a:t>
            </a: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.pop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ctr">
              <a:buNone/>
            </a:pP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				</a:t>
            </a:r>
            <a:r>
              <a:rPr lang="en-GB" sz="2000" dirty="0" err="1">
                <a:solidFill>
                  <a:srgbClr val="94BFE6"/>
                </a:solidFill>
                <a:latin typeface="Consolas" panose="020B0609020204030204" pitchFamily="49" charset="0"/>
              </a:rPr>
              <a:t>my_list</a:t>
            </a:r>
            <a:r>
              <a:rPr lang="en-GB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.insert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94BFE6"/>
                </a:solidFill>
                <a:latin typeface="Consolas" panose="020B0609020204030204" pitchFamily="49" charset="0"/>
              </a:rPr>
              <a:t>x</a:t>
            </a:r>
            <a:r>
              <a:rPr lang="en-GB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9EAC5A-0B4C-4F5E-91DA-BE0D3A5CD9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042905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Cheat Sheets and </a:t>
            </a:r>
            <a:r>
              <a:rPr lang="de-DE" dirty="0" err="1">
                <a:solidFill>
                  <a:srgbClr val="397DF8"/>
                </a:solidFill>
              </a:rPr>
              <a:t>Vocabulary</a:t>
            </a:r>
            <a:endParaRPr lang="de-DE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281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- </a:t>
            </a:r>
            <a:r>
              <a:rPr lang="de-DE" dirty="0" err="1">
                <a:solidFill>
                  <a:srgbClr val="397CF7"/>
                </a:solidFill>
              </a:rPr>
              <a:t>cheat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sheet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More complex Datatypes combine simple Datatypes for easier/ more comfortable data access</a:t>
            </a:r>
          </a:p>
          <a:p>
            <a:r>
              <a:rPr lang="en-GB" dirty="0">
                <a:solidFill>
                  <a:srgbClr val="94BFE6"/>
                </a:solidFill>
              </a:rPr>
              <a:t>Most of the time less performant than the simple Datatypes it consists of.</a:t>
            </a:r>
          </a:p>
          <a:p>
            <a:r>
              <a:rPr lang="en-GB" dirty="0">
                <a:solidFill>
                  <a:srgbClr val="94BFE6"/>
                </a:solidFill>
              </a:rPr>
              <a:t>lists: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Can have more than one dimension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Element positions are called indices and start at 0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Elements can be of the same or different datatypes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Can be iterated</a:t>
            </a:r>
          </a:p>
          <a:p>
            <a:r>
              <a:rPr lang="en-GB" dirty="0">
                <a:solidFill>
                  <a:srgbClr val="94BFE6"/>
                </a:solidFill>
              </a:rPr>
              <a:t>Dictionaries: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Are mostly used to store contextual information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Are made of keys and values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Can store elements of same or different datatype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88B1DBBF-3B91-42CB-B3DB-39C145017DEC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532628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Datatypes</a:t>
            </a:r>
            <a:r>
              <a:rPr lang="de-DE" dirty="0">
                <a:solidFill>
                  <a:srgbClr val="397CF7"/>
                </a:solidFill>
              </a:rPr>
              <a:t> II – Python </a:t>
            </a:r>
            <a:r>
              <a:rPr lang="de-DE" dirty="0" err="1">
                <a:solidFill>
                  <a:srgbClr val="397CF7"/>
                </a:solidFill>
              </a:rPr>
              <a:t>Vocabulary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Array declaration: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my_list1=list()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my_list2=[a, b, …, z]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my_2d_list=[[</a:t>
            </a:r>
            <a:r>
              <a:rPr lang="en-GB" sz="2000" dirty="0" err="1">
                <a:solidFill>
                  <a:srgbClr val="94BFE6"/>
                </a:solidFill>
              </a:rPr>
              <a:t>a,b,c</a:t>
            </a:r>
            <a:r>
              <a:rPr lang="en-GB" sz="2000" dirty="0">
                <a:solidFill>
                  <a:srgbClr val="94BFE6"/>
                </a:solidFill>
              </a:rPr>
              <a:t>][</a:t>
            </a:r>
            <a:r>
              <a:rPr lang="en-GB" sz="2000" dirty="0" err="1">
                <a:solidFill>
                  <a:srgbClr val="94BFE6"/>
                </a:solidFill>
              </a:rPr>
              <a:t>d,e,f</a:t>
            </a:r>
            <a:r>
              <a:rPr lang="en-GB" sz="2000" dirty="0">
                <a:solidFill>
                  <a:srgbClr val="94BFE6"/>
                </a:solidFill>
              </a:rPr>
              <a:t>]]</a:t>
            </a:r>
          </a:p>
          <a:p>
            <a:pPr marL="0" indent="0">
              <a:buNone/>
            </a:pPr>
            <a:endParaRPr lang="en-GB" sz="2000" u="sng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list access: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1D: </a:t>
            </a:r>
            <a:r>
              <a:rPr lang="en-GB" sz="2000" dirty="0" err="1">
                <a:solidFill>
                  <a:srgbClr val="94BFE6"/>
                </a:solidFill>
              </a:rPr>
              <a:t>my_list</a:t>
            </a:r>
            <a:r>
              <a:rPr lang="en-GB" sz="2000" dirty="0">
                <a:solidFill>
                  <a:srgbClr val="94BFE6"/>
                </a:solidFill>
              </a:rPr>
              <a:t>[a]=x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2D: </a:t>
            </a:r>
            <a:r>
              <a:rPr lang="en-GB" sz="2000" dirty="0" err="1">
                <a:solidFill>
                  <a:srgbClr val="94BFE6"/>
                </a:solidFill>
              </a:rPr>
              <a:t>my_list</a:t>
            </a:r>
            <a:r>
              <a:rPr lang="en-GB" sz="2000" dirty="0">
                <a:solidFill>
                  <a:srgbClr val="94BFE6"/>
                </a:solidFill>
              </a:rPr>
              <a:t>[a][b]=x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3D: </a:t>
            </a:r>
            <a:r>
              <a:rPr lang="en-GB" sz="2000" dirty="0" err="1">
                <a:solidFill>
                  <a:srgbClr val="94BFE6"/>
                </a:solidFill>
              </a:rPr>
              <a:t>my_list</a:t>
            </a:r>
            <a:r>
              <a:rPr lang="en-GB" sz="2000" dirty="0">
                <a:solidFill>
                  <a:srgbClr val="94BFE6"/>
                </a:solidFill>
              </a:rPr>
              <a:t>[a][b][c]=x</a:t>
            </a:r>
          </a:p>
          <a:p>
            <a:pPr marL="0" indent="0"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000" u="sng">
                <a:solidFill>
                  <a:srgbClr val="94BFE6"/>
                </a:solidFill>
              </a:rPr>
              <a:t>list </a:t>
            </a:r>
            <a:r>
              <a:rPr lang="en-GB" sz="2000" u="sng" dirty="0">
                <a:solidFill>
                  <a:srgbClr val="94BFE6"/>
                </a:solidFill>
              </a:rPr>
              <a:t>functions: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.append()	.insert()		.sort() 	.index()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.count()		.pop()		</a:t>
            </a:r>
            <a:r>
              <a:rPr lang="en-GB" sz="2000" dirty="0" err="1">
                <a:solidFill>
                  <a:srgbClr val="94BFE6"/>
                </a:solidFill>
              </a:rPr>
              <a:t>len</a:t>
            </a:r>
            <a:r>
              <a:rPr lang="en-GB" sz="2000" dirty="0">
                <a:solidFill>
                  <a:srgbClr val="94BFE6"/>
                </a:solidFill>
              </a:rPr>
              <a:t>(x)	.remove()</a:t>
            </a:r>
          </a:p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Dictionary declaration: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94BFE6"/>
                </a:solidFill>
              </a:rPr>
              <a:t>my_dict</a:t>
            </a:r>
            <a:r>
              <a:rPr lang="en-GB" sz="2000" dirty="0">
                <a:solidFill>
                  <a:srgbClr val="94BFE6"/>
                </a:solidFill>
              </a:rPr>
              <a:t>={‘key1’ : x, ’key2’ : y, ’key3’ : z}</a:t>
            </a:r>
          </a:p>
          <a:p>
            <a:pPr marL="0" indent="0"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Dictionary functions: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.get()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.items()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.keys()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.values()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.update()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694C46FE-7B04-4B7B-8EA0-989F2E402715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Datatypes</a:t>
            </a:r>
            <a:r>
              <a:rPr lang="de-DE" sz="1200" dirty="0">
                <a:solidFill>
                  <a:srgbClr val="397DF8"/>
                </a:solidFill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2875179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1972</Words>
  <Application>Microsoft Office PowerPoint</Application>
  <PresentationFormat>Breitbild</PresentationFormat>
  <Paragraphs>318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</vt:lpstr>
      <vt:lpstr>Coding Workshop Datatypes II</vt:lpstr>
      <vt:lpstr>Recap - Datatypes I – simple Datatypes</vt:lpstr>
      <vt:lpstr>Complex Datatypes - List</vt:lpstr>
      <vt:lpstr>Complex Datatypes - List</vt:lpstr>
      <vt:lpstr>Complex Datatypes - List</vt:lpstr>
      <vt:lpstr>Complex Datatypes - List</vt:lpstr>
      <vt:lpstr>Complex Datatypes - List</vt:lpstr>
      <vt:lpstr>Complex Datatypes - List</vt:lpstr>
      <vt:lpstr>Complex Datatypes - Dictionary</vt:lpstr>
      <vt:lpstr>Complex Datatypes - Dictionary</vt:lpstr>
      <vt:lpstr>Questions?</vt:lpstr>
      <vt:lpstr>Datatypes II - Exercises</vt:lpstr>
      <vt:lpstr>Datatypes II - Exercises</vt:lpstr>
      <vt:lpstr>Datatypes II - Exercises</vt:lpstr>
      <vt:lpstr>Datatypes II - Exercises</vt:lpstr>
      <vt:lpstr>Datatypes II - Exercises</vt:lpstr>
      <vt:lpstr>Datatypes II - Exercises</vt:lpstr>
      <vt:lpstr>Cheat Sheets and Vocabulary</vt:lpstr>
      <vt:lpstr>Datatypes II - cheat sheet</vt:lpstr>
      <vt:lpstr>Datatypes II – Python Vocabulary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 long titel that needs two lines</dc:title>
  <dc:creator>melissa.franke@rwth-aachen.de</dc:creator>
  <cp:lastModifiedBy>Melissa Franke</cp:lastModifiedBy>
  <cp:revision>57</cp:revision>
  <dcterms:created xsi:type="dcterms:W3CDTF">2024-01-02T08:44:02Z</dcterms:created>
  <dcterms:modified xsi:type="dcterms:W3CDTF">2026-01-15T15:25:09Z</dcterms:modified>
</cp:coreProperties>
</file>
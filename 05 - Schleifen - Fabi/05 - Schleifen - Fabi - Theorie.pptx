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60" r:id="rId3"/>
    <p:sldId id="258" r:id="rId4"/>
    <p:sldId id="263" r:id="rId5"/>
    <p:sldId id="264" r:id="rId6"/>
    <p:sldId id="265" r:id="rId7"/>
    <p:sldId id="266" r:id="rId8"/>
    <p:sldId id="267" r:id="rId9"/>
    <p:sldId id="262" r:id="rId10"/>
    <p:sldId id="257" r:id="rId11"/>
    <p:sldId id="261" r:id="rId12"/>
    <p:sldId id="269" r:id="rId13"/>
    <p:sldId id="270" r:id="rId14"/>
    <p:sldId id="268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5B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228" y="114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A0C3B8-FAB9-4C56-9561-7194B44D6326}" type="datetimeFigureOut">
              <a:rPr lang="en-DE" smtClean="0"/>
              <a:t>14/01/2026</a:t>
            </a:fld>
            <a:endParaRPr lang="en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9962CE-CDA3-4D26-AEB0-2D319550DD1A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98954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Fills </a:t>
            </a:r>
            <a:r>
              <a:rPr lang="de-DE" dirty="0" err="1"/>
              <a:t>shopping</a:t>
            </a:r>
            <a:r>
              <a:rPr lang="de-DE" dirty="0"/>
              <a:t> </a:t>
            </a:r>
            <a:r>
              <a:rPr lang="de-DE" dirty="0" err="1"/>
              <a:t>cart</a:t>
            </a:r>
            <a:r>
              <a:rPr lang="de-DE" dirty="0"/>
              <a:t> 1 </a:t>
            </a:r>
            <a:r>
              <a:rPr lang="de-DE" dirty="0" err="1"/>
              <a:t>by</a:t>
            </a:r>
            <a:r>
              <a:rPr lang="de-DE" dirty="0"/>
              <a:t> 1</a:t>
            </a:r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9962CE-CDA3-4D26-AEB0-2D319550DD1A}" type="slidenum">
              <a:rPr lang="en-DE" smtClean="0"/>
              <a:t>10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30299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E398C-9B17-44F0-9D3C-3AD74FE0035B}" type="datetimeFigureOut">
              <a:rPr lang="en-DE" smtClean="0"/>
              <a:t>14/01/2026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77A06-674E-4AE7-99F7-61F2639F639D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53616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E398C-9B17-44F0-9D3C-3AD74FE0035B}" type="datetimeFigureOut">
              <a:rPr lang="en-DE" smtClean="0"/>
              <a:t>14/01/2026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77A06-674E-4AE7-99F7-61F2639F639D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32304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E398C-9B17-44F0-9D3C-3AD74FE0035B}" type="datetimeFigureOut">
              <a:rPr lang="en-DE" smtClean="0"/>
              <a:t>14/01/2026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77A06-674E-4AE7-99F7-61F2639F639D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62299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E398C-9B17-44F0-9D3C-3AD74FE0035B}" type="datetimeFigureOut">
              <a:rPr lang="en-DE" smtClean="0"/>
              <a:t>14/01/2026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77A06-674E-4AE7-99F7-61F2639F639D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46482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E398C-9B17-44F0-9D3C-3AD74FE0035B}" type="datetimeFigureOut">
              <a:rPr lang="en-DE" smtClean="0"/>
              <a:t>14/01/2026</a:t>
            </a:fld>
            <a:endParaRPr lang="en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77A06-674E-4AE7-99F7-61F2639F639D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86026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E398C-9B17-44F0-9D3C-3AD74FE0035B}" type="datetimeFigureOut">
              <a:rPr lang="en-DE" smtClean="0"/>
              <a:t>14/01/2026</a:t>
            </a:fld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77A06-674E-4AE7-99F7-61F2639F639D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31152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E398C-9B17-44F0-9D3C-3AD74FE0035B}" type="datetimeFigureOut">
              <a:rPr lang="en-DE" smtClean="0"/>
              <a:t>14/01/2026</a:t>
            </a:fld>
            <a:endParaRPr lang="en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77A06-674E-4AE7-99F7-61F2639F639D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81844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E398C-9B17-44F0-9D3C-3AD74FE0035B}" type="datetimeFigureOut">
              <a:rPr lang="en-DE" smtClean="0"/>
              <a:t>14/01/2026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77A06-674E-4AE7-99F7-61F2639F639D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3132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E398C-9B17-44F0-9D3C-3AD74FE0035B}" type="datetimeFigureOut">
              <a:rPr lang="en-DE" smtClean="0"/>
              <a:t>14/01/2026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77A06-674E-4AE7-99F7-61F2639F639D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44279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E398C-9B17-44F0-9D3C-3AD74FE0035B}" type="datetimeFigureOut">
              <a:rPr lang="en-DE" smtClean="0"/>
              <a:t>14/01/2026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77A06-674E-4AE7-99F7-61F2639F639D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17426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E398C-9B17-44F0-9D3C-3AD74FE0035B}" type="datetimeFigureOut">
              <a:rPr lang="en-DE" smtClean="0"/>
              <a:t>14/01/2026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77A06-674E-4AE7-99F7-61F2639F639D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30418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8E398C-9B17-44F0-9D3C-3AD74FE0035B}" type="datetimeFigureOut">
              <a:rPr lang="en-DE" smtClean="0"/>
              <a:t>14/01/2026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677A06-674E-4AE7-99F7-61F2639F639D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436713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EB3E91-CEB3-41A3-9A9E-588FE453EC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Lesson</a:t>
            </a:r>
            <a:r>
              <a:rPr lang="de-DE" dirty="0"/>
              <a:t> 05:</a:t>
            </a:r>
            <a:br>
              <a:rPr lang="de-DE" dirty="0"/>
            </a:br>
            <a:r>
              <a:rPr lang="de-DE" dirty="0"/>
              <a:t>Loops</a:t>
            </a:r>
            <a:endParaRPr lang="en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4A06120-87EF-45C1-8276-47CB31F2D6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By Fabian Quicken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515733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5.084.200+ Fotos, Bilder und lizenzfreie Bilder zu Essen Teller - iStock |  Food, Kochen, Restaurant">
            <a:extLst>
              <a:ext uri="{FF2B5EF4-FFF2-40B4-BE49-F238E27FC236}">
                <a16:creationId xmlns:a16="http://schemas.microsoft.com/office/drawing/2014/main" id="{B9F03A3F-B73A-41A6-8D27-EBD3EF3826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818" y="1775689"/>
            <a:ext cx="6699611" cy="4466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15FB3CA5-3E8F-4F72-B2F8-C568277C2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DE" dirty="0" err="1"/>
              <a:t>While</a:t>
            </a:r>
            <a:r>
              <a:rPr lang="de-DE" dirty="0"/>
              <a:t> loop </a:t>
            </a:r>
            <a:r>
              <a:rPr lang="de-DE" dirty="0" err="1"/>
              <a:t>logic</a:t>
            </a:r>
            <a:r>
              <a:rPr lang="de-DE" dirty="0"/>
              <a:t>:</a:t>
            </a:r>
            <a:endParaRPr lang="en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DCC1180-3C8A-461E-B31D-756F26190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7018" y="1775689"/>
            <a:ext cx="3953164" cy="447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735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9D91BB-72A9-45CC-A324-C382187B4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While</a:t>
            </a:r>
            <a:r>
              <a:rPr lang="de-DE" dirty="0"/>
              <a:t> </a:t>
            </a:r>
            <a:r>
              <a:rPr lang="de-DE" dirty="0" err="1"/>
              <a:t>loops</a:t>
            </a:r>
            <a:r>
              <a:rPr lang="de-DE" dirty="0"/>
              <a:t> </a:t>
            </a:r>
            <a:endParaRPr lang="en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25FCD3A-7515-43A1-B537-9DB248437627}"/>
              </a:ext>
            </a:extLst>
          </p:cNvPr>
          <p:cNvSpPr/>
          <p:nvPr/>
        </p:nvSpPr>
        <p:spPr>
          <a:xfrm>
            <a:off x="3478249" y="1690688"/>
            <a:ext cx="5162478" cy="1325563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while</a:t>
            </a:r>
            <a:r>
              <a:rPr lang="en-US" sz="32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condition:</a:t>
            </a:r>
            <a:endParaRPr lang="en-DE" sz="3200" dirty="0"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# do this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4B381B78-7B57-4ED4-86EA-61E4663C3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42276"/>
            <a:ext cx="10515600" cy="1725036"/>
          </a:xfrm>
        </p:spPr>
        <p:txBody>
          <a:bodyPr/>
          <a:lstStyle/>
          <a:p>
            <a:r>
              <a:rPr lang="de-DE" dirty="0"/>
              <a:t>Runs a block </a:t>
            </a:r>
            <a:r>
              <a:rPr lang="de-DE" dirty="0" err="1"/>
              <a:t>of</a:t>
            </a:r>
            <a:r>
              <a:rPr lang="de-DE" dirty="0"/>
              <a:t> code </a:t>
            </a:r>
            <a:r>
              <a:rPr lang="de-DE" dirty="0" err="1"/>
              <a:t>until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condition</a:t>
            </a:r>
            <a:r>
              <a:rPr lang="de-DE" dirty="0"/>
              <a:t> </a:t>
            </a:r>
            <a:r>
              <a:rPr lang="de-DE" dirty="0" err="1"/>
              <a:t>evaluates</a:t>
            </a:r>
            <a:r>
              <a:rPr lang="de-DE" dirty="0"/>
              <a:t> „</a:t>
            </a:r>
            <a:r>
              <a:rPr lang="de-DE" dirty="0" err="1">
                <a:solidFill>
                  <a:srgbClr val="2E75B6"/>
                </a:solidFill>
              </a:rPr>
              <a:t>False</a:t>
            </a:r>
            <a:r>
              <a:rPr lang="de-DE" dirty="0"/>
              <a:t>“</a:t>
            </a:r>
          </a:p>
          <a:p>
            <a:r>
              <a:rPr lang="de-DE" dirty="0"/>
              <a:t>Can </a:t>
            </a:r>
            <a:r>
              <a:rPr lang="de-DE" dirty="0" err="1"/>
              <a:t>run</a:t>
            </a:r>
            <a:r>
              <a:rPr lang="de-DE" dirty="0"/>
              <a:t> </a:t>
            </a:r>
            <a:r>
              <a:rPr lang="de-DE" dirty="0" err="1"/>
              <a:t>infinetly</a:t>
            </a:r>
            <a:endParaRPr lang="de-DE" dirty="0"/>
          </a:p>
          <a:p>
            <a:r>
              <a:rPr lang="de-DE" dirty="0" err="1"/>
              <a:t>Similar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„</a:t>
            </a:r>
            <a:r>
              <a:rPr lang="de-DE" dirty="0" err="1">
                <a:solidFill>
                  <a:srgbClr val="9C5BCD"/>
                </a:solidFill>
              </a:rPr>
              <a:t>if</a:t>
            </a:r>
            <a:r>
              <a:rPr lang="de-DE" dirty="0"/>
              <a:t>“ </a:t>
            </a:r>
          </a:p>
          <a:p>
            <a:endParaRPr lang="de-DE" dirty="0"/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87108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B9BB30-3D77-4ED6-8E62-7D490A618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Try </a:t>
            </a:r>
            <a:r>
              <a:rPr lang="de-DE" dirty="0" err="1"/>
              <a:t>this</a:t>
            </a:r>
            <a:r>
              <a:rPr lang="de-DE" dirty="0"/>
              <a:t> in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VSCode</a:t>
            </a:r>
            <a:r>
              <a:rPr lang="de-DE" dirty="0"/>
              <a:t>! </a:t>
            </a:r>
            <a:endParaRPr lang="en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0BEF6AC-70AE-4525-BDDD-E742D24CF163}"/>
              </a:ext>
            </a:extLst>
          </p:cNvPr>
          <p:cNvSpPr/>
          <p:nvPr/>
        </p:nvSpPr>
        <p:spPr>
          <a:xfrm>
            <a:off x="3478249" y="2616416"/>
            <a:ext cx="5162478" cy="1625167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counter</a:t>
            </a:r>
            <a:r>
              <a:rPr lang="en-US" sz="20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=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0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while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counter &lt;=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6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2000" dirty="0"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(counter)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counter +=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9241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B9BB30-3D77-4ED6-8E62-7D490A618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Try </a:t>
            </a:r>
            <a:r>
              <a:rPr lang="de-DE" dirty="0" err="1"/>
              <a:t>this</a:t>
            </a:r>
            <a:r>
              <a:rPr lang="de-DE" dirty="0"/>
              <a:t> in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VSCode</a:t>
            </a:r>
            <a:r>
              <a:rPr lang="de-DE" dirty="0"/>
              <a:t>! </a:t>
            </a:r>
            <a:endParaRPr lang="en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0BEF6AC-70AE-4525-BDDD-E742D24CF163}"/>
              </a:ext>
            </a:extLst>
          </p:cNvPr>
          <p:cNvSpPr/>
          <p:nvPr/>
        </p:nvSpPr>
        <p:spPr>
          <a:xfrm>
            <a:off x="3478249" y="2616416"/>
            <a:ext cx="5162478" cy="1625167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counter</a:t>
            </a:r>
            <a:r>
              <a:rPr lang="en-US" sz="20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=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0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while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counter &lt;=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6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2000" dirty="0"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(counter)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counter +=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C7775CE-AF5A-4835-8E05-6EEB47C254FA}"/>
              </a:ext>
            </a:extLst>
          </p:cNvPr>
          <p:cNvSpPr/>
          <p:nvPr/>
        </p:nvSpPr>
        <p:spPr>
          <a:xfrm>
            <a:off x="3260436" y="2616416"/>
            <a:ext cx="5597238" cy="3592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74551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B9BB30-3D77-4ED6-8E62-7D490A618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Try </a:t>
            </a:r>
            <a:r>
              <a:rPr lang="de-DE" dirty="0" err="1"/>
              <a:t>this</a:t>
            </a:r>
            <a:r>
              <a:rPr lang="de-DE" dirty="0"/>
              <a:t> in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VSCode</a:t>
            </a:r>
            <a:r>
              <a:rPr lang="de-DE" dirty="0"/>
              <a:t>! </a:t>
            </a:r>
            <a:endParaRPr lang="en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0BEF6AC-70AE-4525-BDDD-E742D24CF163}"/>
              </a:ext>
            </a:extLst>
          </p:cNvPr>
          <p:cNvSpPr/>
          <p:nvPr/>
        </p:nvSpPr>
        <p:spPr>
          <a:xfrm>
            <a:off x="3478249" y="2616416"/>
            <a:ext cx="5162478" cy="1625167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counter</a:t>
            </a:r>
            <a:r>
              <a:rPr lang="en-US" sz="20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=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0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while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counter &lt;=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6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2000" dirty="0"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(counter)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counter +=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C7775CE-AF5A-4835-8E05-6EEB47C254FA}"/>
              </a:ext>
            </a:extLst>
          </p:cNvPr>
          <p:cNvSpPr/>
          <p:nvPr/>
        </p:nvSpPr>
        <p:spPr>
          <a:xfrm>
            <a:off x="3260869" y="3069770"/>
            <a:ext cx="5597238" cy="3592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72669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B9BB30-3D77-4ED6-8E62-7D490A618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Try </a:t>
            </a:r>
            <a:r>
              <a:rPr lang="de-DE" dirty="0" err="1"/>
              <a:t>this</a:t>
            </a:r>
            <a:r>
              <a:rPr lang="de-DE" dirty="0"/>
              <a:t> in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VSCode</a:t>
            </a:r>
            <a:r>
              <a:rPr lang="de-DE" dirty="0"/>
              <a:t>! </a:t>
            </a:r>
            <a:endParaRPr lang="en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0BEF6AC-70AE-4525-BDDD-E742D24CF163}"/>
              </a:ext>
            </a:extLst>
          </p:cNvPr>
          <p:cNvSpPr/>
          <p:nvPr/>
        </p:nvSpPr>
        <p:spPr>
          <a:xfrm>
            <a:off x="3478249" y="2616416"/>
            <a:ext cx="5162478" cy="1625167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counter</a:t>
            </a:r>
            <a:r>
              <a:rPr lang="en-US" sz="20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=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0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while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counter &lt;=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6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2000" dirty="0"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(counter)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counter +=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C7775CE-AF5A-4835-8E05-6EEB47C254FA}"/>
              </a:ext>
            </a:extLst>
          </p:cNvPr>
          <p:cNvSpPr/>
          <p:nvPr/>
        </p:nvSpPr>
        <p:spPr>
          <a:xfrm>
            <a:off x="3297381" y="3493871"/>
            <a:ext cx="5597238" cy="3592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85632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B9BB30-3D77-4ED6-8E62-7D490A618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Try </a:t>
            </a:r>
            <a:r>
              <a:rPr lang="de-DE" dirty="0" err="1"/>
              <a:t>this</a:t>
            </a:r>
            <a:r>
              <a:rPr lang="de-DE" dirty="0"/>
              <a:t> in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VSCode</a:t>
            </a:r>
            <a:r>
              <a:rPr lang="de-DE" dirty="0"/>
              <a:t>! </a:t>
            </a:r>
            <a:endParaRPr lang="en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0BEF6AC-70AE-4525-BDDD-E742D24CF163}"/>
              </a:ext>
            </a:extLst>
          </p:cNvPr>
          <p:cNvSpPr/>
          <p:nvPr/>
        </p:nvSpPr>
        <p:spPr>
          <a:xfrm>
            <a:off x="3478249" y="2616416"/>
            <a:ext cx="5162478" cy="1625167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counter</a:t>
            </a:r>
            <a:r>
              <a:rPr lang="en-US" sz="20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=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0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while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counter &lt;=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6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2000" dirty="0"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(counter)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counter +=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C7775CE-AF5A-4835-8E05-6EEB47C254FA}"/>
              </a:ext>
            </a:extLst>
          </p:cNvPr>
          <p:cNvSpPr/>
          <p:nvPr/>
        </p:nvSpPr>
        <p:spPr>
          <a:xfrm>
            <a:off x="3260869" y="3865417"/>
            <a:ext cx="5597238" cy="3592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7133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B9BB30-3D77-4ED6-8E62-7D490A618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Try </a:t>
            </a:r>
            <a:r>
              <a:rPr lang="de-DE" dirty="0" err="1"/>
              <a:t>this</a:t>
            </a:r>
            <a:r>
              <a:rPr lang="de-DE" dirty="0"/>
              <a:t> in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VSCode</a:t>
            </a:r>
            <a:r>
              <a:rPr lang="de-DE" dirty="0"/>
              <a:t>! </a:t>
            </a: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7424396-4D20-45A3-84F4-E16B3F04C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10163"/>
            <a:ext cx="10515600" cy="91050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dirty="0" err="1"/>
              <a:t>while</a:t>
            </a:r>
            <a:r>
              <a:rPr lang="de-DE" dirty="0"/>
              <a:t> </a:t>
            </a:r>
            <a:r>
              <a:rPr lang="de-DE" dirty="0" err="1"/>
              <a:t>loops</a:t>
            </a:r>
            <a:r>
              <a:rPr lang="de-DE" dirty="0"/>
              <a:t> </a:t>
            </a:r>
            <a:r>
              <a:rPr lang="de-DE" dirty="0" err="1"/>
              <a:t>might</a:t>
            </a:r>
            <a:r>
              <a:rPr lang="de-DE" dirty="0"/>
              <a:t> end in infinite </a:t>
            </a:r>
            <a:r>
              <a:rPr lang="de-DE" dirty="0" err="1"/>
              <a:t>loops</a:t>
            </a:r>
            <a:r>
              <a:rPr lang="de-DE" dirty="0"/>
              <a:t>, </a:t>
            </a:r>
            <a:r>
              <a:rPr lang="de-DE" dirty="0" err="1"/>
              <a:t>if</a:t>
            </a:r>
            <a:r>
              <a:rPr lang="de-DE" dirty="0"/>
              <a:t> not </a:t>
            </a:r>
            <a:r>
              <a:rPr lang="de-DE" dirty="0" err="1"/>
              <a:t>careful</a:t>
            </a:r>
            <a:r>
              <a:rPr lang="de-DE" dirty="0"/>
              <a:t>! E.g.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counter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not </a:t>
            </a:r>
            <a:r>
              <a:rPr lang="de-DE" dirty="0" err="1"/>
              <a:t>updated</a:t>
            </a:r>
            <a:r>
              <a:rPr lang="de-DE" dirty="0"/>
              <a:t>:</a:t>
            </a:r>
            <a:endParaRPr lang="en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0BEF6AC-70AE-4525-BDDD-E742D24CF163}"/>
              </a:ext>
            </a:extLst>
          </p:cNvPr>
          <p:cNvSpPr/>
          <p:nvPr/>
        </p:nvSpPr>
        <p:spPr>
          <a:xfrm>
            <a:off x="3478249" y="1437697"/>
            <a:ext cx="5162478" cy="1625167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counter</a:t>
            </a:r>
            <a:r>
              <a:rPr lang="en-US" sz="20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=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0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while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counter &lt;=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6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2000" dirty="0"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(counter)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counter +=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DE0A7EF2-ADA8-423A-AB1C-5CD031FCCBE9}"/>
              </a:ext>
            </a:extLst>
          </p:cNvPr>
          <p:cNvSpPr/>
          <p:nvPr/>
        </p:nvSpPr>
        <p:spPr>
          <a:xfrm>
            <a:off x="3478249" y="4342535"/>
            <a:ext cx="5162478" cy="1245466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counter</a:t>
            </a:r>
            <a:r>
              <a:rPr lang="en-US" sz="20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=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0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while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counter &lt;=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6</a:t>
            </a:r>
            <a:r>
              <a:rPr lang="en-US" sz="20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2000" dirty="0"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(counter)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6B24699E-5167-48D4-836D-FB820288E249}"/>
              </a:ext>
            </a:extLst>
          </p:cNvPr>
          <p:cNvSpPr txBox="1">
            <a:spLocks/>
          </p:cNvSpPr>
          <p:nvPr/>
        </p:nvSpPr>
        <p:spPr>
          <a:xfrm>
            <a:off x="838200" y="5750067"/>
            <a:ext cx="10515600" cy="640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dirty="0"/>
              <a:t>press STRG + c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interrupt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code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53403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30 Items that Should Be On Everyone's Basic Grocery List [2025 Update]">
            <a:extLst>
              <a:ext uri="{FF2B5EF4-FFF2-40B4-BE49-F238E27FC236}">
                <a16:creationId xmlns:a16="http://schemas.microsoft.com/office/drawing/2014/main" id="{BEF20D1D-2E69-4231-91F3-323DCF9D9C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127" y="1807752"/>
            <a:ext cx="2911763" cy="4129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hat Is the Most Durable Kind of Shopping Cart? - Good L Corp">
            <a:extLst>
              <a:ext uri="{FF2B5EF4-FFF2-40B4-BE49-F238E27FC236}">
                <a16:creationId xmlns:a16="http://schemas.microsoft.com/office/drawing/2014/main" id="{E4694E36-DD9E-44F1-A872-4DDA306255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0225" y="1807752"/>
            <a:ext cx="5506158" cy="4129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3275500A-5AFB-45FB-B767-AD8D19A31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DE" dirty="0" err="1"/>
              <a:t>For</a:t>
            </a:r>
            <a:r>
              <a:rPr lang="de-DE" dirty="0"/>
              <a:t> loop </a:t>
            </a:r>
            <a:r>
              <a:rPr lang="de-DE" dirty="0" err="1"/>
              <a:t>logic</a:t>
            </a:r>
            <a:r>
              <a:rPr lang="de-DE" dirty="0"/>
              <a:t> </a:t>
            </a:r>
            <a:endParaRPr lang="en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1D465B7-292A-4D69-B6B1-C2D9EDCBB4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4718" y="912091"/>
            <a:ext cx="2996968" cy="503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056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9D91BB-72A9-45CC-A324-C382187B4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loops</a:t>
            </a:r>
            <a:r>
              <a:rPr lang="de-DE" dirty="0"/>
              <a:t> - </a:t>
            </a:r>
            <a:r>
              <a:rPr lang="de-DE" dirty="0" err="1"/>
              <a:t>basics</a:t>
            </a:r>
            <a:endParaRPr lang="en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8E730ED-9336-4E01-83B0-97D2F884E367}"/>
              </a:ext>
            </a:extLst>
          </p:cNvPr>
          <p:cNvSpPr/>
          <p:nvPr/>
        </p:nvSpPr>
        <p:spPr>
          <a:xfrm>
            <a:off x="3514761" y="1907236"/>
            <a:ext cx="5162478" cy="1325563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for</a:t>
            </a:r>
            <a:r>
              <a:rPr lang="en-US" sz="32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item </a:t>
            </a:r>
            <a:r>
              <a:rPr lang="en-US" sz="32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in</a:t>
            </a:r>
            <a:r>
              <a:rPr lang="en-US" sz="32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iterable</a:t>
            </a:r>
            <a:r>
              <a:rPr lang="en-US" sz="32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DE" sz="3200" dirty="0"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solidFill>
                  <a:srgbClr val="F7CAAC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# do this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3E9160C2-994C-4DA5-B682-FBDBBFD32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60892"/>
            <a:ext cx="10515600" cy="2321072"/>
          </a:xfrm>
        </p:spPr>
        <p:txBody>
          <a:bodyPr>
            <a:normAutofit/>
          </a:bodyPr>
          <a:lstStyle/>
          <a:p>
            <a:r>
              <a:rPr lang="de-DE" dirty="0"/>
              <a:t>Runs a block </a:t>
            </a:r>
            <a:r>
              <a:rPr lang="de-DE" dirty="0" err="1"/>
              <a:t>of</a:t>
            </a:r>
            <a:r>
              <a:rPr lang="de-DE" dirty="0"/>
              <a:t> code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each</a:t>
            </a:r>
            <a:r>
              <a:rPr lang="de-DE" dirty="0"/>
              <a:t> item in an </a:t>
            </a:r>
            <a:r>
              <a:rPr lang="de-DE" dirty="0" err="1"/>
              <a:t>iterable</a:t>
            </a:r>
            <a:endParaRPr lang="de-DE" dirty="0"/>
          </a:p>
          <a:p>
            <a:r>
              <a:rPr lang="de-DE" dirty="0">
                <a:sym typeface="Wingdings" panose="05000000000000000000" pitchFamily="2" charset="2"/>
              </a:rPr>
              <a:t> e.g. </a:t>
            </a:r>
            <a:r>
              <a:rPr lang="de-DE" dirty="0" err="1">
                <a:sym typeface="Wingdings" panose="05000000000000000000" pitchFamily="2" charset="2"/>
              </a:rPr>
              <a:t>list</a:t>
            </a:r>
            <a:r>
              <a:rPr lang="de-DE" dirty="0">
                <a:sym typeface="Wingdings" panose="05000000000000000000" pitchFamily="2" charset="2"/>
              </a:rPr>
              <a:t>, </a:t>
            </a:r>
            <a:r>
              <a:rPr lang="de-DE" dirty="0" err="1">
                <a:sym typeface="Wingdings" panose="05000000000000000000" pitchFamily="2" charset="2"/>
              </a:rPr>
              <a:t>tuple</a:t>
            </a:r>
            <a:r>
              <a:rPr lang="de-DE" dirty="0">
                <a:sym typeface="Wingdings" panose="05000000000000000000" pitchFamily="2" charset="2"/>
              </a:rPr>
              <a:t>, </a:t>
            </a:r>
            <a:r>
              <a:rPr lang="de-DE" dirty="0" err="1">
                <a:sym typeface="Wingdings" panose="05000000000000000000" pitchFamily="2" charset="2"/>
              </a:rPr>
              <a:t>string</a:t>
            </a:r>
            <a:r>
              <a:rPr lang="de-DE" dirty="0">
                <a:sym typeface="Wingdings" panose="05000000000000000000" pitchFamily="2" charset="2"/>
              </a:rPr>
              <a:t>, </a:t>
            </a:r>
            <a:r>
              <a:rPr lang="de-DE" dirty="0" err="1">
                <a:sym typeface="Wingdings" panose="05000000000000000000" pitchFamily="2" charset="2"/>
              </a:rPr>
              <a:t>dictionary</a:t>
            </a:r>
            <a:r>
              <a:rPr lang="de-DE" dirty="0">
                <a:sym typeface="Wingdings" panose="05000000000000000000" pitchFamily="2" charset="2"/>
              </a:rPr>
              <a:t>, </a:t>
            </a:r>
            <a:r>
              <a:rPr lang="de-DE" dirty="0" err="1">
                <a:sym typeface="Wingdings" panose="05000000000000000000" pitchFamily="2" charset="2"/>
              </a:rPr>
              <a:t>array</a:t>
            </a:r>
            <a:endParaRPr lang="de-DE" dirty="0"/>
          </a:p>
          <a:p>
            <a:r>
              <a:rPr lang="de-DE" dirty="0"/>
              <a:t>Exits,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worked</a:t>
            </a:r>
            <a:r>
              <a:rPr lang="de-DE" dirty="0"/>
              <a:t> on </a:t>
            </a:r>
            <a:r>
              <a:rPr lang="de-DE" dirty="0" err="1"/>
              <a:t>every</a:t>
            </a:r>
            <a:r>
              <a:rPr lang="de-DE" dirty="0"/>
              <a:t> item</a:t>
            </a:r>
          </a:p>
          <a:p>
            <a:r>
              <a:rPr lang="de-DE" dirty="0" err="1"/>
              <a:t>Useful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efficient</a:t>
            </a:r>
            <a:r>
              <a:rPr lang="de-DE" dirty="0"/>
              <a:t> </a:t>
            </a:r>
            <a:r>
              <a:rPr lang="de-DE" dirty="0" err="1"/>
              <a:t>automatisation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repetetive</a:t>
            </a:r>
            <a:r>
              <a:rPr lang="de-DE" dirty="0"/>
              <a:t> </a:t>
            </a:r>
            <a:r>
              <a:rPr lang="de-DE" dirty="0" err="1"/>
              <a:t>tasks</a:t>
            </a:r>
            <a:endParaRPr lang="de-DE" dirty="0"/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101827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9D91BB-72A9-45CC-A324-C382187B4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loops</a:t>
            </a:r>
            <a:r>
              <a:rPr lang="de-DE" dirty="0"/>
              <a:t> – </a:t>
            </a:r>
            <a:r>
              <a:rPr lang="de-DE" dirty="0" err="1"/>
              <a:t>range</a:t>
            </a:r>
            <a:r>
              <a:rPr lang="de-DE" dirty="0"/>
              <a:t> </a:t>
            </a:r>
            <a:r>
              <a:rPr lang="de-DE" dirty="0" err="1"/>
              <a:t>function</a:t>
            </a:r>
            <a:r>
              <a:rPr lang="de-DE" dirty="0"/>
              <a:t>   </a:t>
            </a:r>
            <a:endParaRPr lang="en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8E730ED-9336-4E01-83B0-97D2F884E367}"/>
              </a:ext>
            </a:extLst>
          </p:cNvPr>
          <p:cNvSpPr/>
          <p:nvPr/>
        </p:nvSpPr>
        <p:spPr>
          <a:xfrm>
            <a:off x="5036940" y="1505962"/>
            <a:ext cx="2045096" cy="553748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3200" dirty="0" err="1">
                <a:solidFill>
                  <a:schemeClr val="accent2">
                    <a:lumMod val="75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range</a:t>
            </a:r>
            <a:r>
              <a:rPr lang="de-DE" sz="3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de-DE" sz="32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5</a:t>
            </a:r>
            <a:r>
              <a:rPr lang="de-DE" sz="3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en-US" sz="3200" dirty="0">
              <a:solidFill>
                <a:schemeClr val="tx1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3E9160C2-994C-4DA5-B682-FBDBBFD32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44436"/>
            <a:ext cx="10515600" cy="3953163"/>
          </a:xfrm>
        </p:spPr>
        <p:txBody>
          <a:bodyPr>
            <a:normAutofit lnSpcReduction="10000"/>
          </a:bodyPr>
          <a:lstStyle/>
          <a:p>
            <a:r>
              <a:rPr lang="de-DE" dirty="0"/>
              <a:t>Generates </a:t>
            </a:r>
            <a:r>
              <a:rPr lang="de-DE" dirty="0" err="1"/>
              <a:t>five</a:t>
            </a:r>
            <a:r>
              <a:rPr lang="de-DE" dirty="0"/>
              <a:t> </a:t>
            </a:r>
            <a:r>
              <a:rPr lang="de-DE" dirty="0" err="1"/>
              <a:t>numbers</a:t>
            </a:r>
            <a:r>
              <a:rPr lang="de-DE" dirty="0"/>
              <a:t>: 0, 1, 2, 3, 4 </a:t>
            </a:r>
            <a:r>
              <a:rPr lang="de-DE" dirty="0">
                <a:sym typeface="Wingdings" panose="05000000000000000000" pitchFamily="2" charset="2"/>
              </a:rPr>
              <a:t> </a:t>
            </a:r>
            <a:r>
              <a:rPr lang="de-DE" dirty="0" err="1">
                <a:sym typeface="Wingdings" panose="05000000000000000000" pitchFamily="2" charset="2"/>
              </a:rPr>
              <a:t>range</a:t>
            </a:r>
            <a:r>
              <a:rPr lang="de-DE" dirty="0">
                <a:sym typeface="Wingdings" panose="05000000000000000000" pitchFamily="2" charset="2"/>
              </a:rPr>
              <a:t>(n) </a:t>
            </a:r>
            <a:r>
              <a:rPr lang="de-DE" dirty="0" err="1">
                <a:sym typeface="Wingdings" panose="05000000000000000000" pitchFamily="2" charset="2"/>
              </a:rPr>
              <a:t>counts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from</a:t>
            </a:r>
            <a:r>
              <a:rPr lang="de-DE" dirty="0">
                <a:sym typeface="Wingdings" panose="05000000000000000000" pitchFamily="2" charset="2"/>
              </a:rPr>
              <a:t> 0 </a:t>
            </a:r>
            <a:r>
              <a:rPr lang="de-DE" dirty="0" err="1">
                <a:sym typeface="Wingdings" panose="05000000000000000000" pitchFamily="2" charset="2"/>
              </a:rPr>
              <a:t>to</a:t>
            </a:r>
            <a:r>
              <a:rPr lang="de-DE" dirty="0">
                <a:sym typeface="Wingdings" panose="05000000000000000000" pitchFamily="2" charset="2"/>
              </a:rPr>
              <a:t> n-1</a:t>
            </a:r>
            <a:endParaRPr lang="de-DE" dirty="0"/>
          </a:p>
          <a:p>
            <a:r>
              <a:rPr lang="de-DE" dirty="0">
                <a:sym typeface="Wingdings" panose="05000000000000000000" pitchFamily="2" charset="2"/>
              </a:rPr>
              <a:t>Try:</a:t>
            </a:r>
          </a:p>
          <a:p>
            <a:endParaRPr lang="de-DE" dirty="0">
              <a:sym typeface="Wingdings" panose="05000000000000000000" pitchFamily="2" charset="2"/>
            </a:endParaRPr>
          </a:p>
          <a:p>
            <a:endParaRPr lang="de-DE" dirty="0"/>
          </a:p>
          <a:p>
            <a:endParaRPr lang="de-DE" dirty="0"/>
          </a:p>
          <a:p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do </a:t>
            </a:r>
            <a:r>
              <a:rPr lang="de-DE" dirty="0" err="1"/>
              <a:t>something</a:t>
            </a:r>
            <a:r>
              <a:rPr lang="de-DE" dirty="0"/>
              <a:t> n </a:t>
            </a:r>
            <a:r>
              <a:rPr lang="de-DE" dirty="0" err="1"/>
              <a:t>times</a:t>
            </a:r>
            <a:endParaRPr lang="de-DE" dirty="0"/>
          </a:p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 The </a:t>
            </a:r>
            <a:r>
              <a:rPr lang="de-DE" dirty="0" err="1">
                <a:sym typeface="Wingdings" panose="05000000000000000000" pitchFamily="2" charset="2"/>
              </a:rPr>
              <a:t>current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number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is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saved</a:t>
            </a:r>
            <a:r>
              <a:rPr lang="de-DE" dirty="0">
                <a:sym typeface="Wingdings" panose="05000000000000000000" pitchFamily="2" charset="2"/>
              </a:rPr>
              <a:t> in a variable „i“</a:t>
            </a:r>
          </a:p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 „i“ </a:t>
            </a:r>
            <a:r>
              <a:rPr lang="de-DE" dirty="0" err="1">
                <a:sym typeface="Wingdings" panose="05000000000000000000" pitchFamily="2" charset="2"/>
              </a:rPr>
              <a:t>is</a:t>
            </a:r>
            <a:r>
              <a:rPr lang="de-DE" dirty="0">
                <a:sym typeface="Wingdings" panose="05000000000000000000" pitchFamily="2" charset="2"/>
              </a:rPr>
              <a:t> just </a:t>
            </a:r>
            <a:r>
              <a:rPr lang="de-DE" dirty="0" err="1">
                <a:sym typeface="Wingdings" panose="05000000000000000000" pitchFamily="2" charset="2"/>
              </a:rPr>
              <a:t>convention</a:t>
            </a:r>
            <a:r>
              <a:rPr lang="de-DE" dirty="0">
                <a:sym typeface="Wingdings" panose="05000000000000000000" pitchFamily="2" charset="2"/>
              </a:rPr>
              <a:t> and </a:t>
            </a:r>
            <a:r>
              <a:rPr lang="de-DE" dirty="0" err="1">
                <a:sym typeface="Wingdings" panose="05000000000000000000" pitchFamily="2" charset="2"/>
              </a:rPr>
              <a:t>can</a:t>
            </a:r>
            <a:r>
              <a:rPr lang="de-DE" dirty="0">
                <a:sym typeface="Wingdings" panose="05000000000000000000" pitchFamily="2" charset="2"/>
              </a:rPr>
              <a:t> stand </a:t>
            </a:r>
            <a:r>
              <a:rPr lang="de-DE" dirty="0" err="1">
                <a:sym typeface="Wingdings" panose="05000000000000000000" pitchFamily="2" charset="2"/>
              </a:rPr>
              <a:t>for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iteration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or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index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endParaRPr lang="en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C6742AFE-B659-46A6-B4DC-E6DAF605A009}"/>
              </a:ext>
            </a:extLst>
          </p:cNvPr>
          <p:cNvSpPr/>
          <p:nvPr/>
        </p:nvSpPr>
        <p:spPr>
          <a:xfrm>
            <a:off x="3766506" y="3200547"/>
            <a:ext cx="4658987" cy="1347858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3200" dirty="0" err="1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for</a:t>
            </a:r>
            <a:r>
              <a:rPr lang="de-DE" sz="3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i </a:t>
            </a:r>
            <a:r>
              <a:rPr lang="de-DE" sz="32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in</a:t>
            </a:r>
            <a:r>
              <a:rPr lang="de-DE" sz="3200" dirty="0">
                <a:solidFill>
                  <a:schemeClr val="accent2">
                    <a:lumMod val="75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de-DE" sz="3200" dirty="0" err="1">
                <a:solidFill>
                  <a:schemeClr val="accent2">
                    <a:lumMod val="75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range</a:t>
            </a:r>
            <a:r>
              <a:rPr lang="de-DE" sz="3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de-DE" sz="32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5</a:t>
            </a:r>
            <a:r>
              <a:rPr lang="de-DE" sz="3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):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32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de-DE" sz="32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de-DE" sz="32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(i)</a:t>
            </a:r>
            <a:endParaRPr lang="en-US" sz="3200" dirty="0">
              <a:solidFill>
                <a:schemeClr val="tx1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9666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9D91BB-72A9-45CC-A324-C382187B4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loops</a:t>
            </a:r>
            <a:r>
              <a:rPr lang="de-DE" dirty="0"/>
              <a:t> – </a:t>
            </a:r>
            <a:r>
              <a:rPr lang="de-DE" dirty="0" err="1"/>
              <a:t>range</a:t>
            </a:r>
            <a:r>
              <a:rPr lang="de-DE" dirty="0"/>
              <a:t> </a:t>
            </a:r>
            <a:r>
              <a:rPr lang="de-DE" dirty="0" err="1"/>
              <a:t>function</a:t>
            </a:r>
            <a:r>
              <a:rPr lang="de-DE" dirty="0"/>
              <a:t>   </a:t>
            </a:r>
            <a:endParaRPr lang="en-DE" dirty="0"/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3E9160C2-994C-4DA5-B682-FBDBBFD32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655"/>
            <a:ext cx="10515600" cy="5089236"/>
          </a:xfrm>
        </p:spPr>
        <p:txBody>
          <a:bodyPr>
            <a:normAutofit/>
          </a:bodyPr>
          <a:lstStyle/>
          <a:p>
            <a:r>
              <a:rPr lang="de-DE" dirty="0"/>
              <a:t>Syntax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range</a:t>
            </a:r>
            <a:r>
              <a:rPr lang="de-DE" dirty="0"/>
              <a:t> </a:t>
            </a:r>
            <a:r>
              <a:rPr lang="de-DE" dirty="0" err="1"/>
              <a:t>function</a:t>
            </a:r>
            <a:r>
              <a:rPr lang="de-DE" dirty="0"/>
              <a:t>:</a:t>
            </a:r>
          </a:p>
          <a:p>
            <a:endParaRPr lang="de-DE" dirty="0">
              <a:sym typeface="Wingdings" panose="05000000000000000000" pitchFamily="2" charset="2"/>
            </a:endParaRPr>
          </a:p>
          <a:p>
            <a:endParaRPr lang="de-DE" dirty="0">
              <a:sym typeface="Wingdings" panose="05000000000000000000" pitchFamily="2" charset="2"/>
            </a:endParaRPr>
          </a:p>
          <a:p>
            <a:r>
              <a:rPr lang="de-DE" dirty="0">
                <a:sym typeface="Wingdings" panose="05000000000000000000" pitchFamily="2" charset="2"/>
              </a:rPr>
              <a:t>Try:</a:t>
            </a:r>
          </a:p>
          <a:p>
            <a:endParaRPr lang="de-DE" dirty="0">
              <a:sym typeface="Wingdings" panose="05000000000000000000" pitchFamily="2" charset="2"/>
            </a:endParaRPr>
          </a:p>
          <a:p>
            <a:endParaRPr lang="de-DE" dirty="0"/>
          </a:p>
          <a:p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endParaRPr lang="en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C6742AFE-B659-46A6-B4DC-E6DAF605A009}"/>
              </a:ext>
            </a:extLst>
          </p:cNvPr>
          <p:cNvSpPr/>
          <p:nvPr/>
        </p:nvSpPr>
        <p:spPr>
          <a:xfrm>
            <a:off x="3199868" y="3382821"/>
            <a:ext cx="5719239" cy="1325564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3200" dirty="0" err="1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for</a:t>
            </a:r>
            <a:r>
              <a:rPr lang="de-DE" sz="3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i </a:t>
            </a:r>
            <a:r>
              <a:rPr lang="de-DE" sz="32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in</a:t>
            </a:r>
            <a:r>
              <a:rPr lang="de-DE" sz="3200" dirty="0">
                <a:solidFill>
                  <a:schemeClr val="accent2">
                    <a:lumMod val="75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de-DE" sz="3200" dirty="0" err="1">
                <a:solidFill>
                  <a:schemeClr val="accent2">
                    <a:lumMod val="75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range</a:t>
            </a:r>
            <a:r>
              <a:rPr lang="de-DE" sz="3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de-DE" sz="32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  <a:r>
              <a:rPr lang="de-DE" sz="3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,</a:t>
            </a:r>
            <a:r>
              <a:rPr lang="de-DE" sz="32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20</a:t>
            </a:r>
            <a:r>
              <a:rPr lang="de-DE" sz="32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,</a:t>
            </a:r>
            <a:r>
              <a:rPr lang="de-DE" sz="32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  <a:r>
              <a:rPr lang="de-DE" sz="3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):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32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de-DE" sz="32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de-DE" sz="32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(i)</a:t>
            </a:r>
            <a:endParaRPr lang="en-US" sz="3200" dirty="0">
              <a:solidFill>
                <a:schemeClr val="tx1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8E730ED-9336-4E01-83B0-97D2F884E367}"/>
              </a:ext>
            </a:extLst>
          </p:cNvPr>
          <p:cNvSpPr/>
          <p:nvPr/>
        </p:nvSpPr>
        <p:spPr>
          <a:xfrm>
            <a:off x="3265488" y="2168743"/>
            <a:ext cx="5588000" cy="553748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3200" dirty="0" err="1">
                <a:solidFill>
                  <a:schemeClr val="accent2">
                    <a:lumMod val="75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range</a:t>
            </a:r>
            <a:r>
              <a:rPr lang="de-DE" sz="32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de-DE" sz="3200" dirty="0" err="1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s</a:t>
            </a:r>
            <a:r>
              <a:rPr lang="de-DE" sz="32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tart</a:t>
            </a:r>
            <a:r>
              <a:rPr lang="de-DE" sz="3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de-DE" sz="32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stop</a:t>
            </a:r>
            <a:r>
              <a:rPr lang="de-DE" sz="3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de-DE" sz="32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step</a:t>
            </a:r>
            <a:r>
              <a:rPr lang="de-DE" sz="3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en-US" sz="3200" dirty="0">
              <a:solidFill>
                <a:schemeClr val="tx1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7713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7A2C42-4A59-4909-A2C7-6AA20A570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loops</a:t>
            </a:r>
            <a:r>
              <a:rPr lang="de-DE" dirty="0"/>
              <a:t> – </a:t>
            </a:r>
            <a:r>
              <a:rPr lang="de-DE" dirty="0" err="1"/>
              <a:t>enumerate</a:t>
            </a:r>
            <a:r>
              <a:rPr lang="de-DE" dirty="0"/>
              <a:t> </a:t>
            </a:r>
            <a:r>
              <a:rPr lang="de-DE" dirty="0" err="1"/>
              <a:t>function</a:t>
            </a:r>
            <a:r>
              <a:rPr lang="de-DE" dirty="0"/>
              <a:t> </a:t>
            </a: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BB6C10-5E90-4415-855B-1C4745DFA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a </a:t>
            </a:r>
            <a:r>
              <a:rPr lang="de-DE" dirty="0" err="1"/>
              <a:t>number_list</a:t>
            </a:r>
            <a:r>
              <a:rPr lang="de-DE" dirty="0"/>
              <a:t> [2, 5, 3, 10, 1, 4, 7] and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know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position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elements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list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&gt; 5,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do </a:t>
            </a:r>
            <a:r>
              <a:rPr lang="de-DE" dirty="0" err="1"/>
              <a:t>this</a:t>
            </a:r>
            <a:r>
              <a:rPr lang="de-DE" dirty="0"/>
              <a:t>: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 err="1"/>
              <a:t>len</a:t>
            </a:r>
            <a:r>
              <a:rPr lang="de-DE" dirty="0"/>
              <a:t>(</a:t>
            </a:r>
            <a:r>
              <a:rPr lang="de-DE" dirty="0" err="1"/>
              <a:t>iterable</a:t>
            </a:r>
            <a:r>
              <a:rPr lang="de-DE" dirty="0"/>
              <a:t>) </a:t>
            </a:r>
            <a:r>
              <a:rPr lang="de-DE" dirty="0" err="1"/>
              <a:t>returns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lenght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an </a:t>
            </a:r>
            <a:r>
              <a:rPr lang="de-DE" dirty="0" err="1"/>
              <a:t>iterable</a:t>
            </a:r>
            <a:r>
              <a:rPr lang="de-DE" dirty="0"/>
              <a:t>,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allows</a:t>
            </a:r>
            <a:r>
              <a:rPr lang="de-DE" dirty="0"/>
              <a:t> </a:t>
            </a:r>
            <a:r>
              <a:rPr lang="de-DE" dirty="0" err="1"/>
              <a:t>iterating</a:t>
            </a:r>
            <a:r>
              <a:rPr lang="de-DE" dirty="0"/>
              <a:t> </a:t>
            </a:r>
            <a:r>
              <a:rPr lang="de-DE" dirty="0" err="1"/>
              <a:t>over</a:t>
            </a:r>
            <a:r>
              <a:rPr lang="de-DE" dirty="0"/>
              <a:t>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items</a:t>
            </a:r>
            <a:r>
              <a:rPr lang="de-DE" dirty="0"/>
              <a:t> in e.g. a </a:t>
            </a:r>
            <a:r>
              <a:rPr lang="de-DE" dirty="0" err="1"/>
              <a:t>list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a </a:t>
            </a:r>
            <a:r>
              <a:rPr lang="de-DE" dirty="0" err="1"/>
              <a:t>for</a:t>
            </a:r>
            <a:r>
              <a:rPr lang="de-DE" dirty="0"/>
              <a:t> loop,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giving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length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list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range</a:t>
            </a:r>
            <a:r>
              <a:rPr lang="de-DE" dirty="0"/>
              <a:t> </a:t>
            </a:r>
            <a:r>
              <a:rPr lang="de-DE" dirty="0" err="1"/>
              <a:t>function</a:t>
            </a:r>
            <a:endParaRPr lang="en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2BF8514-3D48-4308-AD4F-09C5EC48D08D}"/>
              </a:ext>
            </a:extLst>
          </p:cNvPr>
          <p:cNvSpPr/>
          <p:nvPr/>
        </p:nvSpPr>
        <p:spPr>
          <a:xfrm>
            <a:off x="2083821" y="2939475"/>
            <a:ext cx="8024357" cy="1974269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3200" dirty="0" err="1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for</a:t>
            </a:r>
            <a:r>
              <a:rPr lang="de-DE" sz="3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i </a:t>
            </a:r>
            <a:r>
              <a:rPr lang="de-DE" sz="32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in</a:t>
            </a:r>
            <a:r>
              <a:rPr lang="de-DE" sz="3200" dirty="0">
                <a:solidFill>
                  <a:schemeClr val="accent2">
                    <a:lumMod val="75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de-DE" sz="3200" dirty="0" err="1">
                <a:solidFill>
                  <a:schemeClr val="accent2">
                    <a:lumMod val="75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range</a:t>
            </a:r>
            <a:r>
              <a:rPr lang="de-DE" sz="3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de-DE" sz="32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len</a:t>
            </a:r>
            <a:r>
              <a:rPr lang="de-DE" sz="3200" dirty="0">
                <a:solidFill>
                  <a:srgbClr val="9C5BCD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de-DE" sz="3200" dirty="0" err="1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number_list</a:t>
            </a:r>
            <a:r>
              <a:rPr lang="de-DE" sz="3200" dirty="0">
                <a:solidFill>
                  <a:srgbClr val="9C5BCD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r>
              <a:rPr lang="de-DE" sz="3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):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32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de-DE" sz="3200" dirty="0" err="1">
                <a:solidFill>
                  <a:srgbClr val="9C5BCD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</a:t>
            </a:r>
            <a:r>
              <a:rPr lang="de-DE" sz="32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de-DE" sz="3200" dirty="0" err="1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number_list</a:t>
            </a:r>
            <a:r>
              <a:rPr lang="de-DE" sz="3200" dirty="0"/>
              <a:t> [i] &gt; </a:t>
            </a:r>
            <a:r>
              <a:rPr lang="de-DE" sz="3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5</a:t>
            </a:r>
            <a:r>
              <a:rPr lang="de-DE" sz="3200" dirty="0"/>
              <a:t>:</a:t>
            </a:r>
            <a:endParaRPr lang="de-DE" sz="3200" dirty="0">
              <a:solidFill>
                <a:schemeClr val="tx1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32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de-DE" sz="32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de-DE" sz="32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(i)</a:t>
            </a:r>
            <a:endParaRPr lang="en-US" sz="3200" dirty="0">
              <a:solidFill>
                <a:schemeClr val="tx1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EA737FCB-5987-4885-8002-5F79FEA46254}"/>
              </a:ext>
            </a:extLst>
          </p:cNvPr>
          <p:cNvSpPr/>
          <p:nvPr/>
        </p:nvSpPr>
        <p:spPr>
          <a:xfrm>
            <a:off x="5968401" y="3244334"/>
            <a:ext cx="2551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[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3993779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7A2C42-4A59-4909-A2C7-6AA20A570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loops</a:t>
            </a:r>
            <a:r>
              <a:rPr lang="de-DE" dirty="0"/>
              <a:t> – </a:t>
            </a:r>
            <a:r>
              <a:rPr lang="de-DE" dirty="0" err="1"/>
              <a:t>enumerate</a:t>
            </a:r>
            <a:r>
              <a:rPr lang="de-DE" dirty="0"/>
              <a:t> </a:t>
            </a:r>
            <a:r>
              <a:rPr lang="de-DE" dirty="0" err="1"/>
              <a:t>function</a:t>
            </a:r>
            <a:r>
              <a:rPr lang="de-DE" dirty="0"/>
              <a:t> </a:t>
            </a: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BB6C10-5E90-4415-855B-1C4745DFA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a </a:t>
            </a:r>
            <a:r>
              <a:rPr lang="de-DE" dirty="0" err="1"/>
              <a:t>number_list</a:t>
            </a:r>
            <a:r>
              <a:rPr lang="de-DE" dirty="0"/>
              <a:t> [2, 5, 3, 10, 1, 4, 7] and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know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position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elements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list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&gt; 5,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>
                <a:solidFill>
                  <a:srgbClr val="FF0000"/>
                </a:solidFill>
              </a:rPr>
              <a:t>ALSO</a:t>
            </a:r>
            <a:r>
              <a:rPr lang="de-DE" dirty="0"/>
              <a:t> do </a:t>
            </a:r>
            <a:r>
              <a:rPr lang="de-DE" dirty="0" err="1"/>
              <a:t>this</a:t>
            </a:r>
            <a:r>
              <a:rPr lang="de-DE" dirty="0"/>
              <a:t>: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 err="1"/>
              <a:t>Enumerate</a:t>
            </a:r>
            <a:r>
              <a:rPr lang="de-DE" dirty="0"/>
              <a:t> </a:t>
            </a:r>
            <a:r>
              <a:rPr lang="de-DE" dirty="0" err="1"/>
              <a:t>returns</a:t>
            </a:r>
            <a:r>
              <a:rPr lang="de-DE" dirty="0"/>
              <a:t> </a:t>
            </a:r>
            <a:r>
              <a:rPr lang="de-DE" dirty="0" err="1"/>
              <a:t>both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index</a:t>
            </a:r>
            <a:r>
              <a:rPr lang="de-DE" dirty="0"/>
              <a:t> and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element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an </a:t>
            </a:r>
            <a:r>
              <a:rPr lang="de-DE" dirty="0" err="1"/>
              <a:t>iterable</a:t>
            </a:r>
            <a:endParaRPr lang="en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2BF8514-3D48-4308-AD4F-09C5EC48D08D}"/>
              </a:ext>
            </a:extLst>
          </p:cNvPr>
          <p:cNvSpPr/>
          <p:nvPr/>
        </p:nvSpPr>
        <p:spPr>
          <a:xfrm>
            <a:off x="1377327" y="2782457"/>
            <a:ext cx="9692543" cy="1974269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3200" dirty="0" err="1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for</a:t>
            </a:r>
            <a:r>
              <a:rPr lang="de-DE" sz="3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i, item </a:t>
            </a:r>
            <a:r>
              <a:rPr lang="de-DE" sz="32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in</a:t>
            </a:r>
            <a:r>
              <a:rPr lang="de-DE" sz="3200" dirty="0">
                <a:solidFill>
                  <a:schemeClr val="accent2">
                    <a:lumMod val="75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de-DE" sz="3200" dirty="0" err="1">
                <a:solidFill>
                  <a:schemeClr val="accent2">
                    <a:lumMod val="75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enumerate</a:t>
            </a:r>
            <a:r>
              <a:rPr lang="de-DE" sz="3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de-DE" sz="3200" dirty="0" err="1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number_list</a:t>
            </a:r>
            <a:r>
              <a:rPr lang="de-DE" sz="3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):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32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de-DE" sz="3200" dirty="0" err="1">
                <a:solidFill>
                  <a:srgbClr val="9C5BCD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</a:t>
            </a:r>
            <a:r>
              <a:rPr lang="de-DE" sz="32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item </a:t>
            </a:r>
            <a:r>
              <a:rPr lang="de-DE" sz="3200" dirty="0"/>
              <a:t>&gt; </a:t>
            </a:r>
            <a:r>
              <a:rPr lang="de-DE" sz="3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5</a:t>
            </a:r>
            <a:r>
              <a:rPr lang="de-DE" sz="3200" dirty="0"/>
              <a:t>:</a:t>
            </a:r>
            <a:endParaRPr lang="de-DE" sz="3200" dirty="0">
              <a:solidFill>
                <a:schemeClr val="tx1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32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de-DE" sz="32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de-DE" sz="32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(i)</a:t>
            </a:r>
            <a:endParaRPr lang="en-US" sz="3200" dirty="0">
              <a:solidFill>
                <a:schemeClr val="tx1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EA737FCB-5987-4885-8002-5F79FEA46254}"/>
              </a:ext>
            </a:extLst>
          </p:cNvPr>
          <p:cNvSpPr/>
          <p:nvPr/>
        </p:nvSpPr>
        <p:spPr>
          <a:xfrm>
            <a:off x="5968401" y="3244334"/>
            <a:ext cx="2551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[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647241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71670752-3282-4BEB-9022-0252042473C4}"/>
              </a:ext>
            </a:extLst>
          </p:cNvPr>
          <p:cNvSpPr/>
          <p:nvPr/>
        </p:nvSpPr>
        <p:spPr>
          <a:xfrm>
            <a:off x="1500908" y="2618516"/>
            <a:ext cx="9190181" cy="1974269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3200" dirty="0" err="1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for</a:t>
            </a:r>
            <a:r>
              <a:rPr lang="de-DE" sz="3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i </a:t>
            </a:r>
            <a:r>
              <a:rPr lang="de-DE" sz="32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in</a:t>
            </a:r>
            <a:r>
              <a:rPr lang="de-DE" sz="3200" dirty="0">
                <a:solidFill>
                  <a:schemeClr val="accent2">
                    <a:lumMod val="75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de-DE" sz="3200" dirty="0" err="1">
                <a:solidFill>
                  <a:schemeClr val="accent2">
                    <a:lumMod val="75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range</a:t>
            </a:r>
            <a:r>
              <a:rPr lang="de-DE" sz="3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de-DE" sz="32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len</a:t>
            </a:r>
            <a:r>
              <a:rPr lang="de-DE" sz="3200" dirty="0">
                <a:solidFill>
                  <a:srgbClr val="9C5BCD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de-DE" sz="3200" dirty="0" err="1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number_list</a:t>
            </a:r>
            <a:r>
              <a:rPr lang="de-DE" sz="3200" dirty="0">
                <a:solidFill>
                  <a:srgbClr val="9C5BCD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r>
              <a:rPr lang="de-DE" sz="3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):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32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de-DE" sz="3200" dirty="0" err="1">
                <a:solidFill>
                  <a:srgbClr val="9C5BCD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</a:t>
            </a:r>
            <a:r>
              <a:rPr lang="de-DE" sz="32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de-DE" sz="3200" dirty="0" err="1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number_list</a:t>
            </a:r>
            <a:r>
              <a:rPr lang="de-DE" sz="3200" dirty="0"/>
              <a:t> [i] &gt; </a:t>
            </a:r>
            <a:r>
              <a:rPr lang="de-DE" sz="3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5</a:t>
            </a:r>
            <a:r>
              <a:rPr lang="de-DE" sz="3200" dirty="0"/>
              <a:t>:</a:t>
            </a:r>
            <a:endParaRPr lang="de-DE" sz="3200" dirty="0">
              <a:solidFill>
                <a:schemeClr val="tx1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32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de-DE" sz="32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de-DE" sz="32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(i)</a:t>
            </a:r>
            <a:endParaRPr lang="en-US" sz="3200" dirty="0">
              <a:solidFill>
                <a:schemeClr val="tx1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86B27C4-C826-49FE-B764-3B3B6E2E5257}"/>
              </a:ext>
            </a:extLst>
          </p:cNvPr>
          <p:cNvSpPr/>
          <p:nvPr/>
        </p:nvSpPr>
        <p:spPr>
          <a:xfrm>
            <a:off x="1500908" y="4814176"/>
            <a:ext cx="9190181" cy="1974269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3200" dirty="0" err="1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for</a:t>
            </a:r>
            <a:r>
              <a:rPr lang="de-DE" sz="3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i, </a:t>
            </a:r>
            <a:r>
              <a:rPr lang="de-DE" sz="3200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number</a:t>
            </a:r>
            <a:r>
              <a:rPr lang="de-DE" sz="3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de-DE" sz="3200" dirty="0">
                <a:solidFill>
                  <a:srgbClr val="9C5BCD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in</a:t>
            </a:r>
            <a:r>
              <a:rPr lang="de-DE" sz="3200" dirty="0">
                <a:solidFill>
                  <a:schemeClr val="accent2">
                    <a:lumMod val="75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de-DE" sz="3200" dirty="0" err="1">
                <a:solidFill>
                  <a:schemeClr val="accent2">
                    <a:lumMod val="75000"/>
                  </a:schemeClr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enumerate</a:t>
            </a:r>
            <a:r>
              <a:rPr lang="de-DE" sz="3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lang="de-DE" sz="3200" dirty="0" err="1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number_list</a:t>
            </a:r>
            <a:r>
              <a:rPr lang="de-DE" sz="3200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):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32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de-DE" sz="3200" dirty="0" err="1">
                <a:solidFill>
                  <a:srgbClr val="9C5BCD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if</a:t>
            </a:r>
            <a:r>
              <a:rPr lang="de-DE" sz="32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de-DE" sz="3200" dirty="0" err="1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number</a:t>
            </a:r>
            <a:r>
              <a:rPr lang="de-DE" sz="32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de-DE" sz="3200" dirty="0"/>
              <a:t>&gt; </a:t>
            </a:r>
            <a:r>
              <a:rPr lang="de-DE" sz="3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5</a:t>
            </a:r>
            <a:r>
              <a:rPr lang="de-DE" sz="3200" dirty="0"/>
              <a:t>:</a:t>
            </a:r>
            <a:endParaRPr lang="de-DE" sz="3200" dirty="0">
              <a:solidFill>
                <a:schemeClr val="tx1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32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    </a:t>
            </a:r>
            <a:r>
              <a:rPr lang="de-DE" sz="32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print</a:t>
            </a:r>
            <a:r>
              <a:rPr lang="de-DE" sz="3200" dirty="0">
                <a:solidFill>
                  <a:schemeClr val="tx1"/>
                </a:solidFill>
                <a:latin typeface="Consolas" panose="020B0609020204030204" pitchFamily="49" charset="0"/>
                <a:ea typeface="Calibri" panose="020F0502020204030204" pitchFamily="34" charset="0"/>
                <a:cs typeface="Arial" panose="020B0604020202020204" pitchFamily="34" charset="0"/>
              </a:rPr>
              <a:t>(i)</a:t>
            </a:r>
            <a:endParaRPr lang="en-US" sz="3200" dirty="0">
              <a:solidFill>
                <a:schemeClr val="tx1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64577F9-A1CE-441C-93AB-24285DEB786E}"/>
              </a:ext>
            </a:extLst>
          </p:cNvPr>
          <p:cNvSpPr/>
          <p:nvPr/>
        </p:nvSpPr>
        <p:spPr>
          <a:xfrm>
            <a:off x="1500908" y="1843377"/>
            <a:ext cx="9190181" cy="553748"/>
          </a:xfrm>
          <a:prstGeom prst="rect">
            <a:avLst/>
          </a:prstGeom>
          <a:solidFill>
            <a:schemeClr val="tx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e-DE" sz="3200" dirty="0" err="1"/>
              <a:t>number_list</a:t>
            </a:r>
            <a:r>
              <a:rPr lang="de-DE" sz="3200" dirty="0"/>
              <a:t> = [</a:t>
            </a:r>
            <a:r>
              <a:rPr lang="de-DE" sz="3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</a:t>
            </a:r>
            <a:r>
              <a:rPr lang="de-DE" sz="3200" dirty="0"/>
              <a:t>, </a:t>
            </a:r>
            <a:r>
              <a:rPr lang="de-DE" sz="3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5</a:t>
            </a:r>
            <a:r>
              <a:rPr lang="de-DE" sz="3200" dirty="0"/>
              <a:t>, </a:t>
            </a:r>
            <a:r>
              <a:rPr lang="de-DE" sz="3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3</a:t>
            </a:r>
            <a:r>
              <a:rPr lang="de-DE" sz="3200" dirty="0"/>
              <a:t>, </a:t>
            </a:r>
            <a:r>
              <a:rPr lang="de-DE" sz="3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10</a:t>
            </a:r>
            <a:r>
              <a:rPr lang="de-DE" sz="3200" dirty="0"/>
              <a:t>, </a:t>
            </a:r>
            <a:r>
              <a:rPr lang="de-DE" sz="3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</a:t>
            </a:r>
            <a:r>
              <a:rPr lang="de-DE" sz="3200" dirty="0"/>
              <a:t>, </a:t>
            </a:r>
            <a:r>
              <a:rPr lang="de-DE" sz="3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4</a:t>
            </a:r>
            <a:r>
              <a:rPr lang="de-DE" sz="3200" dirty="0"/>
              <a:t>, </a:t>
            </a:r>
            <a:r>
              <a:rPr lang="de-DE" sz="3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7</a:t>
            </a:r>
            <a:r>
              <a:rPr lang="de-DE" sz="3200" dirty="0"/>
              <a:t>]</a:t>
            </a:r>
            <a:endParaRPr lang="en-US" sz="3200" dirty="0">
              <a:solidFill>
                <a:schemeClr val="tx1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DCD42000-0CFA-42BB-B68D-094F5856F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0908" y="219497"/>
            <a:ext cx="9190181" cy="1325563"/>
          </a:xfrm>
        </p:spPr>
        <p:txBody>
          <a:bodyPr/>
          <a:lstStyle/>
          <a:p>
            <a:pPr algn="ctr"/>
            <a:r>
              <a:rPr lang="de-DE" dirty="0" err="1"/>
              <a:t>Readibility</a:t>
            </a:r>
            <a:r>
              <a:rPr lang="de-DE" dirty="0"/>
              <a:t> –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easier</a:t>
            </a:r>
            <a:r>
              <a:rPr lang="de-DE" dirty="0"/>
              <a:t>?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097363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B07249-086D-4F27-9376-B7E2F8A30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Hands on </a:t>
            </a:r>
            <a:r>
              <a:rPr lang="de-DE" dirty="0" err="1"/>
              <a:t>part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491062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674</Words>
  <Application>Microsoft Office PowerPoint</Application>
  <PresentationFormat>Breitbild</PresentationFormat>
  <Paragraphs>111</Paragraphs>
  <Slides>17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Consolas</vt:lpstr>
      <vt:lpstr>Wingdings</vt:lpstr>
      <vt:lpstr>Office Theme</vt:lpstr>
      <vt:lpstr>Lesson 05: Loops</vt:lpstr>
      <vt:lpstr>While loop logic:</vt:lpstr>
      <vt:lpstr>While loops </vt:lpstr>
      <vt:lpstr>Try this in you VSCode! </vt:lpstr>
      <vt:lpstr>Try this in you VSCode! </vt:lpstr>
      <vt:lpstr>Try this in you VSCode! </vt:lpstr>
      <vt:lpstr>Try this in you VSCode! </vt:lpstr>
      <vt:lpstr>Try this in you VSCode! </vt:lpstr>
      <vt:lpstr>Try this in you VSCode! </vt:lpstr>
      <vt:lpstr>For loop logic </vt:lpstr>
      <vt:lpstr>For loops - basics</vt:lpstr>
      <vt:lpstr>For loops – range function   </vt:lpstr>
      <vt:lpstr>For loops – range function   </vt:lpstr>
      <vt:lpstr>For loops – enumerate function </vt:lpstr>
      <vt:lpstr>For loops – enumerate function </vt:lpstr>
      <vt:lpstr>Readibility – which is easier?</vt:lpstr>
      <vt:lpstr>Hands on part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Fabian Quicken</dc:creator>
  <cp:lastModifiedBy>Fabian Quicken</cp:lastModifiedBy>
  <cp:revision>24</cp:revision>
  <dcterms:created xsi:type="dcterms:W3CDTF">2026-01-08T15:11:08Z</dcterms:created>
  <dcterms:modified xsi:type="dcterms:W3CDTF">2026-01-14T13:48:20Z</dcterms:modified>
</cp:coreProperties>
</file>
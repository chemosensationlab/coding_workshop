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70" r:id="rId14"/>
    <p:sldId id="269" r:id="rId15"/>
    <p:sldId id="268" r:id="rId16"/>
    <p:sldId id="287" r:id="rId17"/>
    <p:sldId id="274" r:id="rId18"/>
    <p:sldId id="275" r:id="rId19"/>
    <p:sldId id="277" r:id="rId20"/>
    <p:sldId id="276" r:id="rId21"/>
    <p:sldId id="282" r:id="rId22"/>
    <p:sldId id="284" r:id="rId23"/>
    <p:sldId id="279" r:id="rId24"/>
    <p:sldId id="283" r:id="rId25"/>
    <p:sldId id="278" r:id="rId26"/>
    <p:sldId id="280" r:id="rId27"/>
    <p:sldId id="281" r:id="rId28"/>
    <p:sldId id="286" r:id="rId29"/>
    <p:sldId id="263" r:id="rId30"/>
    <p:sldId id="28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438" userDrawn="1">
          <p15:clr>
            <a:srgbClr val="A4A3A4"/>
          </p15:clr>
        </p15:guide>
        <p15:guide id="3" pos="50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CEA8"/>
    <a:srgbClr val="DB851F"/>
    <a:srgbClr val="6A9942"/>
    <a:srgbClr val="6A0000"/>
    <a:srgbClr val="DCCE81"/>
    <a:srgbClr val="73A1BB"/>
    <a:srgbClr val="569CD6"/>
    <a:srgbClr val="C586B6"/>
    <a:srgbClr val="AC4E1F"/>
    <a:srgbClr val="865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852" y="444"/>
      </p:cViewPr>
      <p:guideLst>
        <p:guide orient="horz" pos="935"/>
        <p:guide pos="438"/>
        <p:guide pos="50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492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901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855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3728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023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864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342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6791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485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3679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6547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D4B5D-9752-4A5A-887B-7DACD834BFCB}" type="datetimeFigureOut">
              <a:rPr lang="en-DE" smtClean="0"/>
              <a:t>10/03/2026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CD003-8FFB-487E-8590-CD2BC3D8E6D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96857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C8783-1913-4533-A2E4-2D7A7AA990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de-DE" dirty="0"/>
            </a:br>
            <a:r>
              <a:rPr lang="de-DE" dirty="0"/>
              <a:t>Lesson 6:</a:t>
            </a:r>
            <a:br>
              <a:rPr lang="de-DE" dirty="0"/>
            </a:br>
            <a:r>
              <a:rPr lang="de-DE" dirty="0"/>
              <a:t>Functions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3C5CE-EC16-405E-AFA3-A59B069354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By Moritz Nesseler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9849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311C-E234-4307-B2F1-35F33D19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1496-A855-410D-B4BC-94E503A80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... a resuable block of code that performs a specific task.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Analogy: Coffee Machine</a:t>
            </a:r>
          </a:p>
          <a:p>
            <a:r>
              <a:rPr lang="de-DE" dirty="0"/>
              <a:t>Has functions for different types of coffee</a:t>
            </a:r>
          </a:p>
          <a:p>
            <a:r>
              <a:rPr lang="de-DE" dirty="0"/>
              <a:t>Performs the same task for each type of coffee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9104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311C-E234-4307-B2F1-35F33D19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1496-A855-410D-B4BC-94E503A80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30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... a resuable block of code that performs a specific task.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Analogy: Coffee Machine</a:t>
            </a:r>
          </a:p>
          <a:p>
            <a:r>
              <a:rPr lang="de-DE" dirty="0"/>
              <a:t>Has functions for different types of coffee</a:t>
            </a:r>
          </a:p>
          <a:p>
            <a:r>
              <a:rPr lang="de-DE" dirty="0"/>
              <a:t>Performs the same task for each type of coffee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Analogy: Alien</a:t>
            </a:r>
          </a:p>
          <a:p>
            <a:r>
              <a:rPr lang="de-DE" dirty="0"/>
              <a:t>Alf knows all the steps to get a coffee</a:t>
            </a:r>
          </a:p>
          <a:p>
            <a:r>
              <a:rPr lang="de-DE" dirty="0"/>
              <a:t>You just have to ask him (call upon him)</a:t>
            </a:r>
            <a:endParaRPr lang="en-DE" dirty="0"/>
          </a:p>
        </p:txBody>
      </p:sp>
      <p:pic>
        <p:nvPicPr>
          <p:cNvPr id="4" name="Grafik 5">
            <a:extLst>
              <a:ext uri="{FF2B5EF4-FFF2-40B4-BE49-F238E27FC236}">
                <a16:creationId xmlns:a16="http://schemas.microsoft.com/office/drawing/2014/main" id="{F6E86B90-2881-4C42-9F5F-BEDFF90D1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4868420"/>
            <a:ext cx="1704880" cy="1704880"/>
          </a:xfrm>
          <a:prstGeom prst="rect">
            <a:avLst/>
          </a:prstGeom>
        </p:spPr>
      </p:pic>
      <p:pic>
        <p:nvPicPr>
          <p:cNvPr id="5" name="Grafik 6">
            <a:extLst>
              <a:ext uri="{FF2B5EF4-FFF2-40B4-BE49-F238E27FC236}">
                <a16:creationId xmlns:a16="http://schemas.microsoft.com/office/drawing/2014/main" id="{FE7AF8B7-0E90-49B9-9C5A-9B6D3E8AF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197" y="4538781"/>
            <a:ext cx="1522413" cy="2106004"/>
          </a:xfrm>
          <a:prstGeom prst="rect">
            <a:avLst/>
          </a:prstGeom>
        </p:spPr>
      </p:pic>
      <p:pic>
        <p:nvPicPr>
          <p:cNvPr id="6" name="Grafik 8">
            <a:extLst>
              <a:ext uri="{FF2B5EF4-FFF2-40B4-BE49-F238E27FC236}">
                <a16:creationId xmlns:a16="http://schemas.microsoft.com/office/drawing/2014/main" id="{E911B0ED-C553-4E7B-B48E-03CB02BC2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368" y="5026633"/>
            <a:ext cx="1693237" cy="138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5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311C-E234-4307-B2F1-35F33D19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1496-A855-410D-B4BC-94E503A80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... a resuable block of code that performs a specific task.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Reasons to use functions: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Create efficient code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Break problems down to individual solvable steps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Avoid repeating code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Organize scripts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Make scripts easier to read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11930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311C-E234-4307-B2F1-35F33D19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1496-A855-410D-B4BC-94E503A80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... a resuable block of code that performs a specific task.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A6BDAC8-4507-424C-AAA8-1BF11AC01CD0}"/>
              </a:ext>
            </a:extLst>
          </p:cNvPr>
          <p:cNvCxnSpPr/>
          <p:nvPr/>
        </p:nvCxnSpPr>
        <p:spPr>
          <a:xfrm flipV="1">
            <a:off x="3514725" y="2676525"/>
            <a:ext cx="0" cy="28289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E5DE1B-B9D4-429C-90EB-BDC9878D8EF3}"/>
              </a:ext>
            </a:extLst>
          </p:cNvPr>
          <p:cNvCxnSpPr>
            <a:cxnSpLocks/>
          </p:cNvCxnSpPr>
          <p:nvPr/>
        </p:nvCxnSpPr>
        <p:spPr>
          <a:xfrm>
            <a:off x="3514725" y="5505450"/>
            <a:ext cx="52959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61A1A5-B2D4-4080-BDE7-5494703EDB94}"/>
              </a:ext>
            </a:extLst>
          </p:cNvPr>
          <p:cNvCxnSpPr>
            <a:cxnSpLocks/>
          </p:cNvCxnSpPr>
          <p:nvPr/>
        </p:nvCxnSpPr>
        <p:spPr>
          <a:xfrm flipV="1">
            <a:off x="3514725" y="5086350"/>
            <a:ext cx="1644553" cy="4191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EB70BF-5B96-4E39-AA17-99063392A35D}"/>
              </a:ext>
            </a:extLst>
          </p:cNvPr>
          <p:cNvSpPr txBox="1"/>
          <p:nvPr/>
        </p:nvSpPr>
        <p:spPr>
          <a:xfrm>
            <a:off x="3762229" y="4614177"/>
            <a:ext cx="1149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Basic Data</a:t>
            </a:r>
          </a:p>
          <a:p>
            <a:pPr algn="ctr"/>
            <a:r>
              <a:rPr lang="de-DE" dirty="0"/>
              <a:t>Types</a:t>
            </a:r>
            <a:endParaRPr lang="en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688901-F7F0-4CA4-BD13-D2D9785A21EF}"/>
              </a:ext>
            </a:extLst>
          </p:cNvPr>
          <p:cNvSpPr txBox="1"/>
          <p:nvPr/>
        </p:nvSpPr>
        <p:spPr>
          <a:xfrm>
            <a:off x="5340253" y="4072622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Logic and</a:t>
            </a:r>
          </a:p>
          <a:p>
            <a:pPr algn="ctr"/>
            <a:r>
              <a:rPr lang="de-DE" dirty="0"/>
              <a:t>Loops</a:t>
            </a:r>
            <a:endParaRPr lang="en-D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DE8651-2E29-4AD6-AE1E-548FD308CFD6}"/>
              </a:ext>
            </a:extLst>
          </p:cNvPr>
          <p:cNvCxnSpPr>
            <a:cxnSpLocks/>
          </p:cNvCxnSpPr>
          <p:nvPr/>
        </p:nvCxnSpPr>
        <p:spPr>
          <a:xfrm flipV="1">
            <a:off x="5159277" y="4407352"/>
            <a:ext cx="1632048" cy="68329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F67118-3D21-494E-9878-F8C8A9BC92E9}"/>
              </a:ext>
            </a:extLst>
          </p:cNvPr>
          <p:cNvCxnSpPr>
            <a:cxnSpLocks/>
          </p:cNvCxnSpPr>
          <p:nvPr/>
        </p:nvCxnSpPr>
        <p:spPr>
          <a:xfrm flipV="1">
            <a:off x="6791323" y="2676525"/>
            <a:ext cx="857252" cy="173082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131BAED-DB6A-4026-80B8-1946CBBC3DD4}"/>
              </a:ext>
            </a:extLst>
          </p:cNvPr>
          <p:cNvSpPr txBox="1"/>
          <p:nvPr/>
        </p:nvSpPr>
        <p:spPr>
          <a:xfrm>
            <a:off x="6191251" y="3204664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Functions</a:t>
            </a:r>
            <a:endParaRPr lang="en-DE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9037B6-8CD4-4D55-A51B-43EE11FA6B24}"/>
              </a:ext>
            </a:extLst>
          </p:cNvPr>
          <p:cNvSpPr txBox="1"/>
          <p:nvPr/>
        </p:nvSpPr>
        <p:spPr>
          <a:xfrm>
            <a:off x="2197219" y="3767821"/>
            <a:ext cx="1323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Difficulty of </a:t>
            </a:r>
          </a:p>
          <a:p>
            <a:r>
              <a:rPr lang="de-DE" dirty="0"/>
              <a:t>Problems</a:t>
            </a:r>
            <a:endParaRPr lang="en-D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AA3325-700A-4177-B713-B07F71D4BD7C}"/>
              </a:ext>
            </a:extLst>
          </p:cNvPr>
          <p:cNvSpPr txBox="1"/>
          <p:nvPr/>
        </p:nvSpPr>
        <p:spPr>
          <a:xfrm>
            <a:off x="5170768" y="5463040"/>
            <a:ext cx="1983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Progress in Python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2323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9F43325-52C0-4C48-8D81-6D74A780CAF4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Docstring explains function.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6A994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do this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DEA1D-A962-4217-B92C-52729769E551}"/>
              </a:ext>
            </a:extLst>
          </p:cNvPr>
          <p:cNvSpPr/>
          <p:nvPr/>
        </p:nvSpPr>
        <p:spPr>
          <a:xfrm>
            <a:off x="3605211" y="2398463"/>
            <a:ext cx="604839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2E144-18B9-4517-800A-3BD2ECF99028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Def keyword</a:t>
            </a:r>
          </a:p>
          <a:p>
            <a:r>
              <a:rPr lang="de-DE" i="1" dirty="0"/>
              <a:t>Indicates python that the next lines will be a function 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1912359335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1D90B59-5AB4-4EE7-A619-4CDE2A6D1924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Docstring explains function.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6A994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do this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DEA1D-A962-4217-B92C-52729769E551}"/>
              </a:ext>
            </a:extLst>
          </p:cNvPr>
          <p:cNvSpPr/>
          <p:nvPr/>
        </p:nvSpPr>
        <p:spPr>
          <a:xfrm>
            <a:off x="4181475" y="2398463"/>
            <a:ext cx="2324100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Function name</a:t>
            </a:r>
          </a:p>
          <a:p>
            <a:r>
              <a:rPr lang="de-DE" i="1" dirty="0"/>
              <a:t>Descriptive name for function</a:t>
            </a:r>
          </a:p>
          <a:p>
            <a:r>
              <a:rPr lang="de-DE" i="1" dirty="0"/>
              <a:t>Convention: Snake caseing 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3289195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Docstring explains function.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6A994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do this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DEA1D-A962-4217-B92C-52729769E551}"/>
              </a:ext>
            </a:extLst>
          </p:cNvPr>
          <p:cNvSpPr/>
          <p:nvPr/>
        </p:nvSpPr>
        <p:spPr>
          <a:xfrm>
            <a:off x="6505575" y="2398463"/>
            <a:ext cx="257175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Round parenthesis</a:t>
            </a:r>
          </a:p>
          <a:p>
            <a:r>
              <a:rPr lang="de-DE" i="1" dirty="0"/>
              <a:t>Parameters to give the function</a:t>
            </a:r>
          </a:p>
        </p:txBody>
      </p:sp>
    </p:spTree>
    <p:extLst>
      <p:ext uri="{BB962C8B-B14F-4D97-AF65-F5344CB8AC3E}">
        <p14:creationId xmlns:p14="http://schemas.microsoft.com/office/powerpoint/2010/main" val="3123670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B5A7937-4400-49FA-BFE2-439905BE1189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Docstring explains function.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6A994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do this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DEA1D-A962-4217-B92C-52729769E551}"/>
              </a:ext>
            </a:extLst>
          </p:cNvPr>
          <p:cNvSpPr/>
          <p:nvPr/>
        </p:nvSpPr>
        <p:spPr>
          <a:xfrm>
            <a:off x="6762750" y="2398463"/>
            <a:ext cx="161925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Colon</a:t>
            </a:r>
          </a:p>
          <a:p>
            <a:r>
              <a:rPr lang="de-DE" i="1" dirty="0"/>
              <a:t>Indicates start of the function body</a:t>
            </a:r>
          </a:p>
        </p:txBody>
      </p:sp>
    </p:spTree>
    <p:extLst>
      <p:ext uri="{BB962C8B-B14F-4D97-AF65-F5344CB8AC3E}">
        <p14:creationId xmlns:p14="http://schemas.microsoft.com/office/powerpoint/2010/main" val="4163574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C8A03FB-DDFE-4AD6-BDC5-C4E2E36BFF08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Docstring explains function.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6A994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do this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DEA1D-A962-4217-B92C-52729769E551}"/>
              </a:ext>
            </a:extLst>
          </p:cNvPr>
          <p:cNvSpPr/>
          <p:nvPr/>
        </p:nvSpPr>
        <p:spPr>
          <a:xfrm>
            <a:off x="3605209" y="2752725"/>
            <a:ext cx="4981577" cy="13255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Function body</a:t>
            </a:r>
          </a:p>
          <a:p>
            <a:r>
              <a:rPr lang="de-DE" i="1" dirty="0"/>
              <a:t>Indented block of code</a:t>
            </a:r>
          </a:p>
          <a:p>
            <a:r>
              <a:rPr lang="de-DE" i="1" dirty="0"/>
              <a:t>Starts with docstring</a:t>
            </a:r>
          </a:p>
        </p:txBody>
      </p:sp>
    </p:spTree>
    <p:extLst>
      <p:ext uri="{BB962C8B-B14F-4D97-AF65-F5344CB8AC3E}">
        <p14:creationId xmlns:p14="http://schemas.microsoft.com/office/powerpoint/2010/main" val="42481577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3D3FCFF-FFD9-4ABE-B76B-9CECBD86803E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Docstring explains function.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6A994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do this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name_of_function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DEA1D-A962-4217-B92C-52729769E551}"/>
              </a:ext>
            </a:extLst>
          </p:cNvPr>
          <p:cNvSpPr/>
          <p:nvPr/>
        </p:nvSpPr>
        <p:spPr>
          <a:xfrm>
            <a:off x="3605209" y="4243983"/>
            <a:ext cx="4981577" cy="415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A816C1-FF60-403E-9867-9E13F7E741D2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Function call</a:t>
            </a:r>
          </a:p>
          <a:p>
            <a:r>
              <a:rPr lang="de-DE" i="1" dirty="0"/>
              <a:t>Defined functions are called within the script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3407171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greets anyone.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'Hello 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'Alf'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3605211" y="4752877"/>
            <a:ext cx="4981575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Hello Alf!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63F5C-438A-4F07-B96C-5866096DC4BB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call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Defined functions are called within the script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15834827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Parameters &amp; Arguments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greets anyone.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'Hello 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'Alf'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3605211" y="4752877"/>
            <a:ext cx="4981575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Hello Alf!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DEA1D-A962-4217-B92C-52729769E551}"/>
              </a:ext>
            </a:extLst>
          </p:cNvPr>
          <p:cNvSpPr/>
          <p:nvPr/>
        </p:nvSpPr>
        <p:spPr>
          <a:xfrm>
            <a:off x="5076825" y="2412544"/>
            <a:ext cx="600075" cy="397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799A6-AD46-4679-B479-AD75EA262380}"/>
              </a:ext>
            </a:extLst>
          </p:cNvPr>
          <p:cNvSpPr txBox="1"/>
          <p:nvPr/>
        </p:nvSpPr>
        <p:spPr>
          <a:xfrm>
            <a:off x="8905874" y="1690688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Parameters</a:t>
            </a:r>
          </a:p>
          <a:p>
            <a:r>
              <a:rPr lang="de-DE" i="1" dirty="0"/>
              <a:t>Variables defined in the function definition. (Placeholer for value used within the function)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0001E3-68E4-48E9-A501-DD7E79F887D7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call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Defined functions are called within the script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10803672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Parameters &amp; Arguments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greets anyone.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'Hello 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'Alf'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3605211" y="4752877"/>
            <a:ext cx="4981575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Hello Alf!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DEA1D-A962-4217-B92C-52729769E551}"/>
              </a:ext>
            </a:extLst>
          </p:cNvPr>
          <p:cNvSpPr/>
          <p:nvPr/>
        </p:nvSpPr>
        <p:spPr>
          <a:xfrm>
            <a:off x="5495924" y="4250354"/>
            <a:ext cx="752475" cy="397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799A6-AD46-4679-B479-AD75EA262380}"/>
              </a:ext>
            </a:extLst>
          </p:cNvPr>
          <p:cNvSpPr txBox="1"/>
          <p:nvPr/>
        </p:nvSpPr>
        <p:spPr>
          <a:xfrm>
            <a:off x="8905874" y="1690688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Parameters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Variables defined in the function definition. (Placeholer for value used within the function)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4B33F-4356-4E28-A313-FECFC820D379}"/>
              </a:ext>
            </a:extLst>
          </p:cNvPr>
          <p:cNvSpPr txBox="1"/>
          <p:nvPr/>
        </p:nvSpPr>
        <p:spPr>
          <a:xfrm>
            <a:off x="8905872" y="289101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Argument</a:t>
            </a:r>
          </a:p>
          <a:p>
            <a:r>
              <a:rPr lang="de-DE" i="1" dirty="0"/>
              <a:t>Actual value that is passed to the function when it is called.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F75DD-28E2-4539-B22F-B270FD14FE60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call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Defined functions are called within the script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34876267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Parameters &amp; Arguments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605212" y="2398463"/>
            <a:ext cx="4981575" cy="2246769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greets anyone.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'Hello 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'Alf'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3605211" y="4752877"/>
            <a:ext cx="4981575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Hello Alf!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799A6-AD46-4679-B479-AD75EA262380}"/>
              </a:ext>
            </a:extLst>
          </p:cNvPr>
          <p:cNvSpPr txBox="1"/>
          <p:nvPr/>
        </p:nvSpPr>
        <p:spPr>
          <a:xfrm>
            <a:off x="8905874" y="1690688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Parameters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Variables defined in the function definition. (Placeholer for value used within the function)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4B33F-4356-4E28-A313-FECFC820D379}"/>
              </a:ext>
            </a:extLst>
          </p:cNvPr>
          <p:cNvSpPr txBox="1"/>
          <p:nvPr/>
        </p:nvSpPr>
        <p:spPr>
          <a:xfrm>
            <a:off x="8905872" y="289101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Argument</a:t>
            </a:r>
          </a:p>
          <a:p>
            <a:r>
              <a:rPr lang="de-DE" i="1" dirty="0"/>
              <a:t>Actual value that is passed to the function when it is called.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8F15C1-ACBC-4563-8776-9052E5600672}"/>
              </a:ext>
            </a:extLst>
          </p:cNvPr>
          <p:cNvSpPr txBox="1"/>
          <p:nvPr/>
        </p:nvSpPr>
        <p:spPr>
          <a:xfrm>
            <a:off x="3605212" y="5876262"/>
            <a:ext cx="4981575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'Alf'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EFE31-E6FA-46C8-8BB6-34CC49391635}"/>
              </a:ext>
            </a:extLst>
          </p:cNvPr>
          <p:cNvSpPr txBox="1"/>
          <p:nvPr/>
        </p:nvSpPr>
        <p:spPr>
          <a:xfrm>
            <a:off x="3605211" y="6384017"/>
            <a:ext cx="4981575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Hello Alf!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0A2A7-24A8-4A2F-8468-ED376F914FDB}"/>
              </a:ext>
            </a:extLst>
          </p:cNvPr>
          <p:cNvSpPr txBox="1"/>
          <p:nvPr/>
        </p:nvSpPr>
        <p:spPr>
          <a:xfrm>
            <a:off x="3565194" y="5506930"/>
            <a:ext cx="221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Alternativ (less clear):</a:t>
            </a:r>
            <a:endParaRPr lang="en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95761E-E836-4C50-A9DD-A0E8B9EA02F9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call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Defined functions are called within the script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194570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Default parameters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605212" y="2398463"/>
            <a:ext cx="4981575" cy="2554545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'Jerry'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greets anyone.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'Hello 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8658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greet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'George'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3605212" y="5027116"/>
            <a:ext cx="4981575" cy="707886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Hello Jerry!</a:t>
            </a:r>
          </a:p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Hello George!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799A6-AD46-4679-B479-AD75EA262380}"/>
              </a:ext>
            </a:extLst>
          </p:cNvPr>
          <p:cNvSpPr txBox="1"/>
          <p:nvPr/>
        </p:nvSpPr>
        <p:spPr>
          <a:xfrm>
            <a:off x="8905874" y="1690688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Parameters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Variables defined in the function definition. (Placeholer for value used within the function)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4B33F-4356-4E28-A313-FECFC820D379}"/>
              </a:ext>
            </a:extLst>
          </p:cNvPr>
          <p:cNvSpPr txBox="1"/>
          <p:nvPr/>
        </p:nvSpPr>
        <p:spPr>
          <a:xfrm>
            <a:off x="8905872" y="289101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Argument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Actual value that is passed to the function when it is called.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95761E-E836-4C50-A9DD-A0E8B9EA02F9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call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Defined functions are called within the script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3644629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Return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495669" y="1767632"/>
            <a:ext cx="5200652" cy="2554545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square_number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the 	square of any number.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799A6-AD46-4679-B479-AD75EA262380}"/>
              </a:ext>
            </a:extLst>
          </p:cNvPr>
          <p:cNvSpPr txBox="1"/>
          <p:nvPr/>
        </p:nvSpPr>
        <p:spPr>
          <a:xfrm>
            <a:off x="8905874" y="1690688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Parameters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Variables defined in the function definition. (Placeholer for value used within the function)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4B33F-4356-4E28-A313-FECFC820D379}"/>
              </a:ext>
            </a:extLst>
          </p:cNvPr>
          <p:cNvSpPr txBox="1"/>
          <p:nvPr/>
        </p:nvSpPr>
        <p:spPr>
          <a:xfrm>
            <a:off x="8905872" y="289101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Argument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Actual value that is passed to the function when it is called.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AE9082-3332-4DC9-A2C8-6707E2C7AA03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call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Defined functions are called within the script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1894980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1E083A6-CC31-4E3B-8B86-43E4E679DA03}"/>
              </a:ext>
            </a:extLst>
          </p:cNvPr>
          <p:cNvSpPr txBox="1"/>
          <p:nvPr/>
        </p:nvSpPr>
        <p:spPr>
          <a:xfrm>
            <a:off x="3495669" y="1767632"/>
            <a:ext cx="5200652" cy="378565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 square_number(number):</a:t>
            </a:r>
          </a:p>
          <a:p>
            <a:r>
              <a:rPr lang="de-DE" sz="20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‘‘‘</a:t>
            </a:r>
          </a:p>
          <a:p>
            <a:r>
              <a:rPr lang="de-DE" sz="20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the 	square of any number.</a:t>
            </a:r>
          </a:p>
          <a:p>
            <a:r>
              <a:rPr lang="de-DE" sz="20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‘‘‘</a:t>
            </a:r>
          </a:p>
          <a:p>
            <a:r>
              <a:rPr lang="de-DE" sz="20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square = number * number</a:t>
            </a:r>
          </a:p>
          <a:p>
            <a:endParaRPr lang="de-DE" sz="20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return square</a:t>
            </a:r>
          </a:p>
          <a:p>
            <a:endParaRPr lang="de-DE" sz="20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 = square_number(number = 13)</a:t>
            </a:r>
          </a:p>
          <a:p>
            <a:endParaRPr lang="de-DE" sz="20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print(result)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B445AE-50CA-453C-8DD9-A58E2621D89B}"/>
              </a:ext>
            </a:extLst>
          </p:cNvPr>
          <p:cNvSpPr txBox="1"/>
          <p:nvPr/>
        </p:nvSpPr>
        <p:spPr>
          <a:xfrm>
            <a:off x="3495669" y="1767632"/>
            <a:ext cx="5200652" cy="2554545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square_number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the 	square of any number.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Return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799A6-AD46-4679-B479-AD75EA262380}"/>
              </a:ext>
            </a:extLst>
          </p:cNvPr>
          <p:cNvSpPr txBox="1"/>
          <p:nvPr/>
        </p:nvSpPr>
        <p:spPr>
          <a:xfrm>
            <a:off x="8905874" y="1690688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Parameters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Variables defined in the function definition. (Placeholer for value used within the function)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4B33F-4356-4E28-A313-FECFC820D379}"/>
              </a:ext>
            </a:extLst>
          </p:cNvPr>
          <p:cNvSpPr txBox="1"/>
          <p:nvPr/>
        </p:nvSpPr>
        <p:spPr>
          <a:xfrm>
            <a:off x="8905872" y="289101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Argument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Actual value that is passed to the function when it is called.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9564A5-D5ED-4EFB-AB7A-B42EAA72000D}"/>
              </a:ext>
            </a:extLst>
          </p:cNvPr>
          <p:cNvSpPr txBox="1"/>
          <p:nvPr/>
        </p:nvSpPr>
        <p:spPr>
          <a:xfrm>
            <a:off x="8905872" y="3814347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Return keyword</a:t>
            </a:r>
          </a:p>
          <a:p>
            <a:r>
              <a:rPr lang="de-DE" i="1" dirty="0"/>
              <a:t>Statements and variables behind this keyword are returned to the caller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AE9082-3332-4DC9-A2C8-6707E2C7AA03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call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Defined functions are called within the script to be executed.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16A6C1-A356-4C92-9C3A-F079167DF769}"/>
              </a:ext>
            </a:extLst>
          </p:cNvPr>
          <p:cNvSpPr/>
          <p:nvPr/>
        </p:nvSpPr>
        <p:spPr>
          <a:xfrm>
            <a:off x="4019550" y="3927189"/>
            <a:ext cx="914400" cy="3971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7489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Return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495669" y="1767632"/>
            <a:ext cx="5200652" cy="3785652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square_number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the 	square of any number.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square_number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13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solidFill>
                <a:srgbClr val="DB85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3495669" y="5674818"/>
            <a:ext cx="5200658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169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799A6-AD46-4679-B479-AD75EA262380}"/>
              </a:ext>
            </a:extLst>
          </p:cNvPr>
          <p:cNvSpPr txBox="1"/>
          <p:nvPr/>
        </p:nvSpPr>
        <p:spPr>
          <a:xfrm>
            <a:off x="8905874" y="1690688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Parameters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Variables defined in the function definition. (Placeholer for value used within the function)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4B33F-4356-4E28-A313-FECFC820D379}"/>
              </a:ext>
            </a:extLst>
          </p:cNvPr>
          <p:cNvSpPr txBox="1"/>
          <p:nvPr/>
        </p:nvSpPr>
        <p:spPr>
          <a:xfrm>
            <a:off x="8905872" y="289101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Argument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Actual value that is passed to the function when it is called.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9564A5-D5ED-4EFB-AB7A-B42EAA72000D}"/>
              </a:ext>
            </a:extLst>
          </p:cNvPr>
          <p:cNvSpPr txBox="1"/>
          <p:nvPr/>
        </p:nvSpPr>
        <p:spPr>
          <a:xfrm>
            <a:off x="8905872" y="3814347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Return keyword</a:t>
            </a:r>
          </a:p>
          <a:p>
            <a:r>
              <a:rPr lang="de-DE" i="1" dirty="0"/>
              <a:t>Statements and variables behind this keyword are returned to the caller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AE9082-3332-4DC9-A2C8-6707E2C7AA03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call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Defined functions are called within the script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35390537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Return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495669" y="1767632"/>
            <a:ext cx="5200652" cy="3785652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square_number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the 	square of any number.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square_number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13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solidFill>
                <a:srgbClr val="DB85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3495669" y="5674818"/>
            <a:ext cx="5200658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169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Def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python that the next lines will be a function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name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Descriptive name for function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Convention: Snake caseing </a:t>
            </a:r>
            <a:endParaRPr lang="en-DE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Round parenthesis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Colon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body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Indented block of code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799A6-AD46-4679-B479-AD75EA262380}"/>
              </a:ext>
            </a:extLst>
          </p:cNvPr>
          <p:cNvSpPr txBox="1"/>
          <p:nvPr/>
        </p:nvSpPr>
        <p:spPr>
          <a:xfrm>
            <a:off x="8905874" y="1690688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Parameters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Variables defined in the function definition. (Placeholer for value used within the function)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4B33F-4356-4E28-A313-FECFC820D379}"/>
              </a:ext>
            </a:extLst>
          </p:cNvPr>
          <p:cNvSpPr txBox="1"/>
          <p:nvPr/>
        </p:nvSpPr>
        <p:spPr>
          <a:xfrm>
            <a:off x="8905872" y="289101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Argument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Actual value that is passed to the function when it is called.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9564A5-D5ED-4EFB-AB7A-B42EAA72000D}"/>
              </a:ext>
            </a:extLst>
          </p:cNvPr>
          <p:cNvSpPr txBox="1"/>
          <p:nvPr/>
        </p:nvSpPr>
        <p:spPr>
          <a:xfrm>
            <a:off x="8905872" y="3814347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Return keyword</a:t>
            </a:r>
          </a:p>
          <a:p>
            <a:r>
              <a:rPr lang="de-DE" i="1" dirty="0"/>
              <a:t>Statements and variables behind this keyword are returned to the caller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AE9082-3332-4DC9-A2C8-6707E2C7AA03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Function call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Defined functions are called within the script to be executed.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16A6C1-A356-4C92-9C3A-F079167DF769}"/>
              </a:ext>
            </a:extLst>
          </p:cNvPr>
          <p:cNvSpPr/>
          <p:nvPr/>
        </p:nvSpPr>
        <p:spPr>
          <a:xfrm>
            <a:off x="3495665" y="4507067"/>
            <a:ext cx="5200651" cy="3971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97843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Multiple parameters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695323" y="1484313"/>
            <a:ext cx="7345363" cy="3785652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triangle_area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base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height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the 	area of a given 	triangle by base and height.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tri_area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base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height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tri_area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de-DE" sz="2000" dirty="0">
              <a:solidFill>
                <a:srgbClr val="73A1BB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area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triangle_area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base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5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height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7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solidFill>
                <a:srgbClr val="DB85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area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F96CA8-D685-4A23-8B4A-190D550FA454}"/>
              </a:ext>
            </a:extLst>
          </p:cNvPr>
          <p:cNvSpPr txBox="1"/>
          <p:nvPr/>
        </p:nvSpPr>
        <p:spPr>
          <a:xfrm>
            <a:off x="695325" y="5359639"/>
            <a:ext cx="7345363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17.5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4ECAB-B381-41B0-BBE2-087437399804}"/>
              </a:ext>
            </a:extLst>
          </p:cNvPr>
          <p:cNvSpPr txBox="1"/>
          <p:nvPr/>
        </p:nvSpPr>
        <p:spPr>
          <a:xfrm>
            <a:off x="8905874" y="1690688"/>
            <a:ext cx="31813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Parameters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Variables defined in the function definition. (Placeholer for value used within the function)</a:t>
            </a:r>
          </a:p>
          <a:p>
            <a:endParaRPr lang="de-DE" i="1" dirty="0">
              <a:solidFill>
                <a:schemeClr val="bg1"/>
              </a:solidFill>
            </a:endParaRPr>
          </a:p>
          <a:p>
            <a:r>
              <a:rPr lang="de-DE" i="1" dirty="0">
                <a:solidFill>
                  <a:schemeClr val="bg1"/>
                </a:solidFill>
              </a:rPr>
              <a:t>Multiple inputs can be given to a function by separating the parameters with a comma. </a:t>
            </a:r>
          </a:p>
        </p:txBody>
      </p:sp>
    </p:spTree>
    <p:extLst>
      <p:ext uri="{BB962C8B-B14F-4D97-AF65-F5344CB8AC3E}">
        <p14:creationId xmlns:p14="http://schemas.microsoft.com/office/powerpoint/2010/main" val="1468770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Multiple parameters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695324" y="1484313"/>
            <a:ext cx="7345363" cy="3785652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triangle_area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base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height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the 	area of a given 	triangle by base and height.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tri_area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base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height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tri_area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de-DE" sz="2000" dirty="0">
              <a:solidFill>
                <a:srgbClr val="73A1BB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area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triangle_area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base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5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height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7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solidFill>
                <a:srgbClr val="DB85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area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B14AFE-71F2-4FF0-ADF9-9743FF4C14E8}"/>
              </a:ext>
            </a:extLst>
          </p:cNvPr>
          <p:cNvSpPr txBox="1"/>
          <p:nvPr/>
        </p:nvSpPr>
        <p:spPr>
          <a:xfrm>
            <a:off x="8905874" y="1690688"/>
            <a:ext cx="31813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</a:schemeClr>
                </a:solidFill>
              </a:rPr>
              <a:t>Parameters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Variables defined in the function definition. (Placeholer for value used within the function)</a:t>
            </a:r>
          </a:p>
          <a:p>
            <a:endParaRPr lang="de-DE" i="1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de-DE" i="1" dirty="0"/>
              <a:t>Multiple inputs can be given to a function by separating the parameters with a comma.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E0D97D-D8C7-4B80-8978-91168A46E61A}"/>
              </a:ext>
            </a:extLst>
          </p:cNvPr>
          <p:cNvSpPr/>
          <p:nvPr/>
        </p:nvSpPr>
        <p:spPr>
          <a:xfrm>
            <a:off x="3286126" y="1495640"/>
            <a:ext cx="1714500" cy="3971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0B227-670D-4DAF-8C60-618B0AC7DFC2}"/>
              </a:ext>
            </a:extLst>
          </p:cNvPr>
          <p:cNvSpPr txBox="1"/>
          <p:nvPr/>
        </p:nvSpPr>
        <p:spPr>
          <a:xfrm>
            <a:off x="695325" y="5359639"/>
            <a:ext cx="7345363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17.5</a:t>
            </a:r>
          </a:p>
        </p:txBody>
      </p:sp>
    </p:spTree>
    <p:extLst>
      <p:ext uri="{BB962C8B-B14F-4D97-AF65-F5344CB8AC3E}">
        <p14:creationId xmlns:p14="http://schemas.microsoft.com/office/powerpoint/2010/main" val="1053098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Multiple return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0DE87-F969-4C2B-9F00-8B5A43BF5BCE}"/>
              </a:ext>
            </a:extLst>
          </p:cNvPr>
          <p:cNvSpPr txBox="1"/>
          <p:nvPr/>
        </p:nvSpPr>
        <p:spPr>
          <a:xfrm>
            <a:off x="695325" y="1484313"/>
            <a:ext cx="7345363" cy="4401205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convert_seconds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minutes and remaining 	seconds.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minutes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remaining_seconds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de-DE" sz="2000" dirty="0">
              <a:solidFill>
                <a:srgbClr val="73A1BB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minutes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remaining_seconds </a:t>
            </a:r>
            <a:endParaRPr lang="de-DE" sz="2000" dirty="0">
              <a:solidFill>
                <a:schemeClr val="tx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convert_seconds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133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solidFill>
                <a:srgbClr val="DB85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'Minutes: 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'Seconds: 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7BA00-C94F-4BA5-92A2-3208F3B1BA41}"/>
              </a:ext>
            </a:extLst>
          </p:cNvPr>
          <p:cNvSpPr txBox="1"/>
          <p:nvPr/>
        </p:nvSpPr>
        <p:spPr>
          <a:xfrm>
            <a:off x="695325" y="5961876"/>
            <a:ext cx="7345363" cy="707886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Minutes: 2</a:t>
            </a:r>
          </a:p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Seconds: 13</a:t>
            </a:r>
          </a:p>
        </p:txBody>
      </p:sp>
    </p:spTree>
    <p:extLst>
      <p:ext uri="{BB962C8B-B14F-4D97-AF65-F5344CB8AC3E}">
        <p14:creationId xmlns:p14="http://schemas.microsoft.com/office/powerpoint/2010/main" val="4132685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Multiple return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0DE87-F969-4C2B-9F00-8B5A43BF5BCE}"/>
              </a:ext>
            </a:extLst>
          </p:cNvPr>
          <p:cNvSpPr txBox="1"/>
          <p:nvPr/>
        </p:nvSpPr>
        <p:spPr>
          <a:xfrm>
            <a:off x="695325" y="1484313"/>
            <a:ext cx="7345363" cy="4401205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convert_seconds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minutes and remaining 	seconds.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minutes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remaining_seconds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de-DE" sz="2000" dirty="0">
              <a:solidFill>
                <a:srgbClr val="73A1BB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return minutes, remaining_seconds </a:t>
            </a:r>
          </a:p>
          <a:p>
            <a:endParaRPr lang="de-DE" sz="2000" dirty="0">
              <a:solidFill>
                <a:schemeClr val="bg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m, s = convert_seconds(seconds = 133)</a:t>
            </a:r>
          </a:p>
          <a:p>
            <a:endParaRPr lang="de-DE" sz="2000" dirty="0">
              <a:solidFill>
                <a:schemeClr val="bg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print('Minutes: ', m)</a:t>
            </a:r>
          </a:p>
          <a:p>
            <a:r>
              <a:rPr lang="de-DE" sz="20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print('Seconds: ', 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7BA00-C94F-4BA5-92A2-3208F3B1BA41}"/>
              </a:ext>
            </a:extLst>
          </p:cNvPr>
          <p:cNvSpPr txBox="1"/>
          <p:nvPr/>
        </p:nvSpPr>
        <p:spPr>
          <a:xfrm>
            <a:off x="695325" y="5961876"/>
            <a:ext cx="7345363" cy="707886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Minutes: 2</a:t>
            </a:r>
          </a:p>
          <a:p>
            <a:r>
              <a:rPr lang="de-DE" sz="20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Seconds: 13</a:t>
            </a:r>
          </a:p>
        </p:txBody>
      </p:sp>
    </p:spTree>
    <p:extLst>
      <p:ext uri="{BB962C8B-B14F-4D97-AF65-F5344CB8AC3E}">
        <p14:creationId xmlns:p14="http://schemas.microsoft.com/office/powerpoint/2010/main" val="635120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9BA75AD-69F1-483C-9EE3-1C2B98FB4710}"/>
              </a:ext>
            </a:extLst>
          </p:cNvPr>
          <p:cNvSpPr txBox="1"/>
          <p:nvPr/>
        </p:nvSpPr>
        <p:spPr>
          <a:xfrm>
            <a:off x="695325" y="1484313"/>
            <a:ext cx="7345363" cy="4401205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convert_seconds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minutes and remaining 	seconds.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minutes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remaining_seconds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de-DE" sz="2000" dirty="0">
              <a:solidFill>
                <a:srgbClr val="73A1BB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minutes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remaining_seconds </a:t>
            </a:r>
            <a:endParaRPr lang="de-DE" sz="2000" dirty="0">
              <a:solidFill>
                <a:schemeClr val="tx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convert_seconds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133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solidFill>
                <a:srgbClr val="DB85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'Minutes: 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'Seconds: 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Multiple return</a:t>
            </a:r>
            <a:endParaRPr lang="en-D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FE42F9-3F80-400A-848D-A1715A4ABCCA}"/>
              </a:ext>
            </a:extLst>
          </p:cNvPr>
          <p:cNvSpPr/>
          <p:nvPr/>
        </p:nvSpPr>
        <p:spPr>
          <a:xfrm>
            <a:off x="1181090" y="3918948"/>
            <a:ext cx="4810135" cy="3971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E8679-82DC-4821-9826-1C4EDF53E3F7}"/>
              </a:ext>
            </a:extLst>
          </p:cNvPr>
          <p:cNvSpPr txBox="1"/>
          <p:nvPr/>
        </p:nvSpPr>
        <p:spPr>
          <a:xfrm>
            <a:off x="695325" y="5961876"/>
            <a:ext cx="7345363" cy="707886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Minutes: 2</a:t>
            </a:r>
          </a:p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Seconds: 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009C00-B11E-4D9C-A8B5-ECC994934C92}"/>
              </a:ext>
            </a:extLst>
          </p:cNvPr>
          <p:cNvSpPr txBox="1"/>
          <p:nvPr/>
        </p:nvSpPr>
        <p:spPr>
          <a:xfrm>
            <a:off x="8172449" y="1472357"/>
            <a:ext cx="31813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Return keyword</a:t>
            </a:r>
          </a:p>
          <a:p>
            <a:r>
              <a:rPr lang="de-DE" i="1" dirty="0"/>
              <a:t>Multiple values can be returned by one function. They are separated after the return keyword by a comma.</a:t>
            </a:r>
          </a:p>
          <a:p>
            <a:endParaRPr lang="de-DE" i="1" dirty="0">
              <a:solidFill>
                <a:schemeClr val="bg1"/>
              </a:solidFill>
            </a:endParaRPr>
          </a:p>
          <a:p>
            <a:r>
              <a:rPr lang="de-DE" i="1" dirty="0">
                <a:solidFill>
                  <a:schemeClr val="bg1"/>
                </a:solidFill>
              </a:rPr>
              <a:t>Upon calling all values will be returned. Either separately stored, if the number of variables match, or stored as a tuple.</a:t>
            </a:r>
          </a:p>
        </p:txBody>
      </p:sp>
    </p:spTree>
    <p:extLst>
      <p:ext uri="{BB962C8B-B14F-4D97-AF65-F5344CB8AC3E}">
        <p14:creationId xmlns:p14="http://schemas.microsoft.com/office/powerpoint/2010/main" val="6127230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Multiple return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695325" y="1484313"/>
            <a:ext cx="7345363" cy="4401205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convert_seconds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minutes and remaining 	seconds.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minutes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remaining_seconds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de-DE" sz="2000" dirty="0">
              <a:solidFill>
                <a:srgbClr val="73A1BB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minutes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remaining_seconds </a:t>
            </a:r>
            <a:endParaRPr lang="de-DE" sz="2000" dirty="0">
              <a:solidFill>
                <a:schemeClr val="tx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convert_seconds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133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solidFill>
                <a:srgbClr val="DB85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'Minutes: 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'Seconds: 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695325" y="5961876"/>
            <a:ext cx="7345363" cy="707886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Minutes: 2</a:t>
            </a:r>
          </a:p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Seconds: 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2E7F58-5F41-4353-953A-0439042172E8}"/>
              </a:ext>
            </a:extLst>
          </p:cNvPr>
          <p:cNvSpPr txBox="1"/>
          <p:nvPr/>
        </p:nvSpPr>
        <p:spPr>
          <a:xfrm>
            <a:off x="8172449" y="1472357"/>
            <a:ext cx="31813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Return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Multiple values can be returned by one function. They are separated after the return keyword by a comma.</a:t>
            </a:r>
          </a:p>
          <a:p>
            <a:endParaRPr lang="de-DE" i="1" dirty="0"/>
          </a:p>
          <a:p>
            <a:r>
              <a:rPr lang="de-DE" i="1" dirty="0"/>
              <a:t>Upon calling all values will be returned. Either separately stored, if the number of variables match, or stored as a tuple.</a:t>
            </a:r>
          </a:p>
        </p:txBody>
      </p:sp>
    </p:spTree>
    <p:extLst>
      <p:ext uri="{BB962C8B-B14F-4D97-AF65-F5344CB8AC3E}">
        <p14:creationId xmlns:p14="http://schemas.microsoft.com/office/powerpoint/2010/main" val="3251666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Multiple return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695318" y="1484313"/>
            <a:ext cx="7353307" cy="4093428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convert_seconds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minutes and remaining 	seconds.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minutes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remaining_seconds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seconds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60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de-DE" sz="2000" dirty="0">
              <a:solidFill>
                <a:srgbClr val="73A1BB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minutes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remaining_seconds </a:t>
            </a:r>
            <a:endParaRPr lang="de-DE" sz="2000" dirty="0">
              <a:solidFill>
                <a:schemeClr val="tx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m_and_s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convert_seconds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seconds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133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solidFill>
                <a:srgbClr val="DB85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'Minutes and remaining seconds: '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m_and_s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695325" y="5642407"/>
            <a:ext cx="7353300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Minutes and remaining seconds: (2, 13)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2E7F58-5F41-4353-953A-0439042172E8}"/>
              </a:ext>
            </a:extLst>
          </p:cNvPr>
          <p:cNvSpPr txBox="1"/>
          <p:nvPr/>
        </p:nvSpPr>
        <p:spPr>
          <a:xfrm>
            <a:off x="8172449" y="1472357"/>
            <a:ext cx="31813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Return keyword</a:t>
            </a:r>
          </a:p>
          <a:p>
            <a:r>
              <a:rPr lang="de-DE" i="1" dirty="0">
                <a:solidFill>
                  <a:schemeClr val="tx1">
                    <a:lumMod val="50000"/>
                  </a:schemeClr>
                </a:solidFill>
              </a:rPr>
              <a:t>Multiple values can be returned by one function. They are separated after the return keyword by a comma.</a:t>
            </a:r>
          </a:p>
          <a:p>
            <a:endParaRPr lang="de-DE" i="1" dirty="0"/>
          </a:p>
          <a:p>
            <a:r>
              <a:rPr lang="de-DE" i="1" dirty="0"/>
              <a:t>Upon calling all values will be returned. Either separately stored, if the number of variables match, or stored as a tuple.</a:t>
            </a:r>
          </a:p>
        </p:txBody>
      </p:sp>
    </p:spTree>
    <p:extLst>
      <p:ext uri="{BB962C8B-B14F-4D97-AF65-F5344CB8AC3E}">
        <p14:creationId xmlns:p14="http://schemas.microsoft.com/office/powerpoint/2010/main" val="1102797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Syntax – The perfect Docstring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1D2C5-D6CE-40FA-A311-1FEBF05E952E}"/>
              </a:ext>
            </a:extLst>
          </p:cNvPr>
          <p:cNvSpPr txBox="1"/>
          <p:nvPr/>
        </p:nvSpPr>
        <p:spPr>
          <a:xfrm>
            <a:off x="990600" y="1484313"/>
            <a:ext cx="10210800" cy="5324535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triangle_area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base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height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"""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Calculate the area of a triangle.</a:t>
            </a:r>
          </a:p>
          <a:p>
            <a:endParaRPr lang="en-US" sz="2000" dirty="0">
              <a:solidFill>
                <a:srgbClr val="AC4E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Parameters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----------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base : int or float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The length of the triangle's base.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height : int or float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The height of the triangle measured perpendicular to the base.</a:t>
            </a:r>
          </a:p>
          <a:p>
            <a:endParaRPr lang="en-US" sz="2000" dirty="0">
              <a:solidFill>
                <a:srgbClr val="AC4E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Returns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-------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float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The area of the triangle computed as (base * height) / 2.</a:t>
            </a:r>
          </a:p>
          <a:p>
            <a:r>
              <a:rPr lang="en-US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"""</a:t>
            </a:r>
            <a:endParaRPr lang="de-DE" sz="2000" dirty="0">
              <a:solidFill>
                <a:srgbClr val="AC4E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base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height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FFFF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endParaRPr lang="en-DE" sz="2000" dirty="0"/>
          </a:p>
        </p:txBody>
      </p:sp>
    </p:spTree>
    <p:extLst>
      <p:ext uri="{BB962C8B-B14F-4D97-AF65-F5344CB8AC3E}">
        <p14:creationId xmlns:p14="http://schemas.microsoft.com/office/powerpoint/2010/main" val="6180912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25563-DE36-498A-8381-BCA643BB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 – Things to consider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ADDD8-BDAC-4425-B3E3-86048B389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Any code block can be nested into a function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Variables in functions exsist only there and have to be passed to be accessed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Functions do not have to return something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The number of parameters and returns is unlimited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952759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C6E2-C4C4-413A-9315-C9F0C38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Functions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E05D-E1CD-4761-A681-1A4FE7863B59}"/>
              </a:ext>
            </a:extLst>
          </p:cNvPr>
          <p:cNvSpPr txBox="1"/>
          <p:nvPr/>
        </p:nvSpPr>
        <p:spPr>
          <a:xfrm>
            <a:off x="3495669" y="1767632"/>
            <a:ext cx="5200652" cy="3785652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square_number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This function calculates the 	square of any number.</a:t>
            </a:r>
          </a:p>
          <a:p>
            <a:r>
              <a:rPr lang="de-DE" sz="2000" dirty="0">
                <a:solidFill>
                  <a:srgbClr val="AC4E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'''</a:t>
            </a:r>
          </a:p>
          <a:p>
            <a:r>
              <a:rPr lang="de-DE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</a:p>
          <a:p>
            <a:endParaRPr lang="de-DE" sz="2000" dirty="0">
              <a:solidFill>
                <a:srgbClr val="DCCE8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de-DE" sz="2000" dirty="0">
                <a:solidFill>
                  <a:srgbClr val="C586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square</a:t>
            </a:r>
          </a:p>
          <a:p>
            <a:endParaRPr lang="de-DE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square_number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de-DE" sz="2000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13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2000" dirty="0">
              <a:solidFill>
                <a:srgbClr val="DB851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de-DE" sz="2000" dirty="0">
                <a:solidFill>
                  <a:srgbClr val="DCCE8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>
                <a:solidFill>
                  <a:srgbClr val="73A1B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de-DE" sz="2000" dirty="0">
                <a:solidFill>
                  <a:srgbClr val="DB851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39B9-0A7B-42C9-AB06-BC96912FC6F0}"/>
              </a:ext>
            </a:extLst>
          </p:cNvPr>
          <p:cNvSpPr txBox="1"/>
          <p:nvPr/>
        </p:nvSpPr>
        <p:spPr>
          <a:xfrm>
            <a:off x="3495669" y="5674818"/>
            <a:ext cx="5200658" cy="400110"/>
          </a:xfrm>
          <a:prstGeom prst="rect">
            <a:avLst/>
          </a:prstGeom>
          <a:solidFill>
            <a:srgbClr val="1F1F1F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 169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9A00A-078E-4C63-B677-E6A1C21F6E44}"/>
              </a:ext>
            </a:extLst>
          </p:cNvPr>
          <p:cNvSpPr txBox="1"/>
          <p:nvPr/>
        </p:nvSpPr>
        <p:spPr>
          <a:xfrm>
            <a:off x="219075" y="1690688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Def keyword</a:t>
            </a:r>
          </a:p>
          <a:p>
            <a:r>
              <a:rPr lang="de-DE" i="1" dirty="0"/>
              <a:t>Indicates python that the next lines will be a function </a:t>
            </a:r>
            <a:endParaRPr lang="en-DE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211DA-9256-4C2C-9807-65E9B5E5CF9B}"/>
              </a:ext>
            </a:extLst>
          </p:cNvPr>
          <p:cNvSpPr txBox="1"/>
          <p:nvPr/>
        </p:nvSpPr>
        <p:spPr>
          <a:xfrm>
            <a:off x="219074" y="268069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Function name</a:t>
            </a:r>
          </a:p>
          <a:p>
            <a:r>
              <a:rPr lang="de-DE" i="1" dirty="0"/>
              <a:t>Descriptive name for function</a:t>
            </a:r>
          </a:p>
          <a:p>
            <a:r>
              <a:rPr lang="de-DE" i="1" dirty="0"/>
              <a:t>Convention: Snake caseing </a:t>
            </a:r>
            <a:endParaRPr lang="en-DE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E70-A8C8-4D85-BD33-1A5A5CEBAE4D}"/>
              </a:ext>
            </a:extLst>
          </p:cNvPr>
          <p:cNvSpPr txBox="1"/>
          <p:nvPr/>
        </p:nvSpPr>
        <p:spPr>
          <a:xfrm>
            <a:off x="219073" y="3604023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Round parenthesis</a:t>
            </a:r>
          </a:p>
          <a:p>
            <a:r>
              <a:rPr lang="de-DE" i="1" dirty="0"/>
              <a:t>Parameters to give the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2B56A-3F1A-429F-A614-800E37F30011}"/>
              </a:ext>
            </a:extLst>
          </p:cNvPr>
          <p:cNvSpPr txBox="1"/>
          <p:nvPr/>
        </p:nvSpPr>
        <p:spPr>
          <a:xfrm>
            <a:off x="219072" y="4243983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Colon</a:t>
            </a:r>
          </a:p>
          <a:p>
            <a:r>
              <a:rPr lang="de-DE" i="1" dirty="0"/>
              <a:t>Indicates start of the function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CD05F-DC1B-4E1E-B18A-73DEA510F1EC}"/>
              </a:ext>
            </a:extLst>
          </p:cNvPr>
          <p:cNvSpPr txBox="1"/>
          <p:nvPr/>
        </p:nvSpPr>
        <p:spPr>
          <a:xfrm>
            <a:off x="219071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Function body</a:t>
            </a:r>
          </a:p>
          <a:p>
            <a:r>
              <a:rPr lang="de-DE" i="1" dirty="0"/>
              <a:t>Indented block of code</a:t>
            </a:r>
          </a:p>
          <a:p>
            <a:r>
              <a:rPr lang="de-DE" i="1" dirty="0"/>
              <a:t>Starts with docstring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799A6-AD46-4679-B479-AD75EA262380}"/>
              </a:ext>
            </a:extLst>
          </p:cNvPr>
          <p:cNvSpPr txBox="1"/>
          <p:nvPr/>
        </p:nvSpPr>
        <p:spPr>
          <a:xfrm>
            <a:off x="8905874" y="1690688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Parameters</a:t>
            </a:r>
          </a:p>
          <a:p>
            <a:r>
              <a:rPr lang="de-DE" i="1" dirty="0"/>
              <a:t>Variables defined in the function definition. (Placeholer for value used within the function)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4B33F-4356-4E28-A313-FECFC820D379}"/>
              </a:ext>
            </a:extLst>
          </p:cNvPr>
          <p:cNvSpPr txBox="1"/>
          <p:nvPr/>
        </p:nvSpPr>
        <p:spPr>
          <a:xfrm>
            <a:off x="8905872" y="289101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Argument</a:t>
            </a:r>
          </a:p>
          <a:p>
            <a:r>
              <a:rPr lang="de-DE" i="1" dirty="0"/>
              <a:t>Actual value that is passed to the function when it is called.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9564A5-D5ED-4EFB-AB7A-B42EAA72000D}"/>
              </a:ext>
            </a:extLst>
          </p:cNvPr>
          <p:cNvSpPr txBox="1"/>
          <p:nvPr/>
        </p:nvSpPr>
        <p:spPr>
          <a:xfrm>
            <a:off x="8905872" y="3814347"/>
            <a:ext cx="31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Return keyword</a:t>
            </a:r>
          </a:p>
          <a:p>
            <a:r>
              <a:rPr lang="de-DE" i="1" dirty="0"/>
              <a:t>Statements and variables behind this keyword are returned to the caller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AE9082-3332-4DC9-A2C8-6707E2C7AA03}"/>
              </a:ext>
            </a:extLst>
          </p:cNvPr>
          <p:cNvSpPr txBox="1"/>
          <p:nvPr/>
        </p:nvSpPr>
        <p:spPr>
          <a:xfrm>
            <a:off x="8905872" y="5152987"/>
            <a:ext cx="3181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Function call</a:t>
            </a:r>
          </a:p>
          <a:p>
            <a:r>
              <a:rPr lang="de-DE" i="1" dirty="0"/>
              <a:t>Defined functions are called within the script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4146086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304</TotalTime>
  <Words>2824</Words>
  <Application>Microsoft Office PowerPoint</Application>
  <PresentationFormat>Widescreen</PresentationFormat>
  <Paragraphs>579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Courier New</vt:lpstr>
      <vt:lpstr>Office Theme</vt:lpstr>
      <vt:lpstr> Lesson 6: Functions</vt:lpstr>
      <vt:lpstr>Functions</vt:lpstr>
      <vt:lpstr>Functions</vt:lpstr>
      <vt:lpstr>Functions</vt:lpstr>
      <vt:lpstr>Functions</vt:lpstr>
      <vt:lpstr>Functions – Syntax</vt:lpstr>
      <vt:lpstr>Functions – Syntax</vt:lpstr>
      <vt:lpstr>Functions – Syntax</vt:lpstr>
      <vt:lpstr>Functions – Syntax</vt:lpstr>
      <vt:lpstr>Functions – Syntax</vt:lpstr>
      <vt:lpstr>Functions – Syntax</vt:lpstr>
      <vt:lpstr>Functions – Syntax</vt:lpstr>
      <vt:lpstr>Functions – Syntax – Parameters &amp; Arguments</vt:lpstr>
      <vt:lpstr>Functions – Syntax – Parameters &amp; Arguments</vt:lpstr>
      <vt:lpstr>Functions – Syntax – Parameters &amp; Arguments</vt:lpstr>
      <vt:lpstr>Functions – Syntax – Default parameters</vt:lpstr>
      <vt:lpstr>Functions – Syntax – Return</vt:lpstr>
      <vt:lpstr>Functions – Syntax – Return</vt:lpstr>
      <vt:lpstr>Functions – Syntax – Return</vt:lpstr>
      <vt:lpstr>Functions – Syntax – Return</vt:lpstr>
      <vt:lpstr>Functions – Syntax – Multiple parameters</vt:lpstr>
      <vt:lpstr>Functions – Syntax – Multiple parameters</vt:lpstr>
      <vt:lpstr>Functions – Syntax – Multiple return</vt:lpstr>
      <vt:lpstr>Functions – Syntax – Multiple return</vt:lpstr>
      <vt:lpstr>Functions – Syntax – Multiple return</vt:lpstr>
      <vt:lpstr>Functions – Syntax – Multiple return</vt:lpstr>
      <vt:lpstr>Functions – Syntax – Multiple return</vt:lpstr>
      <vt:lpstr>Functions – Syntax – The perfect Docstring</vt:lpstr>
      <vt:lpstr>Functions – Things to consider</vt:lpstr>
      <vt:lpstr>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6: Functions</dc:title>
  <dc:creator>Moritz Nesseler</dc:creator>
  <cp:lastModifiedBy>Moritz Nesseler</cp:lastModifiedBy>
  <cp:revision>29</cp:revision>
  <dcterms:created xsi:type="dcterms:W3CDTF">2026-03-10T10:50:44Z</dcterms:created>
  <dcterms:modified xsi:type="dcterms:W3CDTF">2026-03-10T15:55:20Z</dcterms:modified>
</cp:coreProperties>
</file>
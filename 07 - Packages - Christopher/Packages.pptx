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1" r:id="rId3"/>
    <p:sldId id="257" r:id="rId4"/>
    <p:sldId id="272" r:id="rId5"/>
    <p:sldId id="273" r:id="rId6"/>
    <p:sldId id="274" r:id="rId7"/>
    <p:sldId id="275" r:id="rId8"/>
    <p:sldId id="276" r:id="rId9"/>
    <p:sldId id="278" r:id="rId10"/>
    <p:sldId id="281" r:id="rId11"/>
    <p:sldId id="280" r:id="rId12"/>
    <p:sldId id="287" r:id="rId13"/>
    <p:sldId id="282" r:id="rId14"/>
    <p:sldId id="283" r:id="rId15"/>
    <p:sldId id="284" r:id="rId16"/>
    <p:sldId id="288" r:id="rId17"/>
    <p:sldId id="279" r:id="rId18"/>
    <p:sldId id="286" r:id="rId19"/>
    <p:sldId id="285" r:id="rId20"/>
    <p:sldId id="289" r:id="rId2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8" autoAdjust="0"/>
    <p:restoredTop sz="94660"/>
  </p:normalViewPr>
  <p:slideViewPr>
    <p:cSldViewPr snapToGrid="0">
      <p:cViewPr>
        <p:scale>
          <a:sx n="73" d="100"/>
          <a:sy n="73" d="100"/>
        </p:scale>
        <p:origin x="50" y="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33C02-9AE9-446E-9130-2DA11BA4721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32AC2-7D39-46D3-BC8F-747BA619F40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5137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2AC2-7D39-46D3-BC8F-747BA619F40F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766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2AC2-7D39-46D3-BC8F-747BA619F40F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962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7E340C-066D-8821-DC9A-266CD4105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9654D92-A2EB-4EF4-A1ED-2AA7C70B4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A0222-935F-EC99-4D79-C9192733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934A37-2F17-8EF5-D9CA-A9E2456FF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A41731-6CFA-8D4D-81B6-667D2FAC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1657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27AB0-4F8F-4782-2639-41DA4F47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315B3B-4909-F6A6-09E1-F359F779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BDE34B-6F63-67C8-D91B-9D7FC7D7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6F7632-6684-ACB5-26C8-2565C4A9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93A95A-4A39-53A7-F82A-4E06AE6D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603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6DDE61-2EA2-D59D-BC72-085DDE57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ED6D52-D807-2E48-2EF6-3576A8591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06FFAC-36C4-5263-5ED0-268DDD97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09F01E-4E8A-3573-4534-7ACA1A47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47A6A1-28A4-B294-27DB-F3C90965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630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2CAD0-E404-3B57-A6C3-27AAFDCD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E7C540-01EF-DDC0-76A4-8D748696C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01F846-D640-F876-C54D-2ED9598D1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0F7D36-81BB-82D1-829F-78183D2C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C48FB3-937F-6A2D-3FF3-9A9AD6B1E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720099-8625-5360-E3A4-9B9D0D0C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1690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C339E6-FE9A-A6B6-DEE3-8FF1FD9B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4CBEFB-D071-AD1E-7FD1-A117E7345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369723-240B-A550-EDF9-2B3468E67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EE098E4-32BE-1A80-39D6-3D9F5684A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C3D9A0-5884-FCEC-1C76-A21772937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EF9869D-B754-9340-20A3-9461BBFF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9E11AAC-AA10-5478-9776-DCE57AA2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AA351D-82E6-35B4-AE88-BDBEE0F8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809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770A32-BB6D-8EC1-79EA-B13F27B5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51E6C7-13EE-7929-1B2A-2C357D4D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CA6258-8E4E-B5BF-CAE9-FE7E0C68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30D58C-C4F9-D59D-7907-1ED585C0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4381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3C22C9-89FA-BE5D-1AD9-135311C36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AB43A8-124A-5960-0D12-9B2724078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99E9E1-AFB2-1447-B46B-E9D0EB1C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033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D1BA6D-04E6-6EF8-C925-2EF0972D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17B706-1315-5E8B-09FA-B2EE0952D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DDC0FC-039A-FAE0-B6E3-52FA25B09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BA0B58-49AB-F561-E077-392FA532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ACD214-891A-B50E-599E-F1D27DF7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8EEA50-A958-04BB-70B9-5B394505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173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82B4-E755-5407-4ED9-437B6C1E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B6340A-E9BC-A925-DEE4-7C9932936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DC8509-CE77-D33F-2DC8-0CD92B005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DEBFD5-F48C-A58A-7603-231D0603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EE185C-2579-B29F-BD4B-5BE25798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8861DA-83D3-4F9D-22E7-F651A380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556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2E4BBF-063C-0E63-6DBE-5A39531B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CA5F00E-331F-33EB-842A-71E9291FD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CD8967-4C3E-E481-9036-5235C3F0F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43DFC3-B664-9BAF-3DF6-B1A30E5E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F1757A-60FE-A32A-92F6-D3B0F379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83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F05B-7168-0BD8-357E-1DADBD615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FE3DC0-1CA2-FF99-4386-2606A49AB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E9CD3E-F504-0245-858E-05B1175A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C367AE-57DB-74A3-E33A-6131633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BD8BD5-3714-C791-32F2-46C5D677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4336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7A9C91-1826-CE0A-9752-9EE454E28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43EB93-FA71-06ED-96DC-677ECB8CA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2AB7FF-3FE4-75A2-CAB8-501612582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1AFC9-9E17-4739-A7CB-6D25921D868E}" type="datetimeFigureOut">
              <a:rPr lang="en-DE" smtClean="0"/>
              <a:t>22/03/2026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744A4D-907E-1B5B-CF9C-3FA18E2D3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7601EB-BF3D-0ED3-B73F-AF0ECD8BF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4F175-2517-4500-9F0C-CE9C77424E5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556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CEFE9-EA40-12F1-A63B-54004A58E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Packages</a:t>
            </a:r>
            <a:endParaRPr lang="en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5FB8919-BE78-B1C8-E5A4-B8E14FC73D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Python Coding Workshop</a:t>
            </a:r>
          </a:p>
          <a:p>
            <a:r>
              <a:rPr lang="en-US" dirty="0"/>
              <a:t>23.03.2026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66165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311C-E234-4307-B2F1-35F33D19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Functions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1496-A855-410D-B4BC-94E503A80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30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... a resuable block of code that performs a specific task.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Analogy: Coffee Machine</a:t>
            </a:r>
          </a:p>
          <a:p>
            <a:r>
              <a:rPr lang="de-DE" dirty="0"/>
              <a:t>Has functions for different types of coffee</a:t>
            </a:r>
          </a:p>
          <a:p>
            <a:r>
              <a:rPr lang="de-DE" dirty="0"/>
              <a:t>Performs the same task for each type of coffee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Analogy: Alien</a:t>
            </a:r>
          </a:p>
          <a:p>
            <a:r>
              <a:rPr lang="de-DE" dirty="0"/>
              <a:t>Alf knows all the steps to get a coffee</a:t>
            </a:r>
          </a:p>
          <a:p>
            <a:r>
              <a:rPr lang="de-DE" dirty="0"/>
              <a:t>You just have to ask him (call upon him)</a:t>
            </a:r>
            <a:endParaRPr lang="en-DE" dirty="0"/>
          </a:p>
        </p:txBody>
      </p:sp>
      <p:pic>
        <p:nvPicPr>
          <p:cNvPr id="4" name="Grafik 5">
            <a:extLst>
              <a:ext uri="{FF2B5EF4-FFF2-40B4-BE49-F238E27FC236}">
                <a16:creationId xmlns:a16="http://schemas.microsoft.com/office/drawing/2014/main" id="{F6E86B90-2881-4C42-9F5F-BEDFF90D1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4868420"/>
            <a:ext cx="1704880" cy="1704880"/>
          </a:xfrm>
          <a:prstGeom prst="rect">
            <a:avLst/>
          </a:prstGeom>
        </p:spPr>
      </p:pic>
      <p:pic>
        <p:nvPicPr>
          <p:cNvPr id="5" name="Grafik 6">
            <a:extLst>
              <a:ext uri="{FF2B5EF4-FFF2-40B4-BE49-F238E27FC236}">
                <a16:creationId xmlns:a16="http://schemas.microsoft.com/office/drawing/2014/main" id="{FE7AF8B7-0E90-49B9-9C5A-9B6D3E8AF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197" y="4538781"/>
            <a:ext cx="1522413" cy="2106004"/>
          </a:xfrm>
          <a:prstGeom prst="rect">
            <a:avLst/>
          </a:prstGeom>
        </p:spPr>
      </p:pic>
      <p:pic>
        <p:nvPicPr>
          <p:cNvPr id="6" name="Grafik 8">
            <a:extLst>
              <a:ext uri="{FF2B5EF4-FFF2-40B4-BE49-F238E27FC236}">
                <a16:creationId xmlns:a16="http://schemas.microsoft.com/office/drawing/2014/main" id="{E911B0ED-C553-4E7B-B48E-03CB02BC2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368" y="5026633"/>
            <a:ext cx="1693237" cy="138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5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268CEB-3CD1-4A4F-C38F-5E8B7361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2CCE02-5CE9-A7D5-C346-430B19113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17695" cy="4351338"/>
          </a:xfrm>
        </p:spPr>
        <p:txBody>
          <a:bodyPr/>
          <a:lstStyle/>
          <a:p>
            <a:r>
              <a:rPr lang="en-US" dirty="0"/>
              <a:t>Code can get messy, when you have a lot of functions</a:t>
            </a:r>
          </a:p>
          <a:p>
            <a:r>
              <a:rPr lang="en-US" dirty="0"/>
              <a:t>Packages are collections of functions</a:t>
            </a:r>
          </a:p>
          <a:p>
            <a:r>
              <a:rPr lang="en-US" dirty="0"/>
              <a:t>One script – a lot functions</a:t>
            </a:r>
          </a:p>
          <a:p>
            <a:pPr lvl="1"/>
            <a:r>
              <a:rPr lang="en-US" dirty="0"/>
              <a:t>Harder to reuse</a:t>
            </a:r>
          </a:p>
          <a:p>
            <a:pPr lvl="1"/>
            <a:r>
              <a:rPr lang="en-US" dirty="0"/>
              <a:t>Another script – another bunch of functions?</a:t>
            </a:r>
          </a:p>
          <a:p>
            <a:pPr lvl="1"/>
            <a:endParaRPr lang="en-US" dirty="0"/>
          </a:p>
          <a:p>
            <a:r>
              <a:rPr lang="en-US" dirty="0"/>
              <a:t>You can write your own packages or use packages from the open source community</a:t>
            </a:r>
          </a:p>
          <a:p>
            <a:endParaRPr lang="en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14D230F-E17D-BCE9-5C52-9171D39B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341" y="0"/>
            <a:ext cx="2926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6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D202C-2E26-AE27-4DCA-17B20808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Build your own package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59AA6A-3413-5DA8-31B6-E66516FD1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a new python file</a:t>
            </a:r>
          </a:p>
          <a:p>
            <a:pPr lvl="1"/>
            <a:r>
              <a:rPr lang="en-US" dirty="0"/>
              <a:t>Add a function to add two numbers</a:t>
            </a:r>
          </a:p>
          <a:p>
            <a:r>
              <a:rPr lang="en-US" dirty="0"/>
              <a:t>Save it as “my_package.py”</a:t>
            </a:r>
          </a:p>
          <a:p>
            <a:r>
              <a:rPr lang="en-US" dirty="0"/>
              <a:t>Open a new python file</a:t>
            </a:r>
          </a:p>
          <a:p>
            <a:pPr lvl="1"/>
            <a:r>
              <a:rPr lang="en-US" dirty="0"/>
              <a:t>Add at first “import </a:t>
            </a:r>
            <a:r>
              <a:rPr lang="en-US" dirty="0" err="1"/>
              <a:t>my_package</a:t>
            </a:r>
            <a:r>
              <a:rPr lang="en-US" dirty="0"/>
              <a:t>”</a:t>
            </a:r>
          </a:p>
          <a:p>
            <a:r>
              <a:rPr lang="en-US" dirty="0"/>
              <a:t>Type “</a:t>
            </a:r>
            <a:r>
              <a:rPr lang="en-US" dirty="0" err="1"/>
              <a:t>my_package</a:t>
            </a:r>
            <a:r>
              <a:rPr lang="en-US" dirty="0"/>
              <a:t>.”</a:t>
            </a:r>
          </a:p>
          <a:p>
            <a:r>
              <a:rPr lang="en-US" dirty="0"/>
              <a:t>Describe what happens</a:t>
            </a:r>
          </a:p>
          <a:p>
            <a:r>
              <a:rPr lang="en-US" dirty="0"/>
              <a:t>Extend your package my another function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99709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87D41D9-E438-6E65-4F90-BABCA21F6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90" y="525000"/>
            <a:ext cx="4505325" cy="25908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23F1FDE-1FCB-C510-7036-099B57E14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876" y="3429000"/>
            <a:ext cx="7315200" cy="286702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5929BB3-4A41-ED90-8626-5CADDE59AE2E}"/>
              </a:ext>
            </a:extLst>
          </p:cNvPr>
          <p:cNvSpPr txBox="1"/>
          <p:nvPr/>
        </p:nvSpPr>
        <p:spPr>
          <a:xfrm>
            <a:off x="5465499" y="862149"/>
            <a:ext cx="5099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Your Package</a:t>
            </a:r>
            <a:endParaRPr lang="en-DE" sz="5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FEB9F91-475A-1FDD-854E-B47144F005EC}"/>
              </a:ext>
            </a:extLst>
          </p:cNvPr>
          <p:cNvSpPr txBox="1"/>
          <p:nvPr/>
        </p:nvSpPr>
        <p:spPr>
          <a:xfrm>
            <a:off x="202036" y="4400847"/>
            <a:ext cx="3580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Your script</a:t>
            </a:r>
            <a:endParaRPr lang="en-DE" sz="5400" dirty="0"/>
          </a:p>
        </p:txBody>
      </p:sp>
    </p:spTree>
    <p:extLst>
      <p:ext uri="{BB962C8B-B14F-4D97-AF65-F5344CB8AC3E}">
        <p14:creationId xmlns:p14="http://schemas.microsoft.com/office/powerpoint/2010/main" val="26993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593B9-684E-198C-BB53-7A85AC0C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single functions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B39C1A-975E-AFFD-C3BD-A3FE22AC2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/>
          <a:lstStyle/>
          <a:p>
            <a:r>
              <a:rPr lang="en-US" dirty="0"/>
              <a:t>It can be useful to only import single functions</a:t>
            </a:r>
          </a:p>
          <a:p>
            <a:r>
              <a:rPr lang="en-US" dirty="0"/>
              <a:t>Some packages are pretty large and will decrease your performance, when they are fully imported</a:t>
            </a:r>
            <a:endParaRPr lang="en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CC825B2-E547-9989-E64D-9C154070D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991" y="3713443"/>
            <a:ext cx="91154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3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0B1D-C586-49A2-EC87-8F29BBE9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C0FEEB-0210-55E0-8EA1-9A8A40D08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single functions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2016C8-C624-CEBB-349B-A9825AB3E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/>
          <a:lstStyle/>
          <a:p>
            <a:r>
              <a:rPr lang="en-US" dirty="0"/>
              <a:t>It can be useful to only import single functions</a:t>
            </a:r>
          </a:p>
          <a:p>
            <a:r>
              <a:rPr lang="en-US" dirty="0"/>
              <a:t>Some packages are pretty large and will decrease your performance, when they are fully imported</a:t>
            </a:r>
            <a:endParaRPr lang="en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F3E2F26-437E-0381-3FAC-776C3416C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991" y="3713443"/>
            <a:ext cx="9115425" cy="26289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65D3A21-705D-4719-D205-83612C8045E0}"/>
              </a:ext>
            </a:extLst>
          </p:cNvPr>
          <p:cNvSpPr txBox="1"/>
          <p:nvPr/>
        </p:nvSpPr>
        <p:spPr>
          <a:xfrm>
            <a:off x="240356" y="3817946"/>
            <a:ext cx="2157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Unused package</a:t>
            </a:r>
            <a:endParaRPr lang="en-DE" sz="20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E5872F-16E2-6B28-12CB-4AEF38040FE7}"/>
              </a:ext>
            </a:extLst>
          </p:cNvPr>
          <p:cNvSpPr txBox="1"/>
          <p:nvPr/>
        </p:nvSpPr>
        <p:spPr>
          <a:xfrm>
            <a:off x="240356" y="4736087"/>
            <a:ext cx="2157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Undefined function</a:t>
            </a:r>
            <a:endParaRPr lang="en-DE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8A92F3B-C556-E694-4050-54A602F8C2CC}"/>
              </a:ext>
            </a:extLst>
          </p:cNvPr>
          <p:cNvSpPr txBox="1"/>
          <p:nvPr/>
        </p:nvSpPr>
        <p:spPr>
          <a:xfrm>
            <a:off x="240356" y="5654229"/>
            <a:ext cx="2157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Undefined function (and not imported)</a:t>
            </a:r>
            <a:endParaRPr lang="en-DE" sz="2000" dirty="0"/>
          </a:p>
        </p:txBody>
      </p:sp>
    </p:spTree>
    <p:extLst>
      <p:ext uri="{BB962C8B-B14F-4D97-AF65-F5344CB8AC3E}">
        <p14:creationId xmlns:p14="http://schemas.microsoft.com/office/powerpoint/2010/main" val="4192293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684BA-22FA-B937-65EC-5FE1C604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2E0562-CABB-A357-F283-DBE32392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II: Correct the shown code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9ED32D-AE78-EDBE-0607-E7F28CF43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/>
          <a:lstStyle/>
          <a:p>
            <a:r>
              <a:rPr lang="en-US" dirty="0"/>
              <a:t>It can be useful to only import single functions</a:t>
            </a:r>
          </a:p>
          <a:p>
            <a:r>
              <a:rPr lang="en-US" dirty="0"/>
              <a:t>Some packages are pretty large and will decrease your performance, when they are fully imported</a:t>
            </a:r>
            <a:endParaRPr lang="en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2508E5E-7E3C-926D-1B1C-68816CF2A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991" y="3713443"/>
            <a:ext cx="9115425" cy="26289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A4319D10-9DB9-9A03-83F6-D2350C5B4BD8}"/>
              </a:ext>
            </a:extLst>
          </p:cNvPr>
          <p:cNvSpPr txBox="1"/>
          <p:nvPr/>
        </p:nvSpPr>
        <p:spPr>
          <a:xfrm>
            <a:off x="240356" y="3817946"/>
            <a:ext cx="2157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Unused package</a:t>
            </a:r>
            <a:endParaRPr lang="en-DE" sz="20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DF6A56C-D328-3E7A-6327-5F15BB5423B4}"/>
              </a:ext>
            </a:extLst>
          </p:cNvPr>
          <p:cNvSpPr txBox="1"/>
          <p:nvPr/>
        </p:nvSpPr>
        <p:spPr>
          <a:xfrm>
            <a:off x="240356" y="4736087"/>
            <a:ext cx="2157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Undefined function</a:t>
            </a:r>
            <a:endParaRPr lang="en-DE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A0519B0-51CC-B147-29A7-A79F213D792B}"/>
              </a:ext>
            </a:extLst>
          </p:cNvPr>
          <p:cNvSpPr txBox="1"/>
          <p:nvPr/>
        </p:nvSpPr>
        <p:spPr>
          <a:xfrm>
            <a:off x="240356" y="5654229"/>
            <a:ext cx="2157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Undefined function (and not imported)</a:t>
            </a:r>
            <a:endParaRPr lang="en-DE" sz="2000" dirty="0"/>
          </a:p>
        </p:txBody>
      </p:sp>
    </p:spTree>
    <p:extLst>
      <p:ext uri="{BB962C8B-B14F-4D97-AF65-F5344CB8AC3E}">
        <p14:creationId xmlns:p14="http://schemas.microsoft.com/office/powerpoint/2010/main" val="82612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1B060-C190-60E4-05F8-7C0C91BF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4E7B6C-7A18-B4D9-02B3-FB422ED1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8463" cy="4351338"/>
          </a:xfrm>
        </p:spPr>
        <p:txBody>
          <a:bodyPr/>
          <a:lstStyle/>
          <a:p>
            <a:r>
              <a:rPr lang="en-US" dirty="0"/>
              <a:t>No need to call the package, when you imported single functions</a:t>
            </a:r>
          </a:p>
          <a:p>
            <a:r>
              <a:rPr lang="en-US" dirty="0"/>
              <a:t>Packages are similar to folders</a:t>
            </a:r>
          </a:p>
          <a:p>
            <a:r>
              <a:rPr lang="en-US" dirty="0"/>
              <a:t>If you import a full package, you have to write “</a:t>
            </a:r>
            <a:r>
              <a:rPr lang="en-US" dirty="0" err="1"/>
              <a:t>package.function</a:t>
            </a:r>
            <a:r>
              <a:rPr lang="en-US" dirty="0"/>
              <a:t>”</a:t>
            </a:r>
          </a:p>
          <a:p>
            <a:r>
              <a:rPr lang="en-US" dirty="0"/>
              <a:t>If you import single functions, the name of the function is enough to call</a:t>
            </a:r>
            <a:endParaRPr lang="en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FEB1E2-1F97-B60E-E65F-7C3F99D9A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3" t="32914" r="75317" b="52381"/>
          <a:stretch>
            <a:fillRect/>
          </a:stretch>
        </p:blipFill>
        <p:spPr>
          <a:xfrm>
            <a:off x="6406024" y="2638697"/>
            <a:ext cx="4803399" cy="212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1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E6EC68-D7F5-0C21-8DAE-7090CB6A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III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6C5349-A19D-1F8E-561A-5F9333E5D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259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 a package for different dices</a:t>
            </a:r>
          </a:p>
          <a:p>
            <a:r>
              <a:rPr lang="en-US" dirty="0"/>
              <a:t>You can import packages into your package</a:t>
            </a:r>
          </a:p>
          <a:p>
            <a:r>
              <a:rPr lang="en-US" dirty="0"/>
              <a:t>Create a function for a 6-sided, 8-sided and 20-sided dice</a:t>
            </a:r>
          </a:p>
          <a:p>
            <a:r>
              <a:rPr lang="en-US" dirty="0"/>
              <a:t>Depending on the outcome, write if-statements for specific outputs for certain values (“You hit a 20! That’s awesome!”)</a:t>
            </a:r>
          </a:p>
          <a:p>
            <a:r>
              <a:rPr lang="en-US" dirty="0"/>
              <a:t>In your </a:t>
            </a:r>
            <a:r>
              <a:rPr lang="en-US" dirty="0" err="1"/>
              <a:t>mainscript</a:t>
            </a:r>
            <a:r>
              <a:rPr lang="en-US" dirty="0"/>
              <a:t>: Write a for-loop to roll the dice a lot of times</a:t>
            </a:r>
          </a:p>
          <a:p>
            <a:endParaRPr lang="en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B2C005-0F03-A828-F2FC-94275321D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2" t="33262" r="75060" b="53834"/>
          <a:stretch>
            <a:fillRect/>
          </a:stretch>
        </p:blipFill>
        <p:spPr>
          <a:xfrm>
            <a:off x="7519590" y="1767405"/>
            <a:ext cx="4320148" cy="166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15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2432398-DA8E-05CA-C400-4399803BD8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Important Packages</a:t>
            </a:r>
            <a:endParaRPr lang="en-DE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F96B4695-9C0E-CE27-59FD-140079D78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Hitchikers</a:t>
            </a:r>
            <a:r>
              <a:rPr lang="en-US" dirty="0"/>
              <a:t> guide to scientific programming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73505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320B997-394E-6DB6-1D58-1706F5767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numpy</a:t>
            </a:r>
            <a:r>
              <a:rPr lang="en-US" dirty="0"/>
              <a:t> route</a:t>
            </a:r>
            <a:endParaRPr lang="en-DE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416AF7BE-7417-8668-4556-6E62A1FFFD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6182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D7271A-8450-8946-BDD7-943E0B848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4FA7DF-0454-A7BD-45AC-28432AE14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with numerical data (arrays)</a:t>
            </a:r>
          </a:p>
          <a:p>
            <a:r>
              <a:rPr lang="en-US" dirty="0"/>
              <a:t>Fast operations on many values at once</a:t>
            </a:r>
          </a:p>
          <a:p>
            <a:r>
              <a:rPr lang="en-US" dirty="0"/>
              <a:t>Foundation for scientific computing</a:t>
            </a:r>
          </a:p>
          <a:p>
            <a:r>
              <a:rPr lang="en-US" dirty="0"/>
              <a:t>Feels more “mathematical” than normal Python lists</a:t>
            </a:r>
            <a:endParaRPr lang="en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8C72A9C-E85F-87EF-E164-981E3399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97" t="33219" r="72794" b="50781"/>
          <a:stretch>
            <a:fillRect/>
          </a:stretch>
        </p:blipFill>
        <p:spPr>
          <a:xfrm>
            <a:off x="751972" y="4211465"/>
            <a:ext cx="5203787" cy="22814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C14235F-4733-E03A-2545-609C0BD423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73" t="79010" r="35270" b="14057"/>
          <a:stretch>
            <a:fillRect/>
          </a:stretch>
        </p:blipFill>
        <p:spPr>
          <a:xfrm>
            <a:off x="6603049" y="4862631"/>
            <a:ext cx="4836979" cy="163024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845E7DC-6FE7-6DD5-271C-D2AE2B2D343A}"/>
              </a:ext>
            </a:extLst>
          </p:cNvPr>
          <p:cNvSpPr txBox="1"/>
          <p:nvPr/>
        </p:nvSpPr>
        <p:spPr>
          <a:xfrm>
            <a:off x="7623483" y="4211465"/>
            <a:ext cx="1441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</a:t>
            </a:r>
            <a:endParaRPr lang="en-DE" sz="3200" dirty="0"/>
          </a:p>
        </p:txBody>
      </p:sp>
    </p:spTree>
    <p:extLst>
      <p:ext uri="{BB962C8B-B14F-4D97-AF65-F5344CB8AC3E}">
        <p14:creationId xmlns:p14="http://schemas.microsoft.com/office/powerpoint/2010/main" val="174426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E2ECC-AEC5-AD67-2625-D0BA4301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5AB63A-5A5A-948D-B30B-CEC05CE2F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Advanced math and statistics functions</a:t>
            </a:r>
          </a:p>
          <a:p>
            <a:r>
              <a:rPr lang="en-US" dirty="0"/>
              <a:t>Built on top of NumPy</a:t>
            </a:r>
          </a:p>
          <a:p>
            <a:r>
              <a:rPr lang="en-US" dirty="0"/>
              <a:t>Includes optimization, distributions, tests</a:t>
            </a:r>
          </a:p>
          <a:p>
            <a:r>
              <a:rPr lang="en-US" dirty="0"/>
              <a:t>More powerful, but more complex</a:t>
            </a:r>
            <a:endParaRPr lang="en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AC2EF78-6757-E105-15BE-20CBDA361E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54" t="33828" r="72127" b="52000"/>
          <a:stretch>
            <a:fillRect/>
          </a:stretch>
        </p:blipFill>
        <p:spPr>
          <a:xfrm>
            <a:off x="517288" y="3873811"/>
            <a:ext cx="5002198" cy="187582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E65327A-9431-BB30-1F5D-065CC23C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59" t="80762" r="2254" b="14438"/>
          <a:stretch>
            <a:fillRect/>
          </a:stretch>
        </p:blipFill>
        <p:spPr>
          <a:xfrm>
            <a:off x="3091667" y="6062450"/>
            <a:ext cx="8886097" cy="58477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733DC28-DE47-4DA9-DCAF-EA132FE85CE4}"/>
              </a:ext>
            </a:extLst>
          </p:cNvPr>
          <p:cNvSpPr txBox="1"/>
          <p:nvPr/>
        </p:nvSpPr>
        <p:spPr>
          <a:xfrm>
            <a:off x="7684061" y="5457251"/>
            <a:ext cx="1441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Output</a:t>
            </a:r>
            <a:endParaRPr lang="en-DE" sz="3200" dirty="0"/>
          </a:p>
        </p:txBody>
      </p:sp>
    </p:spTree>
    <p:extLst>
      <p:ext uri="{BB962C8B-B14F-4D97-AF65-F5344CB8AC3E}">
        <p14:creationId xmlns:p14="http://schemas.microsoft.com/office/powerpoint/2010/main" val="2105578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65A9F-EF2D-F3E0-CC30-76E950C2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 (see Module 10)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44B694-54B1-F0DC-BC62-118EF75E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plots and charts (line, bar, etc.)</a:t>
            </a:r>
          </a:p>
          <a:p>
            <a:r>
              <a:rPr lang="en-US" dirty="0"/>
              <a:t>Very flexible and customizable</a:t>
            </a:r>
          </a:p>
          <a:p>
            <a:r>
              <a:rPr lang="en-US" dirty="0"/>
              <a:t>Works well with NumPy data</a:t>
            </a:r>
          </a:p>
          <a:p>
            <a:r>
              <a:rPr lang="en-US" dirty="0"/>
              <a:t>More control, but more code</a:t>
            </a:r>
            <a:endParaRPr lang="en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5BD1A60-EA10-EA4C-97DC-C44E2B0AD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0" t="32914" r="73270" b="49181"/>
          <a:stretch>
            <a:fillRect/>
          </a:stretch>
        </p:blipFill>
        <p:spPr>
          <a:xfrm>
            <a:off x="491162" y="4018135"/>
            <a:ext cx="4591767" cy="233563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1971955-7263-CDE7-AAAC-E50C115DC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160" y="3167699"/>
            <a:ext cx="4698413" cy="336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24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3D924-DAE8-61B7-763C-F91194500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B8545A-68B1-8AB1-D549-340C807A60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pandas route</a:t>
            </a:r>
            <a:endParaRPr lang="en-DE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5F9CFC45-DB60-2960-10B6-7FD7E9A02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2646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173D7-0A1C-805B-F452-895C84C5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A19B8E-996C-D87E-F132-967B9E71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with tables (</a:t>
            </a:r>
            <a:r>
              <a:rPr lang="en-US" dirty="0" err="1"/>
              <a:t>DataFrames</a:t>
            </a:r>
            <a:r>
              <a:rPr lang="en-US" dirty="0"/>
              <a:t>)</a:t>
            </a:r>
          </a:p>
          <a:p>
            <a:r>
              <a:rPr lang="en-US" dirty="0"/>
              <a:t>Like Excel, but in Python</a:t>
            </a:r>
          </a:p>
          <a:p>
            <a:r>
              <a:rPr lang="en-US" dirty="0"/>
              <a:t>Easy data analysis (filter, sort, group)</a:t>
            </a:r>
          </a:p>
          <a:p>
            <a:r>
              <a:rPr lang="en-US" dirty="0"/>
              <a:t>Great for real-world datasets (CSV, etc.)</a:t>
            </a:r>
            <a:endParaRPr lang="en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D0F4DD-A540-05C0-7E9A-C96D7CF66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8" t="33524" r="64365" b="43086"/>
          <a:stretch>
            <a:fillRect/>
          </a:stretch>
        </p:blipFill>
        <p:spPr>
          <a:xfrm>
            <a:off x="838200" y="4059936"/>
            <a:ext cx="5371106" cy="25446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87CA18C-B6B2-38C1-74BA-52F1B0B0BD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546" t="66708" r="34175" b="14196"/>
          <a:stretch>
            <a:fillRect/>
          </a:stretch>
        </p:blipFill>
        <p:spPr>
          <a:xfrm>
            <a:off x="7869066" y="4067139"/>
            <a:ext cx="3035808" cy="253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4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B1B3A-9FAA-0F29-5686-3B05B75D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Pingouin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4127E1-EBC5-F4FF-A5E6-E3C35865B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statistical analysis</a:t>
            </a:r>
          </a:p>
          <a:p>
            <a:r>
              <a:rPr lang="en-US" dirty="0"/>
              <a:t>Works with pandas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Includes tests like t-test, ANOVA, correlations</a:t>
            </a:r>
          </a:p>
          <a:p>
            <a:r>
              <a:rPr lang="en-US" dirty="0"/>
              <a:t>Easy to use, but requires some statistics understanding</a:t>
            </a:r>
            <a:endParaRPr lang="en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2CE482D-ACB6-6A64-174F-C8CAD30CE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77" t="19581" r="63413" b="60228"/>
          <a:stretch>
            <a:fillRect/>
          </a:stretch>
        </p:blipFill>
        <p:spPr>
          <a:xfrm>
            <a:off x="569541" y="4001294"/>
            <a:ext cx="5484327" cy="217566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AF79866-99C3-E184-CA22-343AD8AA4A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65" t="80671" r="16270" b="14438"/>
          <a:stretch>
            <a:fillRect/>
          </a:stretch>
        </p:blipFill>
        <p:spPr>
          <a:xfrm>
            <a:off x="6285950" y="4936770"/>
            <a:ext cx="5748115" cy="55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3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D78DFB-7850-17D7-1906-6B3EF29A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Seaborn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DE919B-18FC-2379-453D-835F79994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data visualization</a:t>
            </a:r>
          </a:p>
          <a:p>
            <a:r>
              <a:rPr lang="en-US" dirty="0"/>
              <a:t>Built on Matplotlib</a:t>
            </a:r>
          </a:p>
          <a:p>
            <a:r>
              <a:rPr lang="en-US" dirty="0"/>
              <a:t>Works directly with pandas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Less code, nicer default plots</a:t>
            </a:r>
            <a:endParaRPr lang="en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1BE8A30-3FE0-3868-627A-CDD4F1DF4B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0" t="19124" r="67937" b="56648"/>
          <a:stretch>
            <a:fillRect/>
          </a:stretch>
        </p:blipFill>
        <p:spPr>
          <a:xfrm>
            <a:off x="391886" y="3840479"/>
            <a:ext cx="4715776" cy="261257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ECDB2DC-E823-A5F5-DDFB-A1E0D82FB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204" y="3392380"/>
            <a:ext cx="4876190" cy="336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35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AC6AA-7C0C-9F5D-A6F2-73D06DC8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8A6C4D-71EF-9E70-9F68-8125632D8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are your </a:t>
            </a:r>
            <a:r>
              <a:rPr lang="en-US"/>
              <a:t>strongest allies </a:t>
            </a:r>
            <a:r>
              <a:rPr lang="en-US" dirty="0"/>
              <a:t>in being time efficient</a:t>
            </a:r>
          </a:p>
          <a:p>
            <a:r>
              <a:rPr lang="en-US" dirty="0"/>
              <a:t>To unleash their full potential, it is mandatory to know how to read documentations (see the next module)</a:t>
            </a:r>
          </a:p>
          <a:p>
            <a:r>
              <a:rPr lang="en-US" dirty="0"/>
              <a:t>For every task, you should ask yourself: Is there a package for that?</a:t>
            </a:r>
          </a:p>
          <a:p>
            <a:r>
              <a:rPr lang="en-US" dirty="0"/>
              <a:t>Packages have different learning curves</a:t>
            </a:r>
          </a:p>
          <a:p>
            <a:r>
              <a:rPr lang="en-US" dirty="0"/>
              <a:t>As a starter, it is recommended to chose one route and stick to that in the first place. Over time you will learn both routes anyway.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96689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651</Words>
  <Application>Microsoft Office PowerPoint</Application>
  <PresentationFormat>Breitbild</PresentationFormat>
  <Paragraphs>102</Paragraphs>
  <Slides>20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</vt:lpstr>
      <vt:lpstr>Packages</vt:lpstr>
      <vt:lpstr>Functions</vt:lpstr>
      <vt:lpstr>Packages </vt:lpstr>
      <vt:lpstr>Exercise 1: Build your own package</vt:lpstr>
      <vt:lpstr>PowerPoint-Präsentation</vt:lpstr>
      <vt:lpstr>Import single functions</vt:lpstr>
      <vt:lpstr>Import single functions</vt:lpstr>
      <vt:lpstr>Exercise II: Correct the shown code</vt:lpstr>
      <vt:lpstr>Solution</vt:lpstr>
      <vt:lpstr>Exercise III</vt:lpstr>
      <vt:lpstr>Important Packages</vt:lpstr>
      <vt:lpstr>The numpy route</vt:lpstr>
      <vt:lpstr>Numpy</vt:lpstr>
      <vt:lpstr>Scipy</vt:lpstr>
      <vt:lpstr>Matplotlib (see Module 10)</vt:lpstr>
      <vt:lpstr>The pandas route</vt:lpstr>
      <vt:lpstr>Pandas</vt:lpstr>
      <vt:lpstr>Pingouin</vt:lpstr>
      <vt:lpstr>Seaborn</vt:lpstr>
      <vt:lpstr>Take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Wiesbrock</dc:creator>
  <cp:lastModifiedBy>Christopher Wiesbrock</cp:lastModifiedBy>
  <cp:revision>1</cp:revision>
  <dcterms:created xsi:type="dcterms:W3CDTF">2026-03-22T09:58:39Z</dcterms:created>
  <dcterms:modified xsi:type="dcterms:W3CDTF">2026-03-22T11:32:15Z</dcterms:modified>
</cp:coreProperties>
</file>
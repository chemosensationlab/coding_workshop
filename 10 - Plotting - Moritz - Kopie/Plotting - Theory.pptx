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9" r:id="rId3"/>
    <p:sldId id="308" r:id="rId4"/>
    <p:sldId id="260" r:id="rId5"/>
    <p:sldId id="291" r:id="rId6"/>
    <p:sldId id="311" r:id="rId7"/>
    <p:sldId id="294" r:id="rId8"/>
    <p:sldId id="297" r:id="rId9"/>
    <p:sldId id="295" r:id="rId10"/>
    <p:sldId id="296" r:id="rId11"/>
    <p:sldId id="298" r:id="rId12"/>
    <p:sldId id="299" r:id="rId13"/>
    <p:sldId id="300" r:id="rId14"/>
    <p:sldId id="304" r:id="rId15"/>
    <p:sldId id="301" r:id="rId16"/>
    <p:sldId id="312" r:id="rId17"/>
    <p:sldId id="314" r:id="rId18"/>
    <p:sldId id="315" r:id="rId19"/>
    <p:sldId id="303" r:id="rId20"/>
    <p:sldId id="309" r:id="rId21"/>
    <p:sldId id="310" r:id="rId22"/>
    <p:sldId id="305" r:id="rId23"/>
    <p:sldId id="306" r:id="rId24"/>
    <p:sldId id="316" r:id="rId25"/>
    <p:sldId id="317" r:id="rId26"/>
    <p:sldId id="318" r:id="rId27"/>
    <p:sldId id="30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80" userDrawn="1">
          <p15:clr>
            <a:srgbClr val="A4A3A4"/>
          </p15:clr>
        </p15:guide>
        <p15:guide id="2" pos="438" userDrawn="1">
          <p15:clr>
            <a:srgbClr val="A4A3A4"/>
          </p15:clr>
        </p15:guide>
        <p15:guide id="3" pos="50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CE81"/>
    <a:srgbClr val="B5CEA8"/>
    <a:srgbClr val="C586B6"/>
    <a:srgbClr val="569CD6"/>
    <a:srgbClr val="3EC9A4"/>
    <a:srgbClr val="AC4E1F"/>
    <a:srgbClr val="DB851F"/>
    <a:srgbClr val="6A9942"/>
    <a:srgbClr val="6A0000"/>
    <a:srgbClr val="73A1B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05" autoAdjust="0"/>
    <p:restoredTop sz="94660"/>
  </p:normalViewPr>
  <p:slideViewPr>
    <p:cSldViewPr snapToGrid="0" showGuides="1">
      <p:cViewPr varScale="1">
        <p:scale>
          <a:sx n="105" d="100"/>
          <a:sy n="105" d="100"/>
        </p:scale>
        <p:origin x="114" y="354"/>
      </p:cViewPr>
      <p:guideLst>
        <p:guide orient="horz" pos="1480"/>
        <p:guide pos="438"/>
        <p:guide pos="50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2D4B5D-9752-4A5A-887B-7DACD834BFCB}" type="datetimeFigureOut">
              <a:rPr lang="en-DE" smtClean="0"/>
              <a:t>20/04/2026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394928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2D4B5D-9752-4A5A-887B-7DACD834BFCB}" type="datetimeFigureOut">
              <a:rPr lang="en-DE" smtClean="0"/>
              <a:t>20/04/2026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79018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2D4B5D-9752-4A5A-887B-7DACD834BFCB}" type="datetimeFigureOut">
              <a:rPr lang="en-DE" smtClean="0"/>
              <a:t>20/04/2026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1718550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2D4B5D-9752-4A5A-887B-7DACD834BFCB}" type="datetimeFigureOut">
              <a:rPr lang="en-DE" smtClean="0"/>
              <a:t>20/04/2026</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3537286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2D4B5D-9752-4A5A-887B-7DACD834BFCB}" type="datetimeFigureOut">
              <a:rPr lang="en-DE" smtClean="0"/>
              <a:t>20/04/2026</a:t>
            </a:fld>
            <a:endParaRPr lang="en-DE"/>
          </a:p>
        </p:txBody>
      </p:sp>
      <p:sp>
        <p:nvSpPr>
          <p:cNvPr id="8" name="Footer Placeholder 7"/>
          <p:cNvSpPr>
            <a:spLocks noGrp="1"/>
          </p:cNvSpPr>
          <p:nvPr>
            <p:ph type="ftr" sz="quarter" idx="11"/>
          </p:nvPr>
        </p:nvSpPr>
        <p:spPr/>
        <p:txBody>
          <a:bodyPr/>
          <a:lstStyle/>
          <a:p>
            <a:endParaRPr lang="en-DE"/>
          </a:p>
        </p:txBody>
      </p:sp>
      <p:sp>
        <p:nvSpPr>
          <p:cNvPr id="9" name="Slide Number Placeholder 8"/>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910236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2D4B5D-9752-4A5A-887B-7DACD834BFCB}" type="datetimeFigureOut">
              <a:rPr lang="en-DE" smtClean="0"/>
              <a:t>20/04/2026</a:t>
            </a:fld>
            <a:endParaRPr lang="en-DE"/>
          </a:p>
        </p:txBody>
      </p:sp>
      <p:sp>
        <p:nvSpPr>
          <p:cNvPr id="4" name="Footer Placeholder 3"/>
          <p:cNvSpPr>
            <a:spLocks noGrp="1"/>
          </p:cNvSpPr>
          <p:nvPr>
            <p:ph type="ftr" sz="quarter" idx="11"/>
          </p:nvPr>
        </p:nvSpPr>
        <p:spPr/>
        <p:txBody>
          <a:bodyPr/>
          <a:lstStyle/>
          <a:p>
            <a:endParaRPr lang="en-DE"/>
          </a:p>
        </p:txBody>
      </p:sp>
      <p:sp>
        <p:nvSpPr>
          <p:cNvPr id="5" name="Slide Number Placeholder 4"/>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3898642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2D4B5D-9752-4A5A-887B-7DACD834BFCB}" type="datetimeFigureOut">
              <a:rPr lang="en-DE" smtClean="0"/>
              <a:t>20/04/2026</a:t>
            </a:fld>
            <a:endParaRPr lang="en-DE"/>
          </a:p>
        </p:txBody>
      </p:sp>
      <p:sp>
        <p:nvSpPr>
          <p:cNvPr id="3" name="Footer Placeholder 2"/>
          <p:cNvSpPr>
            <a:spLocks noGrp="1"/>
          </p:cNvSpPr>
          <p:nvPr>
            <p:ph type="ftr" sz="quarter" idx="11"/>
          </p:nvPr>
        </p:nvSpPr>
        <p:spPr/>
        <p:txBody>
          <a:bodyPr/>
          <a:lstStyle/>
          <a:p>
            <a:endParaRPr lang="en-DE"/>
          </a:p>
        </p:txBody>
      </p:sp>
      <p:sp>
        <p:nvSpPr>
          <p:cNvPr id="4" name="Slide Number Placeholder 3"/>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2833429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62D4B5D-9752-4A5A-887B-7DACD834BFCB}" type="datetimeFigureOut">
              <a:rPr lang="en-DE" smtClean="0"/>
              <a:t>20/04/2026</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567912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62D4B5D-9752-4A5A-887B-7DACD834BFCB}" type="datetimeFigureOut">
              <a:rPr lang="en-DE" smtClean="0"/>
              <a:t>20/04/2026</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1334851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2D4B5D-9752-4A5A-887B-7DACD834BFCB}" type="datetimeFigureOut">
              <a:rPr lang="en-DE" smtClean="0"/>
              <a:t>20/04/2026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2453679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2D4B5D-9752-4A5A-887B-7DACD834BFCB}" type="datetimeFigureOut">
              <a:rPr lang="en-DE" smtClean="0"/>
              <a:t>20/04/2026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67DCD003-8FFB-487E-8590-CD2BC3D8E6D6}" type="slidenum">
              <a:rPr lang="en-DE" smtClean="0"/>
              <a:t>‹#›</a:t>
            </a:fld>
            <a:endParaRPr lang="en-DE"/>
          </a:p>
        </p:txBody>
      </p:sp>
    </p:spTree>
    <p:extLst>
      <p:ext uri="{BB962C8B-B14F-4D97-AF65-F5344CB8AC3E}">
        <p14:creationId xmlns:p14="http://schemas.microsoft.com/office/powerpoint/2010/main" val="2965475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2D4B5D-9752-4A5A-887B-7DACD834BFCB}" type="datetimeFigureOut">
              <a:rPr lang="en-DE" smtClean="0"/>
              <a:t>20/04/2026</a:t>
            </a:fld>
            <a:endParaRPr lang="en-D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DCD003-8FFB-487E-8590-CD2BC3D8E6D6}" type="slidenum">
              <a:rPr lang="en-DE" smtClean="0"/>
              <a:t>‹#›</a:t>
            </a:fld>
            <a:endParaRPr lang="en-DE"/>
          </a:p>
        </p:txBody>
      </p:sp>
    </p:spTree>
    <p:extLst>
      <p:ext uri="{BB962C8B-B14F-4D97-AF65-F5344CB8AC3E}">
        <p14:creationId xmlns:p14="http://schemas.microsoft.com/office/powerpoint/2010/main" val="83968572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ython-graph-gallery.com/"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C195AE-1201-D94F-C05C-B1618C085860}"/>
              </a:ext>
            </a:extLst>
          </p:cNvPr>
          <p:cNvPicPr>
            <a:picLocks noChangeAspect="1"/>
          </p:cNvPicPr>
          <p:nvPr/>
        </p:nvPicPr>
        <p:blipFill>
          <a:blip r:embed="rId2"/>
          <a:stretch>
            <a:fillRect/>
          </a:stretch>
        </p:blipFill>
        <p:spPr>
          <a:xfrm>
            <a:off x="0" y="0"/>
            <a:ext cx="12192000" cy="6894285"/>
          </a:xfrm>
          <a:prstGeom prst="rect">
            <a:avLst/>
          </a:prstGeom>
        </p:spPr>
      </p:pic>
      <p:sp>
        <p:nvSpPr>
          <p:cNvPr id="2" name="Title 1">
            <a:extLst>
              <a:ext uri="{FF2B5EF4-FFF2-40B4-BE49-F238E27FC236}">
                <a16:creationId xmlns:a16="http://schemas.microsoft.com/office/drawing/2014/main" id="{DB8C8783-1913-4533-A2E4-2D7A7AA990FC}"/>
              </a:ext>
            </a:extLst>
          </p:cNvPr>
          <p:cNvSpPr>
            <a:spLocks noGrp="1"/>
          </p:cNvSpPr>
          <p:nvPr>
            <p:ph type="ctrTitle"/>
          </p:nvPr>
        </p:nvSpPr>
        <p:spPr/>
        <p:txBody>
          <a:bodyPr>
            <a:normAutofit fontScale="90000"/>
          </a:bodyPr>
          <a:lstStyle/>
          <a:p>
            <a:br>
              <a:rPr lang="de-DE" dirty="0"/>
            </a:br>
            <a:r>
              <a:rPr lang="de-DE" dirty="0"/>
              <a:t>Lesson 10:</a:t>
            </a:r>
            <a:br>
              <a:rPr lang="de-DE" dirty="0"/>
            </a:br>
            <a:r>
              <a:rPr lang="de-DE" dirty="0"/>
              <a:t>Plotting</a:t>
            </a:r>
            <a:endParaRPr lang="en-DE" dirty="0"/>
          </a:p>
        </p:txBody>
      </p:sp>
      <p:sp>
        <p:nvSpPr>
          <p:cNvPr id="3" name="Subtitle 2">
            <a:extLst>
              <a:ext uri="{FF2B5EF4-FFF2-40B4-BE49-F238E27FC236}">
                <a16:creationId xmlns:a16="http://schemas.microsoft.com/office/drawing/2014/main" id="{E503C5CE-EC16-405E-AFA3-A59B06935405}"/>
              </a:ext>
            </a:extLst>
          </p:cNvPr>
          <p:cNvSpPr>
            <a:spLocks noGrp="1"/>
          </p:cNvSpPr>
          <p:nvPr>
            <p:ph type="subTitle" idx="1"/>
          </p:nvPr>
        </p:nvSpPr>
        <p:spPr/>
        <p:txBody>
          <a:bodyPr/>
          <a:lstStyle/>
          <a:p>
            <a:r>
              <a:rPr lang="de-DE" dirty="0"/>
              <a:t>By Moritz Nesseler</a:t>
            </a:r>
            <a:endParaRPr lang="en-DE" dirty="0"/>
          </a:p>
        </p:txBody>
      </p:sp>
    </p:spTree>
    <p:extLst>
      <p:ext uri="{BB962C8B-B14F-4D97-AF65-F5344CB8AC3E}">
        <p14:creationId xmlns:p14="http://schemas.microsoft.com/office/powerpoint/2010/main" val="3598490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7EFC8-0349-4FCE-9CFC-F095ECCF37FB}"/>
              </a:ext>
            </a:extLst>
          </p:cNvPr>
          <p:cNvSpPr>
            <a:spLocks noGrp="1"/>
          </p:cNvSpPr>
          <p:nvPr>
            <p:ph type="title"/>
          </p:nvPr>
        </p:nvSpPr>
        <p:spPr/>
        <p:txBody>
          <a:bodyPr/>
          <a:lstStyle/>
          <a:p>
            <a:r>
              <a:rPr lang="de-DE" dirty="0"/>
              <a:t>Plotting ressources</a:t>
            </a:r>
            <a:endParaRPr lang="en-DE" dirty="0"/>
          </a:p>
        </p:txBody>
      </p:sp>
      <p:sp>
        <p:nvSpPr>
          <p:cNvPr id="3" name="Content Placeholder 2">
            <a:extLst>
              <a:ext uri="{FF2B5EF4-FFF2-40B4-BE49-F238E27FC236}">
                <a16:creationId xmlns:a16="http://schemas.microsoft.com/office/drawing/2014/main" id="{AB5005A7-035C-4F4A-9D21-AB0E75F6814D}"/>
              </a:ext>
            </a:extLst>
          </p:cNvPr>
          <p:cNvSpPr>
            <a:spLocks noGrp="1"/>
          </p:cNvSpPr>
          <p:nvPr>
            <p:ph idx="1"/>
          </p:nvPr>
        </p:nvSpPr>
        <p:spPr/>
        <p:txBody>
          <a:bodyPr/>
          <a:lstStyle/>
          <a:p>
            <a:pPr marL="0" indent="0">
              <a:buNone/>
            </a:pPr>
            <a:r>
              <a:rPr lang="de-DE" dirty="0">
                <a:hlinkClick r:id="rId2"/>
              </a:rPr>
              <a:t>python-graph-</a:t>
            </a:r>
            <a:r>
              <a:rPr lang="de-DE" dirty="0" err="1">
                <a:hlinkClick r:id="rId2"/>
              </a:rPr>
              <a:t>gallery.com</a:t>
            </a:r>
            <a:endParaRPr lang="de-DE" dirty="0"/>
          </a:p>
          <a:p>
            <a:endParaRPr lang="de-DE" dirty="0"/>
          </a:p>
          <a:p>
            <a:pPr marL="0" indent="0">
              <a:buNone/>
            </a:pPr>
            <a:r>
              <a:rPr lang="de-DE" dirty="0"/>
              <a:t>Packages</a:t>
            </a:r>
          </a:p>
          <a:p>
            <a:r>
              <a:rPr lang="de-DE" dirty="0"/>
              <a:t>Matplotlib</a:t>
            </a:r>
          </a:p>
          <a:p>
            <a:r>
              <a:rPr lang="de-DE" dirty="0"/>
              <a:t>Seaborn</a:t>
            </a:r>
          </a:p>
          <a:p>
            <a:r>
              <a:rPr lang="de-DE" dirty="0"/>
              <a:t>Plotly</a:t>
            </a:r>
            <a:endParaRPr lang="en-DE" dirty="0"/>
          </a:p>
        </p:txBody>
      </p:sp>
      <p:pic>
        <p:nvPicPr>
          <p:cNvPr id="4" name="Picture 2" descr="Matplotlib documentation — Matplotlib 3.10.8 documentation">
            <a:extLst>
              <a:ext uri="{FF2B5EF4-FFF2-40B4-BE49-F238E27FC236}">
                <a16:creationId xmlns:a16="http://schemas.microsoft.com/office/drawing/2014/main" id="{79D9E8F6-FE96-AC0F-8589-0B016017E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2688" y="2438251"/>
            <a:ext cx="4134126" cy="9907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Discussion of seaborn logo · Issue #2243 · mwaskom/seaborn">
            <a:extLst>
              <a:ext uri="{FF2B5EF4-FFF2-40B4-BE49-F238E27FC236}">
                <a16:creationId xmlns:a16="http://schemas.microsoft.com/office/drawing/2014/main" id="{442EB3FD-6199-E64B-F194-E346A8D7C0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2688" y="3563938"/>
            <a:ext cx="1724908" cy="1724908"/>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Plotly · GitHub">
            <a:extLst>
              <a:ext uri="{FF2B5EF4-FFF2-40B4-BE49-F238E27FC236}">
                <a16:creationId xmlns:a16="http://schemas.microsoft.com/office/drawing/2014/main" id="{AB7F4EFE-0260-450F-4312-786C3C7B8C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21905" y="3563937"/>
            <a:ext cx="1724909" cy="1724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824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E44B7FEB-6238-1164-9935-B8B7F3B08C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503" y="51837"/>
            <a:ext cx="9552993" cy="6754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0414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19F43325-52C0-4C48-8D81-6D74A780CAF4}"/>
              </a:ext>
            </a:extLst>
          </p:cNvPr>
          <p:cNvSpPr txBox="1"/>
          <p:nvPr/>
        </p:nvSpPr>
        <p:spPr>
          <a:xfrm>
            <a:off x="695325" y="1484312"/>
            <a:ext cx="5400675" cy="2554545"/>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de-DE" sz="2000" dirty="0">
                <a:solidFill>
                  <a:srgbClr val="C586B6"/>
                </a:solidFill>
                <a:latin typeface="Consolas" panose="020B0609020204030204" pitchFamily="49" charset="0"/>
                <a:cs typeface="Courier New" panose="02070309020205020404" pitchFamily="49" charset="0"/>
              </a:rPr>
              <a:t>import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matplotlib</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pyplot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C586B6"/>
                </a:solidFill>
                <a:latin typeface="Consolas" panose="020B0609020204030204" pitchFamily="49" charset="0"/>
                <a:cs typeface="Courier New" panose="02070309020205020404" pitchFamily="49" charset="0"/>
              </a:rPr>
              <a:t>as</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plt</a:t>
            </a:r>
          </a:p>
          <a:p>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x</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1</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3</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4</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y</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1</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4</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3</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569CD6"/>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fig</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ax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subplots</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chemeClr val="accent1"/>
                </a:solidFill>
                <a:latin typeface="Consolas" panose="020B0609020204030204" pitchFamily="49" charset="0"/>
                <a:cs typeface="Courier New" panose="02070309020205020404" pitchFamily="49" charset="0"/>
              </a:rPr>
              <a:t>y</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show</a:t>
            </a:r>
            <a:r>
              <a:rPr lang="de-DE" sz="2000" dirty="0">
                <a:solidFill>
                  <a:srgbClr val="DB851F"/>
                </a:solidFill>
                <a:latin typeface="Consolas" panose="020B0609020204030204" pitchFamily="49" charset="0"/>
                <a:cs typeface="Courier New" panose="02070309020205020404" pitchFamily="49" charset="0"/>
              </a:rPr>
              <a:t>()</a:t>
            </a:r>
          </a:p>
        </p:txBody>
      </p:sp>
      <p:sp>
        <p:nvSpPr>
          <p:cNvPr id="2" name="Title 1">
            <a:extLst>
              <a:ext uri="{FF2B5EF4-FFF2-40B4-BE49-F238E27FC236}">
                <a16:creationId xmlns:a16="http://schemas.microsoft.com/office/drawing/2014/main" id="{7298C6E2-C4C4-413A-9315-C9F0C38DCE96}"/>
              </a:ext>
            </a:extLst>
          </p:cNvPr>
          <p:cNvSpPr>
            <a:spLocks noGrp="1"/>
          </p:cNvSpPr>
          <p:nvPr>
            <p:ph type="title"/>
          </p:nvPr>
        </p:nvSpPr>
        <p:spPr/>
        <p:txBody>
          <a:bodyPr/>
          <a:lstStyle/>
          <a:p>
            <a:r>
              <a:rPr lang="de-DE" dirty="0"/>
              <a:t>A basic plot</a:t>
            </a:r>
            <a:endParaRPr lang="en-DE" dirty="0"/>
          </a:p>
        </p:txBody>
      </p:sp>
      <p:pic>
        <p:nvPicPr>
          <p:cNvPr id="1026" name="Picture 2" descr="quick start">
            <a:extLst>
              <a:ext uri="{FF2B5EF4-FFF2-40B4-BE49-F238E27FC236}">
                <a16:creationId xmlns:a16="http://schemas.microsoft.com/office/drawing/2014/main" id="{FB4EADC0-BCED-480B-9DA6-2B8F702435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7534" y="1690688"/>
            <a:ext cx="5587014" cy="4190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359335"/>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F5FED-DF25-4A4A-83BE-0591BD435E36}"/>
              </a:ext>
            </a:extLst>
          </p:cNvPr>
          <p:cNvSpPr>
            <a:spLocks noGrp="1"/>
          </p:cNvSpPr>
          <p:nvPr>
            <p:ph type="title"/>
          </p:nvPr>
        </p:nvSpPr>
        <p:spPr/>
        <p:txBody>
          <a:bodyPr/>
          <a:lstStyle/>
          <a:p>
            <a:r>
              <a:rPr lang="de-DE" dirty="0"/>
              <a:t>Parts of a figure</a:t>
            </a:r>
            <a:endParaRPr lang="en-DE" dirty="0"/>
          </a:p>
        </p:txBody>
      </p:sp>
      <p:pic>
        <p:nvPicPr>
          <p:cNvPr id="2050" name="Picture 2" descr="../../_images/anatomy.png">
            <a:extLst>
              <a:ext uri="{FF2B5EF4-FFF2-40B4-BE49-F238E27FC236}">
                <a16:creationId xmlns:a16="http://schemas.microsoft.com/office/drawing/2014/main" id="{3F0B6AAB-A990-4809-8962-B954859A8B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021" y="1610896"/>
            <a:ext cx="4881979" cy="488197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Plotting with Matplotlib - Janmeppe.com 👋">
            <a:extLst>
              <a:ext uri="{FF2B5EF4-FFF2-40B4-BE49-F238E27FC236}">
                <a16:creationId xmlns:a16="http://schemas.microsoft.com/office/drawing/2014/main" id="{9D1DA37D-0B53-1C67-72A8-C286DCE99D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1564" y="2021856"/>
            <a:ext cx="3847476" cy="3856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140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BB39C-D356-F5BD-C9B0-148600AC8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9FEE39-86AC-A6B9-DC28-87560D5EF13E}"/>
              </a:ext>
            </a:extLst>
          </p:cNvPr>
          <p:cNvSpPr>
            <a:spLocks noGrp="1"/>
          </p:cNvSpPr>
          <p:nvPr>
            <p:ph type="title"/>
          </p:nvPr>
        </p:nvSpPr>
        <p:spPr/>
        <p:txBody>
          <a:bodyPr/>
          <a:lstStyle/>
          <a:p>
            <a:r>
              <a:rPr lang="de-DE" dirty="0"/>
              <a:t>Parts of a figure</a:t>
            </a:r>
            <a:endParaRPr lang="en-DE" dirty="0"/>
          </a:p>
        </p:txBody>
      </p:sp>
      <p:pic>
        <p:nvPicPr>
          <p:cNvPr id="2050" name="Picture 2" descr="../../_images/anatomy.png">
            <a:extLst>
              <a:ext uri="{FF2B5EF4-FFF2-40B4-BE49-F238E27FC236}">
                <a16:creationId xmlns:a16="http://schemas.microsoft.com/office/drawing/2014/main" id="{47D25F7D-13AD-624E-B11D-885899BFFE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021" y="1610896"/>
            <a:ext cx="4881979" cy="488197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A56FC3F-8FE7-5ED0-27C0-7B91EF195542}"/>
              </a:ext>
            </a:extLst>
          </p:cNvPr>
          <p:cNvSpPr txBox="1"/>
          <p:nvPr/>
        </p:nvSpPr>
        <p:spPr>
          <a:xfrm>
            <a:off x="6186060" y="1610896"/>
            <a:ext cx="6005940" cy="4801314"/>
          </a:xfrm>
          <a:prstGeom prst="rect">
            <a:avLst/>
          </a:prstGeom>
          <a:noFill/>
        </p:spPr>
        <p:txBody>
          <a:bodyPr wrap="square" rtlCol="0">
            <a:spAutoFit/>
          </a:bodyPr>
          <a:lstStyle/>
          <a:p>
            <a:r>
              <a:rPr lang="en-US" b="1" u="sng" dirty="0"/>
              <a:t>Figure</a:t>
            </a:r>
          </a:p>
          <a:p>
            <a:r>
              <a:rPr lang="en-US" i="1" dirty="0"/>
              <a:t>The whole figure. The figure keeps track of all the child </a:t>
            </a:r>
            <a:r>
              <a:rPr lang="en-US" b="1" i="1" dirty="0"/>
              <a:t>Axes</a:t>
            </a:r>
            <a:r>
              <a:rPr lang="en-US" i="1" dirty="0"/>
              <a:t>, a group of special Artists (titles, figure legends, </a:t>
            </a:r>
            <a:r>
              <a:rPr lang="en-US" i="1" dirty="0" err="1"/>
              <a:t>colorbars</a:t>
            </a:r>
            <a:r>
              <a:rPr lang="en-US" i="1" dirty="0"/>
              <a:t>, etc.), and even nested subfigures.</a:t>
            </a:r>
          </a:p>
          <a:p>
            <a:pPr marL="285750" indent="-285750">
              <a:buFont typeface="Arial" panose="020B0604020202020204" pitchFamily="34" charset="0"/>
              <a:buChar char="•"/>
            </a:pPr>
            <a:r>
              <a:rPr lang="en-US" i="1" dirty="0"/>
              <a:t>For subplots use </a:t>
            </a:r>
            <a:r>
              <a:rPr lang="en-US" i="1" dirty="0" err="1"/>
              <a:t>plt.subplots</a:t>
            </a:r>
            <a:r>
              <a:rPr lang="en-US" i="1" dirty="0"/>
              <a:t>() or </a:t>
            </a:r>
            <a:r>
              <a:rPr lang="en-US" i="1" dirty="0" err="1"/>
              <a:t>plt.subplot_mosaic</a:t>
            </a:r>
            <a:r>
              <a:rPr lang="en-US" i="1" dirty="0"/>
              <a:t>()</a:t>
            </a:r>
          </a:p>
          <a:p>
            <a:endParaRPr lang="en-US" i="1" dirty="0"/>
          </a:p>
          <a:p>
            <a:r>
              <a:rPr lang="en-US" b="1" u="sng" dirty="0"/>
              <a:t>Axes</a:t>
            </a:r>
          </a:p>
          <a:p>
            <a:r>
              <a:rPr lang="en-US" i="1" dirty="0"/>
              <a:t>An Axes is an Artist attached to a Figure that contains a region for plotting data and usually includes two (or three in the case of 3D) Axis objects. </a:t>
            </a:r>
          </a:p>
          <a:p>
            <a:r>
              <a:rPr lang="en-US" i="1" dirty="0"/>
              <a:t>The Axes methods are the primary interface for configuring most parts of your plot (adding data, controlling axis scales and limits, adding labels etc.).</a:t>
            </a:r>
          </a:p>
          <a:p>
            <a:endParaRPr lang="en-US" i="1" dirty="0"/>
          </a:p>
          <a:p>
            <a:r>
              <a:rPr lang="en-US" b="1" u="sng" dirty="0"/>
              <a:t>Axis</a:t>
            </a:r>
          </a:p>
          <a:p>
            <a:r>
              <a:rPr lang="en-US" i="1" dirty="0"/>
              <a:t>These objects set the scale and limits and generate ticks (the marks on the Axis) and </a:t>
            </a:r>
            <a:r>
              <a:rPr lang="en-US" i="1" dirty="0" err="1"/>
              <a:t>ticklabels</a:t>
            </a:r>
            <a:r>
              <a:rPr lang="en-US" i="1" dirty="0"/>
              <a:t> (strings labeling the ticks).</a:t>
            </a:r>
          </a:p>
        </p:txBody>
      </p:sp>
    </p:spTree>
    <p:extLst>
      <p:ext uri="{BB962C8B-B14F-4D97-AF65-F5344CB8AC3E}">
        <p14:creationId xmlns:p14="http://schemas.microsoft.com/office/powerpoint/2010/main" val="2545986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AD9EF2-3E3A-4B2C-801D-33710FD2EB1A}"/>
              </a:ext>
            </a:extLst>
          </p:cNvPr>
          <p:cNvSpPr>
            <a:spLocks noGrp="1"/>
          </p:cNvSpPr>
          <p:nvPr>
            <p:ph idx="1"/>
          </p:nvPr>
        </p:nvSpPr>
        <p:spPr>
          <a:xfrm>
            <a:off x="6186060" y="1610896"/>
            <a:ext cx="6005939" cy="4881979"/>
          </a:xfrm>
        </p:spPr>
        <p:txBody>
          <a:bodyPr>
            <a:normAutofit/>
          </a:bodyPr>
          <a:lstStyle/>
          <a:p>
            <a:pPr marL="0" indent="0" algn="just">
              <a:buNone/>
            </a:pPr>
            <a:r>
              <a:rPr lang="en-GB" sz="1800" b="1" u="sng" dirty="0"/>
              <a:t>Artists</a:t>
            </a:r>
          </a:p>
          <a:p>
            <a:pPr marL="0" indent="0" algn="just">
              <a:buNone/>
            </a:pPr>
            <a:r>
              <a:rPr lang="en-GB" sz="1800" i="1" dirty="0"/>
              <a:t>Basically, everything visible on the Figure is an Artist (even Figure, Axes, and Axis objects). This includes Text objects, Line2D objects, collections objects, Patch objects, etc. When the Figure is rendered, all of the Artists are drawn to the canvas. Most Artists are tied to an Axes; such an Artist cannot be shared by multiple Axes, or moved from one to another.</a:t>
            </a:r>
          </a:p>
          <a:p>
            <a:pPr marL="0" indent="0">
              <a:buNone/>
            </a:pPr>
            <a:endParaRPr lang="en-DE" sz="1800" dirty="0"/>
          </a:p>
        </p:txBody>
      </p:sp>
      <p:pic>
        <p:nvPicPr>
          <p:cNvPr id="4" name="Picture 2" descr="../../_images/anatomy.png">
            <a:extLst>
              <a:ext uri="{FF2B5EF4-FFF2-40B4-BE49-F238E27FC236}">
                <a16:creationId xmlns:a16="http://schemas.microsoft.com/office/drawing/2014/main" id="{C557B64F-14AC-9D25-B8C2-4F5871B1E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021" y="1610896"/>
            <a:ext cx="4881979" cy="4881979"/>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400E1A2A-1B0C-A991-60E7-84DC2420731B}"/>
              </a:ext>
            </a:extLst>
          </p:cNvPr>
          <p:cNvSpPr>
            <a:spLocks noGrp="1"/>
          </p:cNvSpPr>
          <p:nvPr>
            <p:ph type="title"/>
          </p:nvPr>
        </p:nvSpPr>
        <p:spPr>
          <a:xfrm>
            <a:off x="838200" y="365125"/>
            <a:ext cx="10515600" cy="1325563"/>
          </a:xfrm>
        </p:spPr>
        <p:txBody>
          <a:bodyPr/>
          <a:lstStyle/>
          <a:p>
            <a:r>
              <a:rPr lang="de-DE" dirty="0"/>
              <a:t>Parts of a figure</a:t>
            </a:r>
            <a:endParaRPr lang="en-DE" dirty="0"/>
          </a:p>
        </p:txBody>
      </p:sp>
    </p:spTree>
    <p:extLst>
      <p:ext uri="{BB962C8B-B14F-4D97-AF65-F5344CB8AC3E}">
        <p14:creationId xmlns:p14="http://schemas.microsoft.com/office/powerpoint/2010/main" val="3648223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595EF-855A-4CDC-89CC-0484085713C0}"/>
              </a:ext>
            </a:extLst>
          </p:cNvPr>
          <p:cNvSpPr>
            <a:spLocks noGrp="1"/>
          </p:cNvSpPr>
          <p:nvPr>
            <p:ph type="title"/>
          </p:nvPr>
        </p:nvSpPr>
        <p:spPr/>
        <p:txBody>
          <a:bodyPr/>
          <a:lstStyle/>
          <a:p>
            <a:r>
              <a:rPr lang="de-DE" dirty="0"/>
              <a:t>Matplotlib Coding Styles – Explicit vs </a:t>
            </a:r>
            <a:r>
              <a:rPr lang="de-DE" b="1" dirty="0"/>
              <a:t>Implicit</a:t>
            </a:r>
            <a:r>
              <a:rPr lang="de-DE" dirty="0"/>
              <a:t>	</a:t>
            </a:r>
            <a:endParaRPr lang="en-DE" dirty="0"/>
          </a:p>
        </p:txBody>
      </p:sp>
      <p:sp>
        <p:nvSpPr>
          <p:cNvPr id="4" name="TextBox 3">
            <a:extLst>
              <a:ext uri="{FF2B5EF4-FFF2-40B4-BE49-F238E27FC236}">
                <a16:creationId xmlns:a16="http://schemas.microsoft.com/office/drawing/2014/main" id="{A45E2C64-2684-4989-BC3A-23C9FD594DEC}"/>
              </a:ext>
            </a:extLst>
          </p:cNvPr>
          <p:cNvSpPr txBox="1"/>
          <p:nvPr/>
        </p:nvSpPr>
        <p:spPr>
          <a:xfrm>
            <a:off x="695325" y="1484312"/>
            <a:ext cx="6495587" cy="4708981"/>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de-DE" sz="2000" dirty="0">
                <a:solidFill>
                  <a:srgbClr val="C586B6"/>
                </a:solidFill>
                <a:latin typeface="Consolas" panose="020B0609020204030204" pitchFamily="49" charset="0"/>
                <a:cs typeface="Courier New" panose="02070309020205020404" pitchFamily="49" charset="0"/>
              </a:rPr>
              <a:t>import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matplotlib</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pyplot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C586B6"/>
                </a:solidFill>
                <a:latin typeface="Consolas" panose="020B0609020204030204" pitchFamily="49" charset="0"/>
                <a:cs typeface="Courier New" panose="02070309020205020404" pitchFamily="49" charset="0"/>
              </a:rPr>
              <a:t>as</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plt</a:t>
            </a:r>
          </a:p>
          <a:p>
            <a:r>
              <a:rPr lang="de-DE" sz="2000" dirty="0">
                <a:solidFill>
                  <a:srgbClr val="C586B6"/>
                </a:solidFill>
                <a:latin typeface="Consolas" panose="020B0609020204030204" pitchFamily="49" charset="0"/>
                <a:cs typeface="Courier New" panose="02070309020205020404" pitchFamily="49" charset="0"/>
              </a:rPr>
              <a:t>import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numpy</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C586B6"/>
                </a:solidFill>
                <a:latin typeface="Consolas" panose="020B0609020204030204" pitchFamily="49" charset="0"/>
                <a:cs typeface="Courier New" panose="02070309020205020404" pitchFamily="49" charset="0"/>
              </a:rPr>
              <a:t>as</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np</a:t>
            </a:r>
          </a:p>
          <a:p>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x</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np</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linspace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0</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100</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figure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figsize</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2.7</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layout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'constrained'</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label</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'linear'</a:t>
            </a:r>
            <a:r>
              <a:rPr lang="de-DE" sz="2000" dirty="0">
                <a:solidFill>
                  <a:srgbClr val="DB851F"/>
                </a:solidFill>
                <a:latin typeface="Consolas" panose="020B0609020204030204" pitchFamily="49" charset="0"/>
                <a:cs typeface="Courier New" panose="02070309020205020404" pitchFamily="49" charset="0"/>
              </a:rPr>
              <a:t>) </a:t>
            </a:r>
          </a:p>
          <a:p>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label</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'quadratic'</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3</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label</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'cubic'</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xlabel</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'x label'</a:t>
            </a:r>
            <a:r>
              <a:rPr lang="de-DE" sz="2000" dirty="0">
                <a:solidFill>
                  <a:srgbClr val="DB851F"/>
                </a:solidFill>
                <a:latin typeface="Consolas" panose="020B0609020204030204" pitchFamily="49" charset="0"/>
                <a:cs typeface="Courier New" panose="02070309020205020404" pitchFamily="49" charset="0"/>
              </a:rPr>
              <a:t>)</a:t>
            </a:r>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ylabel</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'y label'</a:t>
            </a:r>
            <a:r>
              <a:rPr lang="de-DE" sz="2000" dirty="0">
                <a:solidFill>
                  <a:srgbClr val="DB851F"/>
                </a:solidFill>
                <a:latin typeface="Consolas" panose="020B0609020204030204" pitchFamily="49" charset="0"/>
                <a:cs typeface="Courier New" panose="02070309020205020404" pitchFamily="49" charset="0"/>
              </a:rPr>
              <a:t>)</a:t>
            </a:r>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title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'Simple Plot'</a:t>
            </a:r>
            <a:r>
              <a:rPr lang="de-DE" sz="2000" dirty="0">
                <a:solidFill>
                  <a:srgbClr val="DB851F"/>
                </a:solidFill>
                <a:latin typeface="Consolas" panose="020B0609020204030204" pitchFamily="49" charset="0"/>
                <a:cs typeface="Courier New" panose="02070309020205020404" pitchFamily="49" charset="0"/>
              </a:rPr>
              <a:t>)</a:t>
            </a:r>
          </a:p>
          <a:p>
            <a:r>
              <a:rPr lang="de-DE" sz="2000" dirty="0" err="1">
                <a:solidFill>
                  <a:srgbClr val="3EC9A4"/>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legend</a:t>
            </a:r>
            <a:r>
              <a:rPr lang="de-DE" sz="2000" dirty="0">
                <a:solidFill>
                  <a:srgbClr val="DB851F"/>
                </a:solidFill>
                <a:latin typeface="Consolas" panose="020B0609020204030204" pitchFamily="49" charset="0"/>
                <a:cs typeface="Courier New" panose="02070309020205020404" pitchFamily="49" charset="0"/>
              </a:rPr>
              <a:t>()</a:t>
            </a:r>
          </a:p>
          <a:p>
            <a:r>
              <a:rPr lang="de-DE" sz="2000" dirty="0" err="1">
                <a:solidFill>
                  <a:srgbClr val="3EC9A4"/>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show</a:t>
            </a:r>
            <a:r>
              <a:rPr lang="de-DE" sz="2000" dirty="0">
                <a:solidFill>
                  <a:srgbClr val="DB851F"/>
                </a:solidFill>
                <a:latin typeface="Consolas" panose="020B0609020204030204" pitchFamily="49" charset="0"/>
                <a:cs typeface="Courier New" panose="02070309020205020404" pitchFamily="49" charset="0"/>
              </a:rPr>
              <a:t>()</a:t>
            </a:r>
          </a:p>
        </p:txBody>
      </p:sp>
      <p:pic>
        <p:nvPicPr>
          <p:cNvPr id="3077" name="Picture 5" descr="Simple Plot">
            <a:extLst>
              <a:ext uri="{FF2B5EF4-FFF2-40B4-BE49-F238E27FC236}">
                <a16:creationId xmlns:a16="http://schemas.microsoft.com/office/drawing/2014/main" id="{8B1A628D-689F-4090-ACB2-4549C78BEE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0912" y="1502222"/>
            <a:ext cx="4843159" cy="2615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7536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595EF-855A-4CDC-89CC-0484085713C0}"/>
              </a:ext>
            </a:extLst>
          </p:cNvPr>
          <p:cNvSpPr>
            <a:spLocks noGrp="1"/>
          </p:cNvSpPr>
          <p:nvPr>
            <p:ph type="title"/>
          </p:nvPr>
        </p:nvSpPr>
        <p:spPr/>
        <p:txBody>
          <a:bodyPr/>
          <a:lstStyle/>
          <a:p>
            <a:r>
              <a:rPr lang="de-DE" dirty="0"/>
              <a:t>Matplotlib Coding Styles – </a:t>
            </a:r>
            <a:r>
              <a:rPr lang="de-DE" b="1" dirty="0"/>
              <a:t>Explicit</a:t>
            </a:r>
            <a:r>
              <a:rPr lang="de-DE" dirty="0"/>
              <a:t> vs Implicit	</a:t>
            </a:r>
            <a:endParaRPr lang="en-DE" dirty="0"/>
          </a:p>
        </p:txBody>
      </p:sp>
      <p:sp>
        <p:nvSpPr>
          <p:cNvPr id="4" name="TextBox 3">
            <a:extLst>
              <a:ext uri="{FF2B5EF4-FFF2-40B4-BE49-F238E27FC236}">
                <a16:creationId xmlns:a16="http://schemas.microsoft.com/office/drawing/2014/main" id="{A45E2C64-2684-4989-BC3A-23C9FD594DEC}"/>
              </a:ext>
            </a:extLst>
          </p:cNvPr>
          <p:cNvSpPr txBox="1"/>
          <p:nvPr/>
        </p:nvSpPr>
        <p:spPr>
          <a:xfrm>
            <a:off x="695325" y="1484312"/>
            <a:ext cx="6495587" cy="5016758"/>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de-DE" sz="2000" dirty="0">
                <a:solidFill>
                  <a:srgbClr val="C586B6"/>
                </a:solidFill>
                <a:latin typeface="Consolas" panose="020B0609020204030204" pitchFamily="49" charset="0"/>
                <a:cs typeface="Courier New" panose="02070309020205020404" pitchFamily="49" charset="0"/>
              </a:rPr>
              <a:t>import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matplotlib</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pyplot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C586B6"/>
                </a:solidFill>
                <a:latin typeface="Consolas" panose="020B0609020204030204" pitchFamily="49" charset="0"/>
                <a:cs typeface="Courier New" panose="02070309020205020404" pitchFamily="49" charset="0"/>
              </a:rPr>
              <a:t>as</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plt</a:t>
            </a:r>
          </a:p>
          <a:p>
            <a:r>
              <a:rPr lang="de-DE" sz="2000" dirty="0">
                <a:solidFill>
                  <a:srgbClr val="C586B6"/>
                </a:solidFill>
                <a:latin typeface="Consolas" panose="020B0609020204030204" pitchFamily="49" charset="0"/>
                <a:cs typeface="Courier New" panose="02070309020205020404" pitchFamily="49" charset="0"/>
              </a:rPr>
              <a:t>import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numpy</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C586B6"/>
                </a:solidFill>
                <a:latin typeface="Consolas" panose="020B0609020204030204" pitchFamily="49" charset="0"/>
                <a:cs typeface="Courier New" panose="02070309020205020404" pitchFamily="49" charset="0"/>
              </a:rPr>
              <a:t>as</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np</a:t>
            </a:r>
          </a:p>
          <a:p>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x</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np</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linspace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0</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100</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fig</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subplots</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figsize</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2.7</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layout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'constrained'</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label</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'linear'</a:t>
            </a:r>
            <a:r>
              <a:rPr lang="de-DE" sz="2000" dirty="0">
                <a:solidFill>
                  <a:srgbClr val="DB851F"/>
                </a:solidFill>
                <a:latin typeface="Consolas" panose="020B0609020204030204" pitchFamily="49" charset="0"/>
                <a:cs typeface="Courier New" panose="02070309020205020404" pitchFamily="49" charset="0"/>
              </a:rPr>
              <a:t>) </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label</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'quadratic'</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3</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label</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'cubic'</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set_xlabel</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'x label'</a:t>
            </a:r>
            <a:r>
              <a:rPr lang="de-DE" sz="2000" dirty="0">
                <a:solidFill>
                  <a:srgbClr val="DB851F"/>
                </a:solidFill>
                <a:latin typeface="Consolas" panose="020B0609020204030204" pitchFamily="49" charset="0"/>
                <a:cs typeface="Courier New" panose="02070309020205020404" pitchFamily="49" charset="0"/>
              </a:rPr>
              <a:t>)</a:t>
            </a:r>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set_ylabel</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'y label'</a:t>
            </a:r>
            <a:r>
              <a:rPr lang="de-DE" sz="2000" dirty="0">
                <a:solidFill>
                  <a:srgbClr val="DB851F"/>
                </a:solidFill>
                <a:latin typeface="Consolas" panose="020B0609020204030204" pitchFamily="49" charset="0"/>
                <a:cs typeface="Courier New" panose="02070309020205020404" pitchFamily="49" charset="0"/>
              </a:rPr>
              <a:t>)</a:t>
            </a:r>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set_title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'Simple Plot'</a:t>
            </a:r>
            <a:r>
              <a:rPr lang="de-DE" sz="2000" dirty="0">
                <a:solidFill>
                  <a:srgbClr val="DB851F"/>
                </a:solidFill>
                <a:latin typeface="Consolas" panose="020B0609020204030204" pitchFamily="49" charset="0"/>
                <a:cs typeface="Courier New" panose="02070309020205020404" pitchFamily="49" charset="0"/>
              </a:rPr>
              <a:t>)</a:t>
            </a:r>
          </a:p>
          <a:p>
            <a:r>
              <a:rPr lang="de-DE" sz="2000" dirty="0" err="1">
                <a:solidFill>
                  <a:srgbClr val="569CD6"/>
                </a:solidFill>
                <a:latin typeface="Consolas" panose="020B0609020204030204" pitchFamily="49" charset="0"/>
                <a:cs typeface="Courier New" panose="02070309020205020404" pitchFamily="49" charset="0"/>
              </a:rPr>
              <a:t>ax</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legend</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DB851F"/>
              </a:solidFill>
              <a:latin typeface="Consolas" panose="020B0609020204030204" pitchFamily="49" charset="0"/>
              <a:cs typeface="Courier New" panose="02070309020205020404" pitchFamily="49" charset="0"/>
            </a:endParaRPr>
          </a:p>
          <a:p>
            <a:r>
              <a:rPr lang="de-DE" sz="2000" dirty="0" err="1">
                <a:solidFill>
                  <a:srgbClr val="3EC9A4"/>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show</a:t>
            </a:r>
            <a:r>
              <a:rPr lang="de-DE" sz="2000" dirty="0">
                <a:solidFill>
                  <a:srgbClr val="DB851F"/>
                </a:solidFill>
                <a:latin typeface="Consolas" panose="020B0609020204030204" pitchFamily="49" charset="0"/>
                <a:cs typeface="Courier New" panose="02070309020205020404" pitchFamily="49" charset="0"/>
              </a:rPr>
              <a:t>()</a:t>
            </a:r>
          </a:p>
        </p:txBody>
      </p:sp>
      <p:pic>
        <p:nvPicPr>
          <p:cNvPr id="3077" name="Picture 5" descr="Simple Plot">
            <a:extLst>
              <a:ext uri="{FF2B5EF4-FFF2-40B4-BE49-F238E27FC236}">
                <a16:creationId xmlns:a16="http://schemas.microsoft.com/office/drawing/2014/main" id="{8B1A628D-689F-4090-ACB2-4549C78BEE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0912" y="1502222"/>
            <a:ext cx="4843159" cy="26153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F2E55EE-5398-5C0D-1455-5830B3225BC8}"/>
              </a:ext>
            </a:extLst>
          </p:cNvPr>
          <p:cNvSpPr txBox="1"/>
          <p:nvPr/>
        </p:nvSpPr>
        <p:spPr>
          <a:xfrm>
            <a:off x="8838377" y="5355778"/>
            <a:ext cx="2515423" cy="369332"/>
          </a:xfrm>
          <a:prstGeom prst="rect">
            <a:avLst/>
          </a:prstGeom>
          <a:noFill/>
        </p:spPr>
        <p:txBody>
          <a:bodyPr wrap="square">
            <a:spAutoFit/>
          </a:bodyPr>
          <a:lstStyle/>
          <a:p>
            <a:pPr algn="ctr"/>
            <a:r>
              <a:rPr lang="de-DE" dirty="0" err="1">
                <a:solidFill>
                  <a:srgbClr val="569CD6"/>
                </a:solidFill>
                <a:latin typeface="Consolas" panose="020B0609020204030204" pitchFamily="49" charset="0"/>
                <a:cs typeface="Courier New" panose="02070309020205020404" pitchFamily="49" charset="0"/>
              </a:rPr>
              <a:t>ax</a:t>
            </a:r>
            <a:r>
              <a:rPr lang="de-DE" dirty="0">
                <a:solidFill>
                  <a:srgbClr val="3EC9A4"/>
                </a:solidFill>
                <a:latin typeface="Consolas" panose="020B0609020204030204" pitchFamily="49" charset="0"/>
                <a:cs typeface="Courier New" panose="02070309020205020404" pitchFamily="49" charset="0"/>
              </a:rPr>
              <a:t> </a:t>
            </a:r>
            <a:r>
              <a:rPr lang="de-DE" dirty="0">
                <a:latin typeface="Consolas" panose="020B0609020204030204" pitchFamily="49" charset="0"/>
                <a:cs typeface="Courier New" panose="02070309020205020404" pitchFamily="49" charset="0"/>
              </a:rPr>
              <a:t>=</a:t>
            </a:r>
            <a:r>
              <a:rPr lang="de-DE" dirty="0">
                <a:solidFill>
                  <a:srgbClr val="3EC9A4"/>
                </a:solidFill>
                <a:latin typeface="Consolas" panose="020B0609020204030204" pitchFamily="49" charset="0"/>
                <a:cs typeface="Courier New" panose="02070309020205020404" pitchFamily="49" charset="0"/>
              </a:rPr>
              <a:t> </a:t>
            </a:r>
            <a:r>
              <a:rPr lang="de-DE" sz="1800" dirty="0" err="1">
                <a:solidFill>
                  <a:srgbClr val="3EC9A4"/>
                </a:solidFill>
                <a:latin typeface="Consolas" panose="020B0609020204030204" pitchFamily="49" charset="0"/>
                <a:cs typeface="Courier New" panose="02070309020205020404" pitchFamily="49" charset="0"/>
              </a:rPr>
              <a:t>plt</a:t>
            </a:r>
            <a:r>
              <a:rPr lang="de-DE" sz="1800" dirty="0" err="1">
                <a:solidFill>
                  <a:schemeClr val="tx1"/>
                </a:solidFill>
                <a:latin typeface="Consolas" panose="020B0609020204030204" pitchFamily="49" charset="0"/>
                <a:cs typeface="Courier New" panose="02070309020205020404" pitchFamily="49" charset="0"/>
              </a:rPr>
              <a:t>.</a:t>
            </a:r>
            <a:r>
              <a:rPr lang="de-DE" sz="1800" dirty="0" err="1">
                <a:solidFill>
                  <a:srgbClr val="DCCE81"/>
                </a:solidFill>
                <a:latin typeface="Consolas" panose="020B0609020204030204" pitchFamily="49" charset="0"/>
                <a:cs typeface="Courier New" panose="02070309020205020404" pitchFamily="49" charset="0"/>
              </a:rPr>
              <a:t>gca</a:t>
            </a:r>
            <a:r>
              <a:rPr lang="de-DE" sz="1800" dirty="0">
                <a:solidFill>
                  <a:srgbClr val="DB851F"/>
                </a:solidFill>
                <a:latin typeface="Consolas" panose="020B06090202040302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B9E2136E-1320-E9E6-BE8C-08C572AD51F9}"/>
              </a:ext>
            </a:extLst>
          </p:cNvPr>
          <p:cNvSpPr txBox="1"/>
          <p:nvPr/>
        </p:nvSpPr>
        <p:spPr>
          <a:xfrm>
            <a:off x="9034180" y="4994720"/>
            <a:ext cx="2123816" cy="369332"/>
          </a:xfrm>
          <a:prstGeom prst="rect">
            <a:avLst/>
          </a:prstGeom>
          <a:noFill/>
        </p:spPr>
        <p:txBody>
          <a:bodyPr wrap="square" rtlCol="0">
            <a:spAutoFit/>
          </a:bodyPr>
          <a:lstStyle/>
          <a:p>
            <a:pPr algn="ctr"/>
            <a:r>
              <a:rPr lang="en-US" b="1" dirty="0"/>
              <a:t>Get current axes</a:t>
            </a:r>
          </a:p>
        </p:txBody>
      </p:sp>
    </p:spTree>
    <p:extLst>
      <p:ext uri="{BB962C8B-B14F-4D97-AF65-F5344CB8AC3E}">
        <p14:creationId xmlns:p14="http://schemas.microsoft.com/office/powerpoint/2010/main" val="292834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492F3-0648-4DBE-8965-2928E131AE9F}"/>
              </a:ext>
            </a:extLst>
          </p:cNvPr>
          <p:cNvSpPr>
            <a:spLocks noGrp="1"/>
          </p:cNvSpPr>
          <p:nvPr>
            <p:ph type="title"/>
          </p:nvPr>
        </p:nvSpPr>
        <p:spPr/>
        <p:txBody>
          <a:bodyPr/>
          <a:lstStyle/>
          <a:p>
            <a:r>
              <a:rPr lang="de-DE" dirty="0"/>
              <a:t>Styling Artists</a:t>
            </a:r>
            <a:endParaRPr lang="en-DE" dirty="0"/>
          </a:p>
        </p:txBody>
      </p:sp>
      <p:sp>
        <p:nvSpPr>
          <p:cNvPr id="5" name="TextBox 4">
            <a:extLst>
              <a:ext uri="{FF2B5EF4-FFF2-40B4-BE49-F238E27FC236}">
                <a16:creationId xmlns:a16="http://schemas.microsoft.com/office/drawing/2014/main" id="{417E4ABC-FCB2-4001-821E-A6EB99DC835C}"/>
              </a:ext>
            </a:extLst>
          </p:cNvPr>
          <p:cNvSpPr txBox="1"/>
          <p:nvPr/>
        </p:nvSpPr>
        <p:spPr>
          <a:xfrm>
            <a:off x="695325" y="1690688"/>
            <a:ext cx="10579316" cy="5016758"/>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de-DE" sz="2000" dirty="0">
                <a:solidFill>
                  <a:srgbClr val="C586B6"/>
                </a:solidFill>
                <a:latin typeface="Consolas" panose="020B0609020204030204" pitchFamily="49" charset="0"/>
                <a:cs typeface="Courier New" panose="02070309020205020404" pitchFamily="49" charset="0"/>
              </a:rPr>
              <a:t>import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matplotlib</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pyplot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C586B6"/>
                </a:solidFill>
                <a:latin typeface="Consolas" panose="020B0609020204030204" pitchFamily="49" charset="0"/>
                <a:cs typeface="Courier New" panose="02070309020205020404" pitchFamily="49" charset="0"/>
              </a:rPr>
              <a:t>as</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plt</a:t>
            </a:r>
          </a:p>
          <a:p>
            <a:r>
              <a:rPr lang="de-DE" sz="2000" dirty="0">
                <a:solidFill>
                  <a:srgbClr val="C586B6"/>
                </a:solidFill>
                <a:latin typeface="Consolas" panose="020B0609020204030204" pitchFamily="49" charset="0"/>
                <a:cs typeface="Courier New" panose="02070309020205020404" pitchFamily="49" charset="0"/>
              </a:rPr>
              <a:t>import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numpy</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C586B6"/>
                </a:solidFill>
                <a:latin typeface="Consolas" panose="020B0609020204030204" pitchFamily="49" charset="0"/>
                <a:cs typeface="Courier New" panose="02070309020205020404" pitchFamily="49" charset="0"/>
              </a:rPr>
              <a:t>as</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np</a:t>
            </a:r>
          </a:p>
          <a:p>
            <a:endParaRPr lang="de-DE" sz="2000" dirty="0">
              <a:solidFill>
                <a:srgbClr val="3EC9A4"/>
              </a:solidFill>
              <a:latin typeface="Consolas" panose="020B0609020204030204" pitchFamily="49" charset="0"/>
              <a:cs typeface="Courier New" panose="02070309020205020404" pitchFamily="49" charset="0"/>
            </a:endParaRPr>
          </a:p>
          <a:p>
            <a:r>
              <a:rPr lang="it-IT" sz="2000" dirty="0">
                <a:solidFill>
                  <a:srgbClr val="569CD6"/>
                </a:solidFill>
                <a:latin typeface="Consolas" panose="020B0609020204030204" pitchFamily="49" charset="0"/>
                <a:cs typeface="Courier New" panose="02070309020205020404" pitchFamily="49" charset="0"/>
              </a:rPr>
              <a:t>data1</a:t>
            </a:r>
            <a:r>
              <a:rPr lang="it-IT" sz="2000" dirty="0">
                <a:solidFill>
                  <a:schemeClr val="tx1"/>
                </a:solidFill>
                <a:latin typeface="Consolas" panose="020B0609020204030204" pitchFamily="49" charset="0"/>
                <a:cs typeface="Courier New" panose="02070309020205020404" pitchFamily="49" charset="0"/>
              </a:rPr>
              <a:t>,</a:t>
            </a:r>
            <a:r>
              <a:rPr lang="it-IT" sz="2000" dirty="0">
                <a:solidFill>
                  <a:srgbClr val="3EC9A4"/>
                </a:solidFill>
                <a:latin typeface="Consolas" panose="020B0609020204030204" pitchFamily="49" charset="0"/>
                <a:cs typeface="Courier New" panose="02070309020205020404" pitchFamily="49" charset="0"/>
              </a:rPr>
              <a:t> </a:t>
            </a:r>
            <a:r>
              <a:rPr lang="it-IT" sz="2000" dirty="0">
                <a:solidFill>
                  <a:srgbClr val="569CD6"/>
                </a:solidFill>
                <a:latin typeface="Consolas" panose="020B0609020204030204" pitchFamily="49" charset="0"/>
                <a:cs typeface="Courier New" panose="02070309020205020404" pitchFamily="49" charset="0"/>
              </a:rPr>
              <a:t>data2</a:t>
            </a:r>
            <a:r>
              <a:rPr lang="it-IT" sz="2000" dirty="0">
                <a:solidFill>
                  <a:srgbClr val="3EC9A4"/>
                </a:solidFill>
                <a:latin typeface="Consolas" panose="020B0609020204030204" pitchFamily="49" charset="0"/>
                <a:cs typeface="Courier New" panose="02070309020205020404" pitchFamily="49" charset="0"/>
              </a:rPr>
              <a:t> </a:t>
            </a:r>
            <a:r>
              <a:rPr lang="it-IT" sz="2000" dirty="0">
                <a:solidFill>
                  <a:schemeClr val="tx1"/>
                </a:solidFill>
                <a:latin typeface="Consolas" panose="020B0609020204030204" pitchFamily="49" charset="0"/>
                <a:cs typeface="Courier New" panose="02070309020205020404" pitchFamily="49" charset="0"/>
              </a:rPr>
              <a:t>=</a:t>
            </a:r>
            <a:r>
              <a:rPr lang="it-IT" sz="2000" dirty="0">
                <a:solidFill>
                  <a:srgbClr val="3EC9A4"/>
                </a:solidFill>
                <a:latin typeface="Consolas" panose="020B0609020204030204" pitchFamily="49" charset="0"/>
                <a:cs typeface="Courier New" panose="02070309020205020404" pitchFamily="49" charset="0"/>
              </a:rPr>
              <a:t> np</a:t>
            </a:r>
            <a:r>
              <a:rPr lang="it-IT" sz="2000" dirty="0">
                <a:solidFill>
                  <a:schemeClr val="tx1"/>
                </a:solidFill>
                <a:latin typeface="Consolas" panose="020B0609020204030204" pitchFamily="49" charset="0"/>
                <a:cs typeface="Courier New" panose="02070309020205020404" pitchFamily="49" charset="0"/>
              </a:rPr>
              <a:t>.</a:t>
            </a:r>
            <a:r>
              <a:rPr lang="it-IT" sz="2000" dirty="0">
                <a:solidFill>
                  <a:srgbClr val="3EC9A4"/>
                </a:solidFill>
                <a:latin typeface="Consolas" panose="020B0609020204030204" pitchFamily="49" charset="0"/>
                <a:cs typeface="Courier New" panose="02070309020205020404" pitchFamily="49" charset="0"/>
              </a:rPr>
              <a:t>random</a:t>
            </a:r>
            <a:r>
              <a:rPr lang="it-IT" sz="2000" dirty="0">
                <a:solidFill>
                  <a:schemeClr val="tx1"/>
                </a:solidFill>
                <a:latin typeface="Consolas" panose="020B0609020204030204" pitchFamily="49" charset="0"/>
                <a:cs typeface="Courier New" panose="02070309020205020404" pitchFamily="49" charset="0"/>
              </a:rPr>
              <a:t>.</a:t>
            </a:r>
            <a:r>
              <a:rPr lang="it-IT" sz="2000" dirty="0">
                <a:solidFill>
                  <a:srgbClr val="569CD6"/>
                </a:solidFill>
                <a:latin typeface="Consolas" panose="020B0609020204030204" pitchFamily="49" charset="0"/>
                <a:cs typeface="Courier New" panose="02070309020205020404" pitchFamily="49" charset="0"/>
              </a:rPr>
              <a:t>randn</a:t>
            </a:r>
            <a:r>
              <a:rPr lang="it-IT" sz="2000" dirty="0">
                <a:solidFill>
                  <a:srgbClr val="DB851F"/>
                </a:solidFill>
                <a:latin typeface="Consolas" panose="020B0609020204030204" pitchFamily="49" charset="0"/>
                <a:cs typeface="Courier New" panose="02070309020205020404" pitchFamily="49" charset="0"/>
              </a:rPr>
              <a:t>(</a:t>
            </a:r>
            <a:r>
              <a:rPr lang="it-IT" sz="2000" dirty="0">
                <a:solidFill>
                  <a:srgbClr val="DCCE81"/>
                </a:solidFill>
                <a:latin typeface="Consolas" panose="020B0609020204030204" pitchFamily="49" charset="0"/>
                <a:cs typeface="Courier New" panose="02070309020205020404" pitchFamily="49" charset="0"/>
              </a:rPr>
              <a:t>4</a:t>
            </a:r>
            <a:r>
              <a:rPr lang="it-IT" sz="2000" dirty="0">
                <a:solidFill>
                  <a:schemeClr val="tx1"/>
                </a:solidFill>
                <a:latin typeface="Consolas" panose="020B0609020204030204" pitchFamily="49" charset="0"/>
                <a:cs typeface="Courier New" panose="02070309020205020404" pitchFamily="49" charset="0"/>
              </a:rPr>
              <a:t>,</a:t>
            </a:r>
            <a:r>
              <a:rPr lang="it-IT" sz="2000" dirty="0">
                <a:solidFill>
                  <a:srgbClr val="3EC9A4"/>
                </a:solidFill>
                <a:latin typeface="Consolas" panose="020B0609020204030204" pitchFamily="49" charset="0"/>
                <a:cs typeface="Courier New" panose="02070309020205020404" pitchFamily="49" charset="0"/>
              </a:rPr>
              <a:t> </a:t>
            </a:r>
            <a:r>
              <a:rPr lang="it-IT" sz="2000" dirty="0">
                <a:solidFill>
                  <a:srgbClr val="DCCE81"/>
                </a:solidFill>
                <a:latin typeface="Consolas" panose="020B0609020204030204" pitchFamily="49" charset="0"/>
                <a:cs typeface="Courier New" panose="02070309020205020404" pitchFamily="49" charset="0"/>
              </a:rPr>
              <a:t>100</a:t>
            </a:r>
            <a:r>
              <a:rPr lang="it-IT" sz="2000" dirty="0">
                <a:solidFill>
                  <a:srgbClr val="DB851F"/>
                </a:solidFill>
                <a:latin typeface="Consolas" panose="020B0609020204030204" pitchFamily="49" charset="0"/>
                <a:cs typeface="Courier New" panose="02070309020205020404" pitchFamily="49" charset="0"/>
              </a:rPr>
              <a:t>)</a:t>
            </a:r>
            <a:r>
              <a:rPr lang="it-IT" sz="2000" dirty="0">
                <a:solidFill>
                  <a:srgbClr val="3EC9A4"/>
                </a:solidFill>
                <a:latin typeface="Consolas" panose="020B0609020204030204" pitchFamily="49" charset="0"/>
                <a:cs typeface="Courier New" panose="02070309020205020404" pitchFamily="49" charset="0"/>
              </a:rPr>
              <a:t> </a:t>
            </a:r>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x</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np</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arange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len</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data1</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3EC9A4"/>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fig</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subplots</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figsize</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2.7</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np</a:t>
            </a:r>
            <a:r>
              <a:rPr lang="de-DE" sz="2000" dirty="0">
                <a:solidFill>
                  <a:srgbClr val="569CD6"/>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cumsum</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data1</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 </a:t>
            </a:r>
          </a:p>
          <a:p>
            <a:pPr marL="1076325"/>
            <a:r>
              <a:rPr lang="de-DE" sz="2000" dirty="0">
                <a:solidFill>
                  <a:srgbClr val="569CD6"/>
                </a:solidFill>
                <a:latin typeface="Consolas" panose="020B0609020204030204" pitchFamily="49" charset="0"/>
                <a:cs typeface="Courier New" panose="02070309020205020404" pitchFamily="49" charset="0"/>
              </a:rPr>
              <a:t>color</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'blue'</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p>
          <a:p>
            <a:pPr marL="1076325"/>
            <a:r>
              <a:rPr lang="de-DE" sz="2000" dirty="0">
                <a:solidFill>
                  <a:srgbClr val="569CD6"/>
                </a:solidFill>
                <a:latin typeface="Consolas" panose="020B0609020204030204" pitchFamily="49" charset="0"/>
                <a:cs typeface="Courier New" panose="02070309020205020404" pitchFamily="49" charset="0"/>
              </a:rPr>
              <a:t>linewidth</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3</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p>
          <a:p>
            <a:pPr marL="1076325"/>
            <a:r>
              <a:rPr lang="de-DE" sz="2000" dirty="0">
                <a:solidFill>
                  <a:srgbClr val="569CD6"/>
                </a:solidFill>
                <a:latin typeface="Consolas" panose="020B0609020204030204" pitchFamily="49" charset="0"/>
                <a:cs typeface="Courier New" panose="02070309020205020404" pitchFamily="49" charset="0"/>
              </a:rPr>
              <a:t>linestyle</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l</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np</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cumsum</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data2</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p>
          <a:p>
            <a:pPr marL="1790700"/>
            <a:r>
              <a:rPr lang="de-DE" sz="2000" dirty="0">
                <a:solidFill>
                  <a:srgbClr val="569CD6"/>
                </a:solidFill>
                <a:latin typeface="Consolas" panose="020B0609020204030204" pitchFamily="49" charset="0"/>
                <a:cs typeface="Courier New" panose="02070309020205020404" pitchFamily="49" charset="0"/>
              </a:rPr>
              <a:t>color</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'orange'</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p>
          <a:p>
            <a:pPr marL="1790700"/>
            <a:r>
              <a:rPr lang="de-DE" sz="2000" dirty="0">
                <a:solidFill>
                  <a:srgbClr val="569CD6"/>
                </a:solidFill>
                <a:latin typeface="Consolas" panose="020B0609020204030204" pitchFamily="49" charset="0"/>
                <a:cs typeface="Courier New" panose="02070309020205020404" pitchFamily="49" charset="0"/>
              </a:rPr>
              <a:t>linewidth</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2</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l</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set_linestyle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show</a:t>
            </a:r>
            <a:r>
              <a:rPr lang="de-DE" sz="2000" dirty="0">
                <a:solidFill>
                  <a:srgbClr val="DB851F"/>
                </a:solidFill>
                <a:latin typeface="Consolas" panose="020B0609020204030204" pitchFamily="49" charset="0"/>
                <a:cs typeface="Courier New" panose="02070309020205020404" pitchFamily="49" charset="0"/>
              </a:rPr>
              <a:t>()</a:t>
            </a:r>
          </a:p>
        </p:txBody>
      </p:sp>
      <p:pic>
        <p:nvPicPr>
          <p:cNvPr id="4102" name="Picture 6" descr="quick start">
            <a:extLst>
              <a:ext uri="{FF2B5EF4-FFF2-40B4-BE49-F238E27FC236}">
                <a16:creationId xmlns:a16="http://schemas.microsoft.com/office/drawing/2014/main" id="{9B89520B-CBBE-4EE9-908E-4715864A4A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8467" y="1107920"/>
            <a:ext cx="47625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733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1371-E36E-4FEC-848B-A78E34A07D52}"/>
              </a:ext>
            </a:extLst>
          </p:cNvPr>
          <p:cNvSpPr>
            <a:spLocks noGrp="1"/>
          </p:cNvSpPr>
          <p:nvPr>
            <p:ph type="title"/>
          </p:nvPr>
        </p:nvSpPr>
        <p:spPr>
          <a:xfrm>
            <a:off x="838200" y="365125"/>
            <a:ext cx="10515600" cy="1325563"/>
          </a:xfrm>
        </p:spPr>
        <p:txBody>
          <a:bodyPr/>
          <a:lstStyle/>
          <a:p>
            <a:r>
              <a:rPr lang="de-DE" dirty="0"/>
              <a:t>Styling Artists – LineStyles &amp; Colors</a:t>
            </a:r>
            <a:endParaRPr lang="en-DE" dirty="0"/>
          </a:p>
        </p:txBody>
      </p:sp>
      <p:pic>
        <p:nvPicPr>
          <p:cNvPr id="6146" name="Picture 2" descr="Named linestyles, Parametrized linestyles">
            <a:extLst>
              <a:ext uri="{FF2B5EF4-FFF2-40B4-BE49-F238E27FC236}">
                <a16:creationId xmlns:a16="http://schemas.microsoft.com/office/drawing/2014/main" id="{490BDBE2-E4EA-4C45-BB96-041E76CFE1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135" r="148" b="73380"/>
          <a:stretch/>
        </p:blipFill>
        <p:spPr bwMode="auto">
          <a:xfrm>
            <a:off x="695325" y="1603375"/>
            <a:ext cx="5083668" cy="182562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named colors">
            <a:extLst>
              <a:ext uri="{FF2B5EF4-FFF2-40B4-BE49-F238E27FC236}">
                <a16:creationId xmlns:a16="http://schemas.microsoft.com/office/drawing/2014/main" id="{BF366E07-BD3D-47E7-B312-08CD893B121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8682"/>
          <a:stretch/>
        </p:blipFill>
        <p:spPr bwMode="auto">
          <a:xfrm>
            <a:off x="695325" y="3683955"/>
            <a:ext cx="5083668" cy="85248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amed colors">
            <a:extLst>
              <a:ext uri="{FF2B5EF4-FFF2-40B4-BE49-F238E27FC236}">
                <a16:creationId xmlns:a16="http://schemas.microsoft.com/office/drawing/2014/main" id="{A69AADAA-A635-4D57-9ACC-5E845F67E8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7358" y="1484313"/>
            <a:ext cx="5553307" cy="5337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4640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7A0F660-41FE-4596-9A9D-8551CE00440B}"/>
              </a:ext>
            </a:extLst>
          </p:cNvPr>
          <p:cNvSpPr>
            <a:spLocks noGrp="1"/>
          </p:cNvSpPr>
          <p:nvPr>
            <p:ph type="title"/>
          </p:nvPr>
        </p:nvSpPr>
        <p:spPr>
          <a:xfrm>
            <a:off x="838200" y="365125"/>
            <a:ext cx="10515600" cy="1325563"/>
          </a:xfrm>
        </p:spPr>
        <p:txBody>
          <a:bodyPr/>
          <a:lstStyle/>
          <a:p>
            <a:r>
              <a:rPr lang="de-DE" dirty="0"/>
              <a:t>Styling Artists – Markers</a:t>
            </a:r>
            <a:endParaRPr lang="en-DE" dirty="0"/>
          </a:p>
        </p:txBody>
      </p:sp>
      <p:pic>
        <p:nvPicPr>
          <p:cNvPr id="8194" name="Picture 2" descr="../../_images/sphx_glr_marker_reference_001.png">
            <a:extLst>
              <a:ext uri="{FF2B5EF4-FFF2-40B4-BE49-F238E27FC236}">
                <a16:creationId xmlns:a16="http://schemas.microsoft.com/office/drawing/2014/main" id="{FA61DDC2-80B8-4E45-8D18-AD809B8492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447" y="1782192"/>
            <a:ext cx="5400675" cy="4050506"/>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_images/sphx_glr_marker_reference_002.png">
            <a:extLst>
              <a:ext uri="{FF2B5EF4-FFF2-40B4-BE49-F238E27FC236}">
                <a16:creationId xmlns:a16="http://schemas.microsoft.com/office/drawing/2014/main" id="{B317A15E-34BC-4BEC-9A34-12FFEE7656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4878" y="1782192"/>
            <a:ext cx="5400675" cy="4050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40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C2B6F-E642-4C21-B048-F5B919E45736}"/>
              </a:ext>
            </a:extLst>
          </p:cNvPr>
          <p:cNvSpPr>
            <a:spLocks noGrp="1"/>
          </p:cNvSpPr>
          <p:nvPr>
            <p:ph type="title"/>
          </p:nvPr>
        </p:nvSpPr>
        <p:spPr/>
        <p:txBody>
          <a:bodyPr/>
          <a:lstStyle/>
          <a:p>
            <a:r>
              <a:rPr lang="de-DE" dirty="0"/>
              <a:t>Labelling plots – Axes labels and annotation</a:t>
            </a:r>
            <a:endParaRPr lang="en-DE" dirty="0"/>
          </a:p>
        </p:txBody>
      </p:sp>
      <p:sp>
        <p:nvSpPr>
          <p:cNvPr id="5" name="TextBox 4">
            <a:extLst>
              <a:ext uri="{FF2B5EF4-FFF2-40B4-BE49-F238E27FC236}">
                <a16:creationId xmlns:a16="http://schemas.microsoft.com/office/drawing/2014/main" id="{DFC43E8B-79D1-4C45-98C0-EFE843C26532}"/>
              </a:ext>
            </a:extLst>
          </p:cNvPr>
          <p:cNvSpPr txBox="1"/>
          <p:nvPr/>
        </p:nvSpPr>
        <p:spPr>
          <a:xfrm>
            <a:off x="698103" y="1484313"/>
            <a:ext cx="7345363" cy="5324535"/>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de-DE" sz="2000" dirty="0">
                <a:solidFill>
                  <a:srgbClr val="569CD6"/>
                </a:solidFill>
                <a:latin typeface="Consolas" panose="020B0609020204030204" pitchFamily="49" charset="0"/>
                <a:cs typeface="Courier New" panose="02070309020205020404" pitchFamily="49" charset="0"/>
              </a:rPr>
              <a:t>mu</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sigma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115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15</a:t>
            </a:r>
          </a:p>
          <a:p>
            <a:r>
              <a:rPr lang="de-DE" sz="2000" dirty="0">
                <a:solidFill>
                  <a:srgbClr val="569CD6"/>
                </a:solidFill>
                <a:latin typeface="Consolas" panose="020B0609020204030204" pitchFamily="49" charset="0"/>
                <a:cs typeface="Courier New" panose="02070309020205020404" pitchFamily="49" charset="0"/>
              </a:rPr>
              <a:t>x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mu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sigma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np</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random</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randn</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10000</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DB851F"/>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fig</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ax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subplots</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figsize</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2.7</a:t>
            </a:r>
            <a:r>
              <a:rPr lang="de-DE" sz="2000" dirty="0">
                <a:solidFill>
                  <a:srgbClr val="569CD6"/>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layout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'constrained'</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569CD6"/>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n</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bins</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patches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hist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50</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p>
          <a:p>
            <a:r>
              <a:rPr lang="de-DE" sz="2000" dirty="0">
                <a:solidFill>
                  <a:srgbClr val="569CD6"/>
                </a:solidFill>
                <a:latin typeface="Consolas" panose="020B0609020204030204" pitchFamily="49" charset="0"/>
                <a:cs typeface="Courier New" panose="02070309020205020404" pitchFamily="49" charset="0"/>
              </a:rPr>
              <a:t>								density</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0070C0"/>
                </a:solidFill>
                <a:latin typeface="Consolas" panose="020B0609020204030204" pitchFamily="49" charset="0"/>
                <a:cs typeface="Courier New" panose="02070309020205020404" pitchFamily="49" charset="0"/>
              </a:rPr>
              <a:t>True</a:t>
            </a:r>
            <a:r>
              <a:rPr lang="de-DE" sz="2000" dirty="0">
                <a:solidFill>
                  <a:schemeClr val="tx1"/>
                </a:solidFill>
                <a:latin typeface="Consolas" panose="020B0609020204030204" pitchFamily="49" charset="0"/>
                <a:cs typeface="Courier New" panose="02070309020205020404" pitchFamily="49" charset="0"/>
              </a:rPr>
              <a:t>,</a:t>
            </a:r>
          </a:p>
          <a:p>
            <a:r>
              <a:rPr lang="de-DE" sz="2000" dirty="0">
                <a:solidFill>
                  <a:schemeClr val="tx1"/>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facecolor</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'C0'</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p>
          <a:p>
            <a:r>
              <a:rPr lang="de-DE" sz="2000" dirty="0">
                <a:solidFill>
                  <a:srgbClr val="569CD6"/>
                </a:solidFill>
                <a:latin typeface="Consolas" panose="020B0609020204030204" pitchFamily="49" charset="0"/>
                <a:cs typeface="Courier New" panose="02070309020205020404" pitchFamily="49" charset="0"/>
              </a:rPr>
              <a:t>								alpha</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0.75</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569CD6"/>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set_xlabel</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'Length [cm]'</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set_xlabel</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'Probability'</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set_title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'Aardvark lengths\n (not really)'</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text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75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.025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AC4E1F"/>
                </a:solidFill>
                <a:latin typeface="Consolas" panose="020B0609020204030204" pitchFamily="49" charset="0"/>
                <a:cs typeface="Courier New" panose="02070309020205020404" pitchFamily="49" charset="0"/>
              </a:rPr>
              <a:t>r'$\mu=115,\ \sigma=15$'</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axis</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55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175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0</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0.03</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grid</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True</a:t>
            </a:r>
            <a:r>
              <a:rPr lang="de-DE" sz="2000" dirty="0">
                <a:solidFill>
                  <a:srgbClr val="DB851F"/>
                </a:solidFill>
                <a:latin typeface="Consolas" panose="020B0609020204030204" pitchFamily="49" charset="0"/>
                <a:cs typeface="Courier New" panose="02070309020205020404" pitchFamily="49" charset="0"/>
              </a:rPr>
              <a:t>)</a:t>
            </a:r>
          </a:p>
        </p:txBody>
      </p:sp>
      <p:pic>
        <p:nvPicPr>
          <p:cNvPr id="9220" name="Picture 4" descr="Aardvark - Wikipedia">
            <a:extLst>
              <a:ext uri="{FF2B5EF4-FFF2-40B4-BE49-F238E27FC236}">
                <a16:creationId xmlns:a16="http://schemas.microsoft.com/office/drawing/2014/main" id="{CCF8B54D-3A94-4F53-993E-82BFB2BE38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4811" y="4539841"/>
            <a:ext cx="2571750" cy="1781175"/>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Aardvark lengths  (not really)">
            <a:extLst>
              <a:ext uri="{FF2B5EF4-FFF2-40B4-BE49-F238E27FC236}">
                <a16:creationId xmlns:a16="http://schemas.microsoft.com/office/drawing/2014/main" id="{F906D7F0-AC32-4FF3-924A-C0BD517D35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994" y="1611902"/>
            <a:ext cx="47625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337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79708-4135-B6B3-F8B1-95DEF462E580}"/>
              </a:ext>
            </a:extLst>
          </p:cNvPr>
          <p:cNvSpPr>
            <a:spLocks noGrp="1"/>
          </p:cNvSpPr>
          <p:nvPr>
            <p:ph type="title"/>
          </p:nvPr>
        </p:nvSpPr>
        <p:spPr/>
        <p:txBody>
          <a:bodyPr/>
          <a:lstStyle/>
          <a:p>
            <a:r>
              <a:rPr lang="en-US" dirty="0"/>
              <a:t>Annotation</a:t>
            </a:r>
          </a:p>
        </p:txBody>
      </p:sp>
      <p:sp>
        <p:nvSpPr>
          <p:cNvPr id="4" name="TextBox 3">
            <a:extLst>
              <a:ext uri="{FF2B5EF4-FFF2-40B4-BE49-F238E27FC236}">
                <a16:creationId xmlns:a16="http://schemas.microsoft.com/office/drawing/2014/main" id="{BAB5F6BF-D850-CE35-EB2A-D72EAC30D107}"/>
              </a:ext>
            </a:extLst>
          </p:cNvPr>
          <p:cNvSpPr txBox="1"/>
          <p:nvPr/>
        </p:nvSpPr>
        <p:spPr>
          <a:xfrm>
            <a:off x="698103" y="1484313"/>
            <a:ext cx="7600945" cy="4401205"/>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de-DE" sz="2000" dirty="0" err="1">
                <a:solidFill>
                  <a:srgbClr val="569CD6"/>
                </a:solidFill>
                <a:latin typeface="Consolas" panose="020B0609020204030204" pitchFamily="49" charset="0"/>
                <a:cs typeface="Courier New" panose="02070309020205020404" pitchFamily="49" charset="0"/>
              </a:rPr>
              <a:t>fig</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ax</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err="1">
                <a:solidFill>
                  <a:srgbClr val="3EC9A4"/>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subplots</a:t>
            </a:r>
            <a:r>
              <a:rPr lang="de-DE" sz="2000" dirty="0">
                <a:solidFill>
                  <a:srgbClr val="DB851F"/>
                </a:solidFill>
                <a:latin typeface="Consolas" panose="020B0609020204030204" pitchFamily="49" charset="0"/>
                <a:cs typeface="Courier New" panose="02070309020205020404" pitchFamily="49" charset="0"/>
              </a:rPr>
              <a:t>(</a:t>
            </a:r>
            <a:r>
              <a:rPr lang="de-DE" sz="2000" dirty="0" err="1">
                <a:solidFill>
                  <a:srgbClr val="569CD6"/>
                </a:solidFill>
                <a:latin typeface="Consolas" panose="020B0609020204030204" pitchFamily="49" charset="0"/>
                <a:cs typeface="Courier New" panose="02070309020205020404" pitchFamily="49" charset="0"/>
              </a:rPr>
              <a:t>figsize</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2.7</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569CD6"/>
              </a:solidFill>
              <a:latin typeface="Consolas" panose="020B0609020204030204" pitchFamily="49" charset="0"/>
              <a:cs typeface="Courier New" panose="02070309020205020404" pitchFamily="49" charset="0"/>
            </a:endParaRPr>
          </a:p>
          <a:p>
            <a:r>
              <a:rPr lang="de-DE" sz="2000" dirty="0">
                <a:solidFill>
                  <a:srgbClr val="569CD6"/>
                </a:solidFill>
                <a:latin typeface="Consolas" panose="020B0609020204030204" pitchFamily="49" charset="0"/>
                <a:cs typeface="Courier New" panose="02070309020205020404" pitchFamily="49" charset="0"/>
              </a:rPr>
              <a:t>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err="1">
                <a:solidFill>
                  <a:srgbClr val="3EC9A4"/>
                </a:solidFill>
                <a:latin typeface="Consolas" panose="020B0609020204030204" pitchFamily="49" charset="0"/>
                <a:cs typeface="Courier New" panose="02070309020205020404" pitchFamily="49" charset="0"/>
              </a:rPr>
              <a:t>np</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arange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0.0</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5.0</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0.01</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s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err="1">
                <a:solidFill>
                  <a:srgbClr val="3EC9A4"/>
                </a:solidFill>
                <a:latin typeface="Consolas" panose="020B0609020204030204" pitchFamily="49" charset="0"/>
                <a:cs typeface="Courier New" panose="02070309020205020404" pitchFamily="49" charset="0"/>
              </a:rPr>
              <a:t>np</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569CD6"/>
                </a:solidFill>
                <a:latin typeface="Consolas" panose="020B0609020204030204" pitchFamily="49" charset="0"/>
                <a:cs typeface="Courier New" panose="02070309020205020404" pitchFamily="49" charset="0"/>
              </a:rPr>
              <a:t>cos</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err="1">
                <a:solidFill>
                  <a:srgbClr val="3EC9A4"/>
                </a:solidFill>
                <a:latin typeface="Consolas" panose="020B0609020204030204" pitchFamily="49" charset="0"/>
                <a:cs typeface="Courier New" panose="02070309020205020404" pitchFamily="49" charset="0"/>
              </a:rPr>
              <a:t>np</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569CD6"/>
                </a:solidFill>
                <a:latin typeface="Consolas" panose="020B0609020204030204" pitchFamily="49" charset="0"/>
                <a:cs typeface="Courier New" panose="02070309020205020404" pitchFamily="49" charset="0"/>
              </a:rPr>
              <a:t>pi</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t</a:t>
            </a:r>
            <a:r>
              <a:rPr lang="de-DE" sz="2000" dirty="0">
                <a:solidFill>
                  <a:srgbClr val="DB851F"/>
                </a:solidFill>
                <a:latin typeface="Consolas" panose="020B0609020204030204" pitchFamily="49" charset="0"/>
                <a:cs typeface="Courier New" panose="02070309020205020404" pitchFamily="49" charset="0"/>
              </a:rPr>
              <a:t>)</a:t>
            </a:r>
          </a:p>
          <a:p>
            <a:r>
              <a:rPr lang="de-DE" sz="2000" dirty="0" err="1">
                <a:solidFill>
                  <a:srgbClr val="569CD6"/>
                </a:solidFill>
                <a:latin typeface="Consolas" panose="020B0609020204030204" pitchFamily="49" charset="0"/>
                <a:cs typeface="Courier New" panose="02070309020205020404" pitchFamily="49" charset="0"/>
              </a:rPr>
              <a:t>line</a:t>
            </a:r>
            <a:r>
              <a:rPr lang="de-DE" sz="2000" dirty="0">
                <a:solidFill>
                  <a:schemeClr val="tx1"/>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ax</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s</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lw</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569CD6"/>
              </a:solidFill>
              <a:latin typeface="Consolas" panose="020B0609020204030204" pitchFamily="49" charset="0"/>
              <a:cs typeface="Courier New" panose="02070309020205020404" pitchFamily="49" charset="0"/>
            </a:endParaRPr>
          </a:p>
          <a:p>
            <a:r>
              <a:rPr lang="de-DE" sz="2000" dirty="0" err="1">
                <a:solidFill>
                  <a:srgbClr val="569CD6"/>
                </a:solidFill>
                <a:latin typeface="Consolas" panose="020B0609020204030204" pitchFamily="49" charset="0"/>
                <a:cs typeface="Courier New" panose="02070309020205020404" pitchFamily="49" charset="0"/>
              </a:rPr>
              <a:t>ax.</a:t>
            </a:r>
            <a:r>
              <a:rPr lang="de-DE" sz="2000" dirty="0" err="1">
                <a:solidFill>
                  <a:srgbClr val="DCCE81"/>
                </a:solidFill>
                <a:latin typeface="Consolas" panose="020B0609020204030204" pitchFamily="49" charset="0"/>
                <a:cs typeface="Courier New" panose="02070309020205020404" pitchFamily="49" charset="0"/>
              </a:rPr>
              <a:t>annotate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t>
            </a:r>
            <a:r>
              <a:rPr lang="de-DE" sz="2000" dirty="0" err="1">
                <a:solidFill>
                  <a:srgbClr val="AC4E1F"/>
                </a:solidFill>
                <a:latin typeface="Consolas" panose="020B0609020204030204" pitchFamily="49" charset="0"/>
                <a:cs typeface="Courier New" panose="02070309020205020404" pitchFamily="49" charset="0"/>
              </a:rPr>
              <a:t>local</a:t>
            </a:r>
            <a:r>
              <a:rPr lang="de-DE" sz="2000" dirty="0">
                <a:solidFill>
                  <a:srgbClr val="AC4E1F"/>
                </a:solidFill>
                <a:latin typeface="Consolas" panose="020B0609020204030204" pitchFamily="49" charset="0"/>
                <a:cs typeface="Courier New" panose="02070309020205020404" pitchFamily="49" charset="0"/>
              </a:rPr>
              <a:t> </a:t>
            </a:r>
            <a:r>
              <a:rPr lang="de-DE" sz="2000" dirty="0" err="1">
                <a:solidFill>
                  <a:srgbClr val="AC4E1F"/>
                </a:solidFill>
                <a:latin typeface="Consolas" panose="020B0609020204030204" pitchFamily="49" charset="0"/>
                <a:cs typeface="Courier New" panose="02070309020205020404" pitchFamily="49" charset="0"/>
              </a:rPr>
              <a:t>max</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xy</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1</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xytext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3</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1.5</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            arrowprops</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dict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facecolor</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'black'</a:t>
            </a:r>
            <a:r>
              <a:rPr lang="de-DE" sz="2000" dirty="0">
                <a:solidFill>
                  <a:schemeClr val="tx1"/>
                </a:solidFill>
                <a:latin typeface="Consolas" panose="020B0609020204030204" pitchFamily="49" charset="0"/>
                <a:cs typeface="Courier New" panose="02070309020205020404" pitchFamily="49" charset="0"/>
              </a:rPr>
              <a:t>,</a:t>
            </a:r>
          </a:p>
          <a:p>
            <a:pPr>
              <a:tabLst>
                <a:tab pos="1684338" algn="l"/>
              </a:tabLst>
            </a:pPr>
            <a:r>
              <a:rPr lang="de-DE" sz="2000" dirty="0">
                <a:solidFill>
                  <a:srgbClr val="569CD6"/>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shrink</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0.05</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569CD6"/>
              </a:solidFill>
              <a:latin typeface="Consolas" panose="020B0609020204030204" pitchFamily="49" charset="0"/>
              <a:cs typeface="Courier New" panose="02070309020205020404" pitchFamily="49" charset="0"/>
            </a:endParaRPr>
          </a:p>
          <a:p>
            <a:r>
              <a:rPr lang="de-DE" sz="2000" dirty="0" err="1">
                <a:solidFill>
                  <a:srgbClr val="569CD6"/>
                </a:solidFill>
                <a:latin typeface="Consolas" panose="020B0609020204030204" pitchFamily="49" charset="0"/>
                <a:cs typeface="Courier New" panose="02070309020205020404" pitchFamily="49" charset="0"/>
              </a:rPr>
              <a:t>ax</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set_ylim</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569CD6"/>
              </a:solidFill>
              <a:latin typeface="Consolas" panose="020B0609020204030204" pitchFamily="49" charset="0"/>
              <a:cs typeface="Courier New" panose="02070309020205020404" pitchFamily="49" charset="0"/>
            </a:endParaRPr>
          </a:p>
          <a:p>
            <a:r>
              <a:rPr lang="de-DE" sz="2000" dirty="0" err="1">
                <a:solidFill>
                  <a:srgbClr val="3EC9A4"/>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show</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DB851F"/>
              </a:solidFill>
              <a:latin typeface="Consolas" panose="020B0609020204030204" pitchFamily="49" charset="0"/>
              <a:cs typeface="Courier New" panose="02070309020205020404" pitchFamily="49" charset="0"/>
            </a:endParaRPr>
          </a:p>
        </p:txBody>
      </p:sp>
      <p:pic>
        <p:nvPicPr>
          <p:cNvPr id="9218" name="Picture 2" descr="quick start">
            <a:extLst>
              <a:ext uri="{FF2B5EF4-FFF2-40B4-BE49-F238E27FC236}">
                <a16:creationId xmlns:a16="http://schemas.microsoft.com/office/drawing/2014/main" id="{6249BE1A-2754-1A5E-240D-3BF8FD31C2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0670" y="1484313"/>
            <a:ext cx="4091330" cy="2209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0644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E04A6-009C-4F82-8CA2-D4133D0AB934}"/>
              </a:ext>
            </a:extLst>
          </p:cNvPr>
          <p:cNvSpPr>
            <a:spLocks noGrp="1"/>
          </p:cNvSpPr>
          <p:nvPr>
            <p:ph type="title"/>
          </p:nvPr>
        </p:nvSpPr>
        <p:spPr/>
        <p:txBody>
          <a:bodyPr/>
          <a:lstStyle/>
          <a:p>
            <a:r>
              <a:rPr lang="en-DE" dirty="0"/>
              <a:t>Subplots</a:t>
            </a:r>
          </a:p>
        </p:txBody>
      </p:sp>
      <p:sp>
        <p:nvSpPr>
          <p:cNvPr id="4" name="TextBox 3">
            <a:extLst>
              <a:ext uri="{FF2B5EF4-FFF2-40B4-BE49-F238E27FC236}">
                <a16:creationId xmlns:a16="http://schemas.microsoft.com/office/drawing/2014/main" id="{7136DC60-1184-8324-440D-3F2335C0661C}"/>
              </a:ext>
            </a:extLst>
          </p:cNvPr>
          <p:cNvSpPr txBox="1"/>
          <p:nvPr/>
        </p:nvSpPr>
        <p:spPr>
          <a:xfrm>
            <a:off x="698103" y="1484313"/>
            <a:ext cx="7345363" cy="4401205"/>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de-DE" sz="2000" dirty="0" err="1">
                <a:solidFill>
                  <a:srgbClr val="569CD6"/>
                </a:solidFill>
                <a:latin typeface="Consolas" panose="020B0609020204030204" pitchFamily="49" charset="0"/>
                <a:cs typeface="Courier New" panose="02070309020205020404" pitchFamily="49" charset="0"/>
              </a:rPr>
              <a:t>fig</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axs</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err="1">
                <a:solidFill>
                  <a:srgbClr val="3EC9A4"/>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subplots</a:t>
            </a:r>
            <a:r>
              <a:rPr lang="de-DE" sz="2000" dirty="0">
                <a:solidFill>
                  <a:srgbClr val="DB851F"/>
                </a:solidFill>
                <a:latin typeface="Consolas" panose="020B0609020204030204" pitchFamily="49" charset="0"/>
                <a:cs typeface="Courier New" panose="02070309020205020404" pitchFamily="49" charset="0"/>
              </a:rPr>
              <a:t>(</a:t>
            </a:r>
            <a:r>
              <a:rPr lang="de-DE" sz="2000" dirty="0" err="1">
                <a:solidFill>
                  <a:srgbClr val="569CD6"/>
                </a:solidFill>
                <a:latin typeface="Consolas" panose="020B0609020204030204" pitchFamily="49" charset="0"/>
                <a:cs typeface="Courier New" panose="02070309020205020404" pitchFamily="49" charset="0"/>
              </a:rPr>
              <a:t>nrows</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1</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p>
          <a:p>
            <a:pPr>
              <a:tabLst>
                <a:tab pos="3324225" algn="l"/>
              </a:tabLst>
            </a:pPr>
            <a:r>
              <a:rPr lang="de-DE" sz="2000" dirty="0">
                <a:solidFill>
                  <a:srgbClr val="DB851F"/>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ncols</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p>
          <a:p>
            <a:pPr>
              <a:tabLst>
                <a:tab pos="3324225" algn="l"/>
              </a:tabLst>
            </a:pPr>
            <a:r>
              <a:rPr lang="de-DE" sz="2000" dirty="0">
                <a:solidFill>
                  <a:srgbClr val="DB851F"/>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figsize</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2.7</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p>
          <a:p>
            <a:pPr>
              <a:tabLst>
                <a:tab pos="3324225" algn="l"/>
              </a:tabLst>
            </a:pP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layout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'constrained'</a:t>
            </a:r>
            <a:r>
              <a:rPr lang="de-DE" sz="2000" dirty="0">
                <a:solidFill>
                  <a:srgbClr val="DB851F"/>
                </a:solidFill>
                <a:latin typeface="Consolas" panose="020B0609020204030204" pitchFamily="49" charset="0"/>
                <a:cs typeface="Courier New" panose="02070309020205020404" pitchFamily="49" charset="0"/>
              </a:rPr>
              <a:t>)</a:t>
            </a:r>
          </a:p>
          <a:p>
            <a:pPr>
              <a:tabLst>
                <a:tab pos="3324225" algn="l"/>
              </a:tabLst>
            </a:pPr>
            <a:endParaRPr lang="de-DE" sz="2000" dirty="0">
              <a:solidFill>
                <a:srgbClr val="DB851F"/>
              </a:solidFill>
              <a:latin typeface="Consolas" panose="020B0609020204030204" pitchFamily="49" charset="0"/>
              <a:cs typeface="Courier New" panose="02070309020205020404" pitchFamily="49" charset="0"/>
            </a:endParaRPr>
          </a:p>
          <a:p>
            <a:r>
              <a:rPr lang="de-DE" sz="2000" dirty="0" err="1">
                <a:solidFill>
                  <a:srgbClr val="569CD6"/>
                </a:solidFill>
                <a:latin typeface="Consolas" panose="020B0609020204030204" pitchFamily="49" charset="0"/>
                <a:cs typeface="Courier New" panose="02070309020205020404" pitchFamily="49" charset="0"/>
              </a:rPr>
              <a:t>xdata</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err="1">
                <a:solidFill>
                  <a:srgbClr val="3EC9A4"/>
                </a:solidFill>
                <a:latin typeface="Consolas" panose="020B0609020204030204" pitchFamily="49" charset="0"/>
                <a:cs typeface="Courier New" panose="02070309020205020404" pitchFamily="49" charset="0"/>
              </a:rPr>
              <a:t>np</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arange</a:t>
            </a:r>
            <a:r>
              <a:rPr lang="de-DE" sz="2000" dirty="0">
                <a:solidFill>
                  <a:srgbClr val="DB851F"/>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len</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data1</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r>
              <a:rPr lang="de-DE" sz="2000" dirty="0" err="1">
                <a:solidFill>
                  <a:srgbClr val="569CD6"/>
                </a:solidFill>
                <a:latin typeface="Consolas" panose="020B0609020204030204" pitchFamily="49" charset="0"/>
                <a:cs typeface="Courier New" panose="02070309020205020404" pitchFamily="49" charset="0"/>
              </a:rPr>
              <a:t>data</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10</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data1</a:t>
            </a:r>
          </a:p>
          <a:p>
            <a:r>
              <a:rPr lang="de-DE" sz="2000" dirty="0" err="1">
                <a:solidFill>
                  <a:srgbClr val="569CD6"/>
                </a:solidFill>
                <a:latin typeface="Consolas" panose="020B0609020204030204" pitchFamily="49" charset="0"/>
                <a:cs typeface="Courier New" panose="02070309020205020404" pitchFamily="49" charset="0"/>
              </a:rPr>
              <a:t>axs</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0</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err="1">
                <a:solidFill>
                  <a:srgbClr val="569CD6"/>
                </a:solidFill>
                <a:latin typeface="Consolas" panose="020B0609020204030204" pitchFamily="49" charset="0"/>
                <a:cs typeface="Courier New" panose="02070309020205020404" pitchFamily="49" charset="0"/>
              </a:rPr>
              <a:t>xdata</a:t>
            </a:r>
            <a:r>
              <a:rPr lang="de-DE" sz="2000" dirty="0">
                <a:solidFill>
                  <a:srgbClr val="DB851F"/>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data</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DB851F"/>
              </a:solidFill>
              <a:latin typeface="Consolas" panose="020B0609020204030204" pitchFamily="49" charset="0"/>
              <a:cs typeface="Courier New" panose="02070309020205020404" pitchFamily="49" charset="0"/>
            </a:endParaRPr>
          </a:p>
          <a:p>
            <a:r>
              <a:rPr lang="de-DE" sz="2000" dirty="0" err="1">
                <a:solidFill>
                  <a:srgbClr val="569CD6"/>
                </a:solidFill>
                <a:latin typeface="Consolas" panose="020B0609020204030204" pitchFamily="49" charset="0"/>
                <a:cs typeface="Courier New" panose="02070309020205020404" pitchFamily="49" charset="0"/>
              </a:rPr>
              <a:t>axs</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1</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set_yscale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'log'</a:t>
            </a:r>
            <a:r>
              <a:rPr lang="de-DE" sz="2000" dirty="0">
                <a:solidFill>
                  <a:srgbClr val="DB851F"/>
                </a:solidFill>
                <a:latin typeface="Consolas" panose="020B0609020204030204" pitchFamily="49" charset="0"/>
                <a:cs typeface="Courier New" panose="02070309020205020404" pitchFamily="49" charset="0"/>
              </a:rPr>
              <a:t>)</a:t>
            </a:r>
          </a:p>
          <a:p>
            <a:r>
              <a:rPr lang="de-DE" sz="2000" dirty="0" err="1">
                <a:solidFill>
                  <a:srgbClr val="569CD6"/>
                </a:solidFill>
                <a:latin typeface="Consolas" panose="020B0609020204030204" pitchFamily="49" charset="0"/>
                <a:cs typeface="Courier New" panose="02070309020205020404" pitchFamily="49" charset="0"/>
              </a:rPr>
              <a:t>axs</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1</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err="1">
                <a:solidFill>
                  <a:srgbClr val="569CD6"/>
                </a:solidFill>
                <a:latin typeface="Consolas" panose="020B0609020204030204" pitchFamily="49" charset="0"/>
                <a:cs typeface="Courier New" panose="02070309020205020404" pitchFamily="49" charset="0"/>
              </a:rPr>
              <a:t>xdata</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data</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DB851F"/>
              </a:solidFill>
              <a:latin typeface="Consolas" panose="020B0609020204030204" pitchFamily="49" charset="0"/>
              <a:cs typeface="Courier New" panose="02070309020205020404" pitchFamily="49" charset="0"/>
            </a:endParaRPr>
          </a:p>
          <a:p>
            <a:r>
              <a:rPr lang="de-DE" sz="2000" dirty="0" err="1">
                <a:solidFill>
                  <a:srgbClr val="3EC9A4"/>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show</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DB851F"/>
              </a:solidFill>
              <a:latin typeface="Consolas" panose="020B0609020204030204" pitchFamily="49" charset="0"/>
              <a:cs typeface="Courier New" panose="02070309020205020404" pitchFamily="49" charset="0"/>
            </a:endParaRPr>
          </a:p>
        </p:txBody>
      </p:sp>
      <p:pic>
        <p:nvPicPr>
          <p:cNvPr id="10242" name="Picture 2" descr="quick start">
            <a:extLst>
              <a:ext uri="{FF2B5EF4-FFF2-40B4-BE49-F238E27FC236}">
                <a16:creationId xmlns:a16="http://schemas.microsoft.com/office/drawing/2014/main" id="{61B7121F-DE5E-2A01-F52A-B136BDCAA6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9476" y="3063875"/>
            <a:ext cx="6350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533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39ADC-EE86-79D7-5DD0-A0CF9AAA4EA6}"/>
              </a:ext>
            </a:extLst>
          </p:cNvPr>
          <p:cNvSpPr>
            <a:spLocks noGrp="1"/>
          </p:cNvSpPr>
          <p:nvPr>
            <p:ph type="title"/>
          </p:nvPr>
        </p:nvSpPr>
        <p:spPr/>
        <p:txBody>
          <a:bodyPr/>
          <a:lstStyle/>
          <a:p>
            <a:r>
              <a:rPr lang="en-US" dirty="0"/>
              <a:t>Subplots mosaic</a:t>
            </a:r>
          </a:p>
        </p:txBody>
      </p:sp>
      <p:sp>
        <p:nvSpPr>
          <p:cNvPr id="7" name="TextBox 6">
            <a:extLst>
              <a:ext uri="{FF2B5EF4-FFF2-40B4-BE49-F238E27FC236}">
                <a16:creationId xmlns:a16="http://schemas.microsoft.com/office/drawing/2014/main" id="{93EEF104-78C2-9989-6AB6-EB9F9E28D70E}"/>
              </a:ext>
            </a:extLst>
          </p:cNvPr>
          <p:cNvSpPr txBox="1"/>
          <p:nvPr/>
        </p:nvSpPr>
        <p:spPr>
          <a:xfrm>
            <a:off x="695325" y="1690688"/>
            <a:ext cx="7858366" cy="3170099"/>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de-DE" sz="2000" dirty="0" err="1">
                <a:solidFill>
                  <a:srgbClr val="569CD6"/>
                </a:solidFill>
                <a:latin typeface="Consolas" panose="020B0609020204030204" pitchFamily="49" charset="0"/>
                <a:cs typeface="Courier New" panose="02070309020205020404" pitchFamily="49" charset="0"/>
              </a:rPr>
              <a:t>fig</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err="1">
                <a:solidFill>
                  <a:srgbClr val="569CD6"/>
                </a:solidFill>
                <a:latin typeface="Consolas" panose="020B0609020204030204" pitchFamily="49" charset="0"/>
                <a:cs typeface="Courier New" panose="02070309020205020404" pitchFamily="49" charset="0"/>
              </a:rPr>
              <a:t>axd</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err="1">
                <a:solidFill>
                  <a:srgbClr val="3EC9A4"/>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subplot_mosaic</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t>
            </a:r>
            <a:r>
              <a:rPr lang="de-DE" sz="2000" dirty="0" err="1">
                <a:solidFill>
                  <a:srgbClr val="AC4E1F"/>
                </a:solidFill>
                <a:latin typeface="Consolas" panose="020B0609020204030204" pitchFamily="49" charset="0"/>
                <a:cs typeface="Courier New" panose="02070309020205020404" pitchFamily="49" charset="0"/>
              </a:rPr>
              <a:t>upleft</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AC4E1F"/>
                </a:solidFill>
                <a:latin typeface="Consolas" panose="020B0609020204030204" pitchFamily="49" charset="0"/>
                <a:cs typeface="Courier New" panose="02070309020205020404" pitchFamily="49" charset="0"/>
              </a:rPr>
              <a:t>'</a:t>
            </a:r>
            <a:r>
              <a:rPr lang="de-DE" sz="2000" dirty="0" err="1">
                <a:solidFill>
                  <a:srgbClr val="AC4E1F"/>
                </a:solidFill>
                <a:latin typeface="Consolas" panose="020B0609020204030204" pitchFamily="49" charset="0"/>
                <a:cs typeface="Courier New" panose="02070309020205020404" pitchFamily="49" charset="0"/>
              </a:rPr>
              <a:t>right</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p>
          <a:p>
            <a:pPr>
              <a:tabLst>
                <a:tab pos="4213225" algn="l"/>
              </a:tabLst>
            </a:pP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'lowleft'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AC4E1F"/>
                </a:solidFill>
                <a:latin typeface="Consolas" panose="020B0609020204030204" pitchFamily="49" charset="0"/>
                <a:cs typeface="Courier New" panose="02070309020205020404" pitchFamily="49" charset="0"/>
              </a:rPr>
              <a:t>'right'</a:t>
            </a:r>
            <a:r>
              <a:rPr lang="de-DE" sz="2000" dirty="0">
                <a:solidFill>
                  <a:srgbClr val="569CD6"/>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layout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'constrained'</a:t>
            </a:r>
            <a:r>
              <a:rPr lang="de-DE" sz="2000" dirty="0">
                <a:solidFill>
                  <a:srgbClr val="DB851F"/>
                </a:solidFill>
                <a:latin typeface="Consolas" panose="020B0609020204030204" pitchFamily="49" charset="0"/>
                <a:cs typeface="Courier New" panose="02070309020205020404" pitchFamily="49" charset="0"/>
              </a:rPr>
              <a:t>)</a:t>
            </a:r>
          </a:p>
          <a:p>
            <a:pPr>
              <a:tabLst>
                <a:tab pos="4213225" algn="l"/>
              </a:tabLst>
            </a:pPr>
            <a:endParaRPr lang="de-DE" sz="2000" dirty="0">
              <a:solidFill>
                <a:srgbClr val="DB851F"/>
              </a:solidFill>
              <a:latin typeface="Consolas" panose="020B0609020204030204" pitchFamily="49" charset="0"/>
              <a:cs typeface="Courier New" panose="02070309020205020404" pitchFamily="49" charset="0"/>
            </a:endParaRPr>
          </a:p>
          <a:p>
            <a:r>
              <a:rPr lang="de-DE" sz="2000" dirty="0" err="1">
                <a:solidFill>
                  <a:srgbClr val="569CD6"/>
                </a:solidFill>
                <a:latin typeface="Consolas" panose="020B0609020204030204" pitchFamily="49" charset="0"/>
                <a:cs typeface="Courier New" panose="02070309020205020404" pitchFamily="49" charset="0"/>
              </a:rPr>
              <a:t>axd</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t>
            </a:r>
            <a:r>
              <a:rPr lang="de-DE" sz="2000" dirty="0" err="1">
                <a:solidFill>
                  <a:srgbClr val="AC4E1F"/>
                </a:solidFill>
                <a:latin typeface="Consolas" panose="020B0609020204030204" pitchFamily="49" charset="0"/>
                <a:cs typeface="Courier New" panose="02070309020205020404" pitchFamily="49" charset="0"/>
              </a:rPr>
              <a:t>upleft</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set_title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t>
            </a:r>
            <a:r>
              <a:rPr lang="de-DE" sz="2000" dirty="0" err="1">
                <a:solidFill>
                  <a:srgbClr val="AC4E1F"/>
                </a:solidFill>
                <a:latin typeface="Consolas" panose="020B0609020204030204" pitchFamily="49" charset="0"/>
                <a:cs typeface="Courier New" panose="02070309020205020404" pitchFamily="49" charset="0"/>
              </a:rPr>
              <a:t>upleft</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r>
              <a:rPr lang="de-DE" sz="2000" dirty="0" err="1">
                <a:solidFill>
                  <a:srgbClr val="569CD6"/>
                </a:solidFill>
                <a:latin typeface="Consolas" panose="020B0609020204030204" pitchFamily="49" charset="0"/>
                <a:cs typeface="Courier New" panose="02070309020205020404" pitchFamily="49" charset="0"/>
              </a:rPr>
              <a:t>axd</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t>
            </a:r>
            <a:r>
              <a:rPr lang="de-DE" sz="2000" dirty="0" err="1">
                <a:solidFill>
                  <a:srgbClr val="AC4E1F"/>
                </a:solidFill>
                <a:latin typeface="Consolas" panose="020B0609020204030204" pitchFamily="49" charset="0"/>
                <a:cs typeface="Courier New" panose="02070309020205020404" pitchFamily="49" charset="0"/>
              </a:rPr>
              <a:t>lowleft</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set_title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t>
            </a:r>
            <a:r>
              <a:rPr lang="de-DE" sz="2000" dirty="0" err="1">
                <a:solidFill>
                  <a:srgbClr val="AC4E1F"/>
                </a:solidFill>
                <a:latin typeface="Consolas" panose="020B0609020204030204" pitchFamily="49" charset="0"/>
                <a:cs typeface="Courier New" panose="02070309020205020404" pitchFamily="49" charset="0"/>
              </a:rPr>
              <a:t>lowleft</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axd</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'right'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set_title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'right'</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DB851F"/>
              </a:solidFill>
              <a:latin typeface="Consolas" panose="020B0609020204030204" pitchFamily="49" charset="0"/>
              <a:cs typeface="Courier New" panose="02070309020205020404" pitchFamily="49" charset="0"/>
            </a:endParaRPr>
          </a:p>
          <a:p>
            <a:r>
              <a:rPr lang="de-DE" sz="2000" dirty="0" err="1">
                <a:solidFill>
                  <a:srgbClr val="3EC9A4"/>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show</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DB851F"/>
              </a:solidFill>
              <a:latin typeface="Consolas" panose="020B0609020204030204" pitchFamily="49" charset="0"/>
              <a:cs typeface="Courier New" panose="02070309020205020404" pitchFamily="49" charset="0"/>
            </a:endParaRPr>
          </a:p>
        </p:txBody>
      </p:sp>
      <p:pic>
        <p:nvPicPr>
          <p:cNvPr id="11266" name="Picture 2" descr="upleft, right, lowleft">
            <a:extLst>
              <a:ext uri="{FF2B5EF4-FFF2-40B4-BE49-F238E27FC236}">
                <a16:creationId xmlns:a16="http://schemas.microsoft.com/office/drawing/2014/main" id="{0249F85B-9B3B-7297-7EDA-4296678BC8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2846" y="2772136"/>
            <a:ext cx="5217609" cy="3913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2517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ABB8D-E4A4-AB13-18EF-A2DD970B5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9A09F-2F11-564C-0E25-C93B68D09210}"/>
              </a:ext>
            </a:extLst>
          </p:cNvPr>
          <p:cNvSpPr>
            <a:spLocks noGrp="1"/>
          </p:cNvSpPr>
          <p:nvPr>
            <p:ph type="title"/>
          </p:nvPr>
        </p:nvSpPr>
        <p:spPr/>
        <p:txBody>
          <a:bodyPr/>
          <a:lstStyle/>
          <a:p>
            <a:r>
              <a:rPr lang="en-US" dirty="0"/>
              <a:t>Layouts</a:t>
            </a:r>
          </a:p>
        </p:txBody>
      </p:sp>
      <p:sp>
        <p:nvSpPr>
          <p:cNvPr id="4" name="TextBox 3">
            <a:extLst>
              <a:ext uri="{FF2B5EF4-FFF2-40B4-BE49-F238E27FC236}">
                <a16:creationId xmlns:a16="http://schemas.microsoft.com/office/drawing/2014/main" id="{DB2225F4-C076-E9B6-5024-5EE561B83826}"/>
              </a:ext>
            </a:extLst>
          </p:cNvPr>
          <p:cNvSpPr txBox="1"/>
          <p:nvPr/>
        </p:nvSpPr>
        <p:spPr>
          <a:xfrm>
            <a:off x="3197615" y="2348420"/>
            <a:ext cx="869020" cy="369332"/>
          </a:xfrm>
          <a:prstGeom prst="rect">
            <a:avLst/>
          </a:prstGeom>
          <a:noFill/>
        </p:spPr>
        <p:txBody>
          <a:bodyPr wrap="square" rtlCol="0">
            <a:spAutoFit/>
          </a:bodyPr>
          <a:lstStyle/>
          <a:p>
            <a:r>
              <a:rPr lang="en-US" dirty="0"/>
              <a:t>Default</a:t>
            </a:r>
          </a:p>
        </p:txBody>
      </p:sp>
      <p:sp>
        <p:nvSpPr>
          <p:cNvPr id="5" name="TextBox 4">
            <a:extLst>
              <a:ext uri="{FF2B5EF4-FFF2-40B4-BE49-F238E27FC236}">
                <a16:creationId xmlns:a16="http://schemas.microsoft.com/office/drawing/2014/main" id="{801748CA-EB22-B45D-AE4D-1366BDCCD9ED}"/>
              </a:ext>
            </a:extLst>
          </p:cNvPr>
          <p:cNvSpPr txBox="1"/>
          <p:nvPr/>
        </p:nvSpPr>
        <p:spPr>
          <a:xfrm>
            <a:off x="7441110" y="2306199"/>
            <a:ext cx="1313886" cy="369332"/>
          </a:xfrm>
          <a:prstGeom prst="rect">
            <a:avLst/>
          </a:prstGeom>
          <a:noFill/>
        </p:spPr>
        <p:txBody>
          <a:bodyPr wrap="none" rtlCol="0">
            <a:spAutoFit/>
          </a:bodyPr>
          <a:lstStyle/>
          <a:p>
            <a:r>
              <a:rPr lang="en-US" dirty="0"/>
              <a:t>Constrained</a:t>
            </a:r>
          </a:p>
        </p:txBody>
      </p:sp>
      <p:pic>
        <p:nvPicPr>
          <p:cNvPr id="12290" name="Picture 2" descr="Title">
            <a:extLst>
              <a:ext uri="{FF2B5EF4-FFF2-40B4-BE49-F238E27FC236}">
                <a16:creationId xmlns:a16="http://schemas.microsoft.com/office/drawing/2014/main" id="{28558E31-A1E0-CE5E-9FA6-81BB9E4C2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3375" y="2717752"/>
            <a:ext cx="28575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Title">
            <a:extLst>
              <a:ext uri="{FF2B5EF4-FFF2-40B4-BE49-F238E27FC236}">
                <a16:creationId xmlns:a16="http://schemas.microsoft.com/office/drawing/2014/main" id="{DAE3D97D-0CD4-0022-83B4-A6D4D30F63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9303" y="2717752"/>
            <a:ext cx="28575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3815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3F5E9-AD3A-8AA0-9C14-466514A388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952DD-46EA-9572-0260-3CDDBC407AAB}"/>
              </a:ext>
            </a:extLst>
          </p:cNvPr>
          <p:cNvSpPr>
            <a:spLocks noGrp="1"/>
          </p:cNvSpPr>
          <p:nvPr>
            <p:ph type="title"/>
          </p:nvPr>
        </p:nvSpPr>
        <p:spPr/>
        <p:txBody>
          <a:bodyPr/>
          <a:lstStyle/>
          <a:p>
            <a:r>
              <a:rPr lang="en-US" dirty="0"/>
              <a:t>Layouts</a:t>
            </a:r>
          </a:p>
        </p:txBody>
      </p:sp>
      <p:sp>
        <p:nvSpPr>
          <p:cNvPr id="4" name="TextBox 3">
            <a:extLst>
              <a:ext uri="{FF2B5EF4-FFF2-40B4-BE49-F238E27FC236}">
                <a16:creationId xmlns:a16="http://schemas.microsoft.com/office/drawing/2014/main" id="{F95D3A57-E02A-6711-AF10-0D6AF6EA5841}"/>
              </a:ext>
            </a:extLst>
          </p:cNvPr>
          <p:cNvSpPr txBox="1"/>
          <p:nvPr/>
        </p:nvSpPr>
        <p:spPr>
          <a:xfrm>
            <a:off x="3197615" y="1723496"/>
            <a:ext cx="869020" cy="369332"/>
          </a:xfrm>
          <a:prstGeom prst="rect">
            <a:avLst/>
          </a:prstGeom>
          <a:noFill/>
        </p:spPr>
        <p:txBody>
          <a:bodyPr wrap="square" rtlCol="0">
            <a:spAutoFit/>
          </a:bodyPr>
          <a:lstStyle/>
          <a:p>
            <a:r>
              <a:rPr lang="en-US" dirty="0"/>
              <a:t>Default</a:t>
            </a:r>
          </a:p>
        </p:txBody>
      </p:sp>
      <p:sp>
        <p:nvSpPr>
          <p:cNvPr id="5" name="TextBox 4">
            <a:extLst>
              <a:ext uri="{FF2B5EF4-FFF2-40B4-BE49-F238E27FC236}">
                <a16:creationId xmlns:a16="http://schemas.microsoft.com/office/drawing/2014/main" id="{977C1B4D-A1FD-C858-14D5-20042355EA11}"/>
              </a:ext>
            </a:extLst>
          </p:cNvPr>
          <p:cNvSpPr txBox="1"/>
          <p:nvPr/>
        </p:nvSpPr>
        <p:spPr>
          <a:xfrm>
            <a:off x="7441110" y="1681275"/>
            <a:ext cx="1313886" cy="369332"/>
          </a:xfrm>
          <a:prstGeom prst="rect">
            <a:avLst/>
          </a:prstGeom>
          <a:noFill/>
        </p:spPr>
        <p:txBody>
          <a:bodyPr wrap="none" rtlCol="0">
            <a:spAutoFit/>
          </a:bodyPr>
          <a:lstStyle/>
          <a:p>
            <a:r>
              <a:rPr lang="en-US" dirty="0"/>
              <a:t>Constrained</a:t>
            </a:r>
          </a:p>
        </p:txBody>
      </p:sp>
      <p:pic>
        <p:nvPicPr>
          <p:cNvPr id="12290" name="Picture 2" descr="Title">
            <a:extLst>
              <a:ext uri="{FF2B5EF4-FFF2-40B4-BE49-F238E27FC236}">
                <a16:creationId xmlns:a16="http://schemas.microsoft.com/office/drawing/2014/main" id="{45E467E7-18E3-C361-FA53-0B902CB6F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3375" y="2717752"/>
            <a:ext cx="28575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Title">
            <a:extLst>
              <a:ext uri="{FF2B5EF4-FFF2-40B4-BE49-F238E27FC236}">
                <a16:creationId xmlns:a16="http://schemas.microsoft.com/office/drawing/2014/main" id="{E43C0AC3-BDD8-635D-C968-B7FD839A7C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9303" y="2717752"/>
            <a:ext cx="28575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Title, Title, Title, Title">
            <a:extLst>
              <a:ext uri="{FF2B5EF4-FFF2-40B4-BE49-F238E27FC236}">
                <a16:creationId xmlns:a16="http://schemas.microsoft.com/office/drawing/2014/main" id="{83C96CDB-3394-4FF9-F26A-4ACC9A8C6B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3559" y="2105224"/>
            <a:ext cx="4297132" cy="3819673"/>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Title, Title, Title, Title">
            <a:extLst>
              <a:ext uri="{FF2B5EF4-FFF2-40B4-BE49-F238E27FC236}">
                <a16:creationId xmlns:a16="http://schemas.microsoft.com/office/drawing/2014/main" id="{74E98259-17FA-10D6-E897-A52D9A2164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9487" y="2105224"/>
            <a:ext cx="4297132" cy="3819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7660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1CDAF-F927-C0E7-AAFC-CDF3646ACD6E}"/>
              </a:ext>
            </a:extLst>
          </p:cNvPr>
          <p:cNvSpPr>
            <a:spLocks noGrp="1"/>
          </p:cNvSpPr>
          <p:nvPr>
            <p:ph type="title"/>
          </p:nvPr>
        </p:nvSpPr>
        <p:spPr/>
        <p:txBody>
          <a:bodyPr/>
          <a:lstStyle/>
          <a:p>
            <a:r>
              <a:rPr lang="en-US" dirty="0"/>
              <a:t>Inset axes</a:t>
            </a:r>
          </a:p>
        </p:txBody>
      </p:sp>
      <p:sp>
        <p:nvSpPr>
          <p:cNvPr id="5" name="TextBox 4">
            <a:extLst>
              <a:ext uri="{FF2B5EF4-FFF2-40B4-BE49-F238E27FC236}">
                <a16:creationId xmlns:a16="http://schemas.microsoft.com/office/drawing/2014/main" id="{6BF9A875-BE40-35EA-1C2D-8DC6B6F914F6}"/>
              </a:ext>
            </a:extLst>
          </p:cNvPr>
          <p:cNvSpPr txBox="1"/>
          <p:nvPr/>
        </p:nvSpPr>
        <p:spPr>
          <a:xfrm>
            <a:off x="695325" y="1690688"/>
            <a:ext cx="7345363" cy="1938992"/>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de-DE" sz="2000" dirty="0">
                <a:solidFill>
                  <a:srgbClr val="569CD6"/>
                </a:solidFill>
                <a:latin typeface="Consolas" panose="020B0609020204030204" pitchFamily="49" charset="0"/>
                <a:cs typeface="Courier New" panose="02070309020205020404" pitchFamily="49" charset="0"/>
              </a:rPr>
              <a:t>fig</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ax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subplots</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plot</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3EC9A4"/>
                </a:solidFill>
                <a:latin typeface="Consolas" panose="020B0609020204030204" pitchFamily="49" charset="0"/>
                <a:cs typeface="Courier New" panose="02070309020205020404" pitchFamily="49" charset="0"/>
              </a:rPr>
              <a:t>range</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10</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r>
              <a:rPr lang="de-DE" sz="2000" dirty="0">
                <a:solidFill>
                  <a:srgbClr val="569CD6"/>
                </a:solidFill>
                <a:latin typeface="Consolas" panose="020B0609020204030204" pitchFamily="49" charset="0"/>
                <a:cs typeface="Courier New" panose="02070309020205020404" pitchFamily="49" charset="0"/>
              </a:rPr>
              <a:t>Ax_inset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569CD6"/>
                </a:solidFill>
                <a:latin typeface="Consolas" panose="020B0609020204030204" pitchFamily="49" charset="0"/>
                <a:cs typeface="Courier New" panose="02070309020205020404" pitchFamily="49" charset="0"/>
              </a:rPr>
              <a:t>ax</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inset_axes</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B5CEA8"/>
                </a:solidFill>
                <a:latin typeface="Consolas" panose="020B0609020204030204" pitchFamily="49" charset="0"/>
                <a:cs typeface="Courier New" panose="02070309020205020404" pitchFamily="49" charset="0"/>
              </a:rPr>
              <a:t>0.8</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0.1</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0.15</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 </a:t>
            </a:r>
            <a:r>
              <a:rPr lang="de-DE" sz="2000" dirty="0">
                <a:solidFill>
                  <a:srgbClr val="B5CEA8"/>
                </a:solidFill>
                <a:latin typeface="Consolas" panose="020B0609020204030204" pitchFamily="49" charset="0"/>
                <a:cs typeface="Courier New" panose="02070309020205020404" pitchFamily="49" charset="0"/>
              </a:rPr>
              <a:t>0.15</a:t>
            </a:r>
            <a:r>
              <a:rPr lang="de-DE" sz="2000" dirty="0">
                <a:solidFill>
                  <a:srgbClr val="C586B6"/>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DB851F"/>
              </a:solidFill>
              <a:latin typeface="Consolas" panose="020B0609020204030204" pitchFamily="49" charset="0"/>
              <a:cs typeface="Courier New" panose="02070309020205020404" pitchFamily="49" charset="0"/>
            </a:endParaRPr>
          </a:p>
          <a:p>
            <a:r>
              <a:rPr lang="de-DE" sz="2000" dirty="0">
                <a:solidFill>
                  <a:srgbClr val="3EC9A4"/>
                </a:solidFill>
                <a:latin typeface="Consolas" panose="020B0609020204030204" pitchFamily="49" charset="0"/>
                <a:cs typeface="Courier New" panose="02070309020205020404" pitchFamily="49" charset="0"/>
              </a:rPr>
              <a:t>plt</a:t>
            </a:r>
            <a:r>
              <a:rPr lang="de-DE" sz="2000" dirty="0">
                <a:solidFill>
                  <a:schemeClr val="tx1"/>
                </a:solidFill>
                <a:latin typeface="Consolas" panose="020B0609020204030204" pitchFamily="49" charset="0"/>
                <a:cs typeface="Courier New" panose="02070309020205020404" pitchFamily="49" charset="0"/>
              </a:rPr>
              <a:t>.</a:t>
            </a:r>
            <a:r>
              <a:rPr lang="de-DE" sz="2000" dirty="0">
                <a:solidFill>
                  <a:srgbClr val="DCCE81"/>
                </a:solidFill>
                <a:latin typeface="Consolas" panose="020B0609020204030204" pitchFamily="49" charset="0"/>
                <a:cs typeface="Courier New" panose="02070309020205020404" pitchFamily="49" charset="0"/>
              </a:rPr>
              <a:t>show</a:t>
            </a:r>
            <a:r>
              <a:rPr lang="de-DE" sz="2000" dirty="0">
                <a:solidFill>
                  <a:srgbClr val="DB851F"/>
                </a:solidFill>
                <a:latin typeface="Consolas" panose="020B0609020204030204" pitchFamily="49" charset="0"/>
                <a:cs typeface="Courier New" panose="02070309020205020404" pitchFamily="49" charset="0"/>
              </a:rPr>
              <a:t>()</a:t>
            </a:r>
          </a:p>
          <a:p>
            <a:endParaRPr lang="de-DE" sz="2000" dirty="0">
              <a:solidFill>
                <a:srgbClr val="DB851F"/>
              </a:solidFill>
              <a:latin typeface="Consolas" panose="020B06090202040302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1F910210-4B62-1BA8-0E1D-9CD0A6F3309F}"/>
              </a:ext>
            </a:extLst>
          </p:cNvPr>
          <p:cNvPicPr>
            <a:picLocks noChangeAspect="1"/>
          </p:cNvPicPr>
          <p:nvPr/>
        </p:nvPicPr>
        <p:blipFill>
          <a:blip r:embed="rId2"/>
          <a:stretch>
            <a:fillRect/>
          </a:stretch>
        </p:blipFill>
        <p:spPr>
          <a:xfrm>
            <a:off x="7095281" y="2815405"/>
            <a:ext cx="4766429" cy="3677470"/>
          </a:xfrm>
          <a:prstGeom prst="rect">
            <a:avLst/>
          </a:prstGeom>
        </p:spPr>
      </p:pic>
      <p:pic>
        <p:nvPicPr>
          <p:cNvPr id="7" name="Picture 6">
            <a:extLst>
              <a:ext uri="{FF2B5EF4-FFF2-40B4-BE49-F238E27FC236}">
                <a16:creationId xmlns:a16="http://schemas.microsoft.com/office/drawing/2014/main" id="{B1767A6D-31DD-936D-13F4-815F499266C5}"/>
              </a:ext>
            </a:extLst>
          </p:cNvPr>
          <p:cNvPicPr>
            <a:picLocks noChangeAspect="1"/>
          </p:cNvPicPr>
          <p:nvPr/>
        </p:nvPicPr>
        <p:blipFill>
          <a:blip r:embed="rId3"/>
          <a:stretch>
            <a:fillRect/>
          </a:stretch>
        </p:blipFill>
        <p:spPr>
          <a:xfrm>
            <a:off x="2358021" y="3738622"/>
            <a:ext cx="3097445" cy="3053613"/>
          </a:xfrm>
          <a:prstGeom prst="rect">
            <a:avLst/>
          </a:prstGeom>
        </p:spPr>
      </p:pic>
    </p:spTree>
    <p:extLst>
      <p:ext uri="{BB962C8B-B14F-4D97-AF65-F5344CB8AC3E}">
        <p14:creationId xmlns:p14="http://schemas.microsoft.com/office/powerpoint/2010/main" val="424486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7CF86-C042-D1DE-3547-CB103D722EB5}"/>
              </a:ext>
            </a:extLst>
          </p:cNvPr>
          <p:cNvSpPr>
            <a:spLocks noGrp="1"/>
          </p:cNvSpPr>
          <p:nvPr>
            <p:ph type="title"/>
          </p:nvPr>
        </p:nvSpPr>
        <p:spPr/>
        <p:txBody>
          <a:bodyPr/>
          <a:lstStyle/>
          <a:p>
            <a:pPr algn="ctr"/>
            <a:r>
              <a:rPr lang="en-US" dirty="0"/>
              <a:t>The most important line of code for plots</a:t>
            </a:r>
          </a:p>
        </p:txBody>
      </p:sp>
      <p:sp>
        <p:nvSpPr>
          <p:cNvPr id="4" name="TextBox 3">
            <a:extLst>
              <a:ext uri="{FF2B5EF4-FFF2-40B4-BE49-F238E27FC236}">
                <a16:creationId xmlns:a16="http://schemas.microsoft.com/office/drawing/2014/main" id="{D6CA8399-A82C-2302-4101-52FB80C12BFA}"/>
              </a:ext>
            </a:extLst>
          </p:cNvPr>
          <p:cNvSpPr txBox="1"/>
          <p:nvPr/>
        </p:nvSpPr>
        <p:spPr>
          <a:xfrm>
            <a:off x="3360280" y="1970449"/>
            <a:ext cx="5922616" cy="400110"/>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de-DE" sz="2000" dirty="0" err="1">
                <a:solidFill>
                  <a:srgbClr val="569CD6"/>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569CD6"/>
                </a:solidFill>
                <a:latin typeface="Consolas" panose="020B0609020204030204" pitchFamily="49" charset="0"/>
                <a:cs typeface="Courier New" panose="02070309020205020404" pitchFamily="49" charset="0"/>
              </a:rPr>
              <a:t>style</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use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t>
            </a:r>
            <a:r>
              <a:rPr lang="de-DE" sz="2000" dirty="0" err="1">
                <a:solidFill>
                  <a:srgbClr val="AC4E1F"/>
                </a:solidFill>
                <a:latin typeface="Consolas" panose="020B0609020204030204" pitchFamily="49" charset="0"/>
                <a:cs typeface="Courier New" panose="02070309020205020404" pitchFamily="49" charset="0"/>
              </a:rPr>
              <a:t>dark_background</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p:txBody>
      </p:sp>
      <p:pic>
        <p:nvPicPr>
          <p:cNvPr id="7" name="Picture 6">
            <a:extLst>
              <a:ext uri="{FF2B5EF4-FFF2-40B4-BE49-F238E27FC236}">
                <a16:creationId xmlns:a16="http://schemas.microsoft.com/office/drawing/2014/main" id="{B49B55D7-CBF0-AE2C-B8A2-9C06B1800E30}"/>
              </a:ext>
            </a:extLst>
          </p:cNvPr>
          <p:cNvPicPr>
            <a:picLocks noChangeAspect="1"/>
          </p:cNvPicPr>
          <p:nvPr/>
        </p:nvPicPr>
        <p:blipFill>
          <a:blip r:embed="rId2"/>
          <a:stretch>
            <a:fillRect/>
          </a:stretch>
        </p:blipFill>
        <p:spPr>
          <a:xfrm>
            <a:off x="1445630" y="3058449"/>
            <a:ext cx="3467100" cy="2616200"/>
          </a:xfrm>
          <a:prstGeom prst="rect">
            <a:avLst/>
          </a:prstGeom>
        </p:spPr>
      </p:pic>
      <p:pic>
        <p:nvPicPr>
          <p:cNvPr id="6" name="Picture 5">
            <a:extLst>
              <a:ext uri="{FF2B5EF4-FFF2-40B4-BE49-F238E27FC236}">
                <a16:creationId xmlns:a16="http://schemas.microsoft.com/office/drawing/2014/main" id="{0861617E-3564-6843-8FCA-4D79DD2FC7B8}"/>
              </a:ext>
            </a:extLst>
          </p:cNvPr>
          <p:cNvPicPr>
            <a:picLocks noChangeAspect="1"/>
          </p:cNvPicPr>
          <p:nvPr/>
        </p:nvPicPr>
        <p:blipFill>
          <a:blip r:embed="rId3"/>
          <a:stretch>
            <a:fillRect/>
          </a:stretch>
        </p:blipFill>
        <p:spPr>
          <a:xfrm>
            <a:off x="1445630" y="3058449"/>
            <a:ext cx="3467100" cy="2616200"/>
          </a:xfrm>
          <a:prstGeom prst="rect">
            <a:avLst/>
          </a:prstGeom>
        </p:spPr>
      </p:pic>
    </p:spTree>
    <p:extLst>
      <p:ext uri="{BB962C8B-B14F-4D97-AF65-F5344CB8AC3E}">
        <p14:creationId xmlns:p14="http://schemas.microsoft.com/office/powerpoint/2010/main" val="1327927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6FD82-F6F4-0274-B2B4-FB36679BA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44BD81-22E9-D1F0-9DF4-7101860241C8}"/>
              </a:ext>
            </a:extLst>
          </p:cNvPr>
          <p:cNvSpPr>
            <a:spLocks noGrp="1"/>
          </p:cNvSpPr>
          <p:nvPr>
            <p:ph type="title"/>
          </p:nvPr>
        </p:nvSpPr>
        <p:spPr/>
        <p:txBody>
          <a:bodyPr/>
          <a:lstStyle/>
          <a:p>
            <a:pPr algn="ctr"/>
            <a:r>
              <a:rPr lang="en-US" dirty="0"/>
              <a:t>The most important line of code for plots</a:t>
            </a:r>
          </a:p>
        </p:txBody>
      </p:sp>
      <p:sp>
        <p:nvSpPr>
          <p:cNvPr id="4" name="TextBox 3">
            <a:extLst>
              <a:ext uri="{FF2B5EF4-FFF2-40B4-BE49-F238E27FC236}">
                <a16:creationId xmlns:a16="http://schemas.microsoft.com/office/drawing/2014/main" id="{644E6291-58EB-9724-7BBC-0C961F2CD7B6}"/>
              </a:ext>
            </a:extLst>
          </p:cNvPr>
          <p:cNvSpPr txBox="1"/>
          <p:nvPr/>
        </p:nvSpPr>
        <p:spPr>
          <a:xfrm>
            <a:off x="3360280" y="1970449"/>
            <a:ext cx="5922616" cy="400110"/>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de-DE" sz="2000" dirty="0" err="1">
                <a:solidFill>
                  <a:srgbClr val="569CD6"/>
                </a:solidFill>
                <a:latin typeface="Consolas" panose="020B0609020204030204" pitchFamily="49" charset="0"/>
                <a:cs typeface="Courier New" panose="02070309020205020404" pitchFamily="49" charset="0"/>
              </a:rPr>
              <a:t>plt</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569CD6"/>
                </a:solidFill>
                <a:latin typeface="Consolas" panose="020B0609020204030204" pitchFamily="49" charset="0"/>
                <a:cs typeface="Courier New" panose="02070309020205020404" pitchFamily="49" charset="0"/>
              </a:rPr>
              <a:t>style</a:t>
            </a:r>
            <a:r>
              <a:rPr lang="de-DE" sz="2000" dirty="0" err="1">
                <a:solidFill>
                  <a:schemeClr val="tx1"/>
                </a:solidFill>
                <a:latin typeface="Consolas" panose="020B0609020204030204" pitchFamily="49" charset="0"/>
                <a:cs typeface="Courier New" panose="02070309020205020404" pitchFamily="49" charset="0"/>
              </a:rPr>
              <a:t>.</a:t>
            </a:r>
            <a:r>
              <a:rPr lang="de-DE" sz="2000" dirty="0" err="1">
                <a:solidFill>
                  <a:srgbClr val="DCCE81"/>
                </a:solidFill>
                <a:latin typeface="Consolas" panose="020B0609020204030204" pitchFamily="49" charset="0"/>
                <a:cs typeface="Courier New" panose="02070309020205020404" pitchFamily="49" charset="0"/>
              </a:rPr>
              <a:t>use</a:t>
            </a:r>
            <a:r>
              <a:rPr lang="de-DE" sz="2000" dirty="0">
                <a:solidFill>
                  <a:srgbClr val="DB851F"/>
                </a:solidFill>
                <a:latin typeface="Consolas" panose="020B0609020204030204" pitchFamily="49" charset="0"/>
                <a:cs typeface="Courier New" panose="02070309020205020404" pitchFamily="49" charset="0"/>
              </a:rPr>
              <a:t>(</a:t>
            </a:r>
            <a:r>
              <a:rPr lang="de-DE" sz="2000" dirty="0">
                <a:solidFill>
                  <a:srgbClr val="AC4E1F"/>
                </a:solidFill>
                <a:latin typeface="Consolas" panose="020B0609020204030204" pitchFamily="49" charset="0"/>
                <a:cs typeface="Courier New" panose="02070309020205020404" pitchFamily="49" charset="0"/>
              </a:rPr>
              <a:t>'</a:t>
            </a:r>
            <a:r>
              <a:rPr lang="de-DE" sz="2000" dirty="0" err="1">
                <a:solidFill>
                  <a:srgbClr val="AC4E1F"/>
                </a:solidFill>
                <a:latin typeface="Consolas" panose="020B0609020204030204" pitchFamily="49" charset="0"/>
                <a:cs typeface="Courier New" panose="02070309020205020404" pitchFamily="49" charset="0"/>
              </a:rPr>
              <a:t>dark_background</a:t>
            </a:r>
            <a:r>
              <a:rPr lang="de-DE" sz="2000" dirty="0">
                <a:solidFill>
                  <a:srgbClr val="AC4E1F"/>
                </a:solidFill>
                <a:latin typeface="Consolas" panose="020B0609020204030204" pitchFamily="49" charset="0"/>
                <a:cs typeface="Courier New" panose="02070309020205020404" pitchFamily="49" charset="0"/>
              </a:rPr>
              <a:t>'</a:t>
            </a:r>
            <a:r>
              <a:rPr lang="de-DE" sz="2000" dirty="0">
                <a:solidFill>
                  <a:srgbClr val="DB851F"/>
                </a:solidFill>
                <a:latin typeface="Consolas" panose="020B0609020204030204" pitchFamily="49" charset="0"/>
                <a:cs typeface="Courier New" panose="02070309020205020404" pitchFamily="49" charset="0"/>
              </a:rPr>
              <a:t>)</a:t>
            </a:r>
          </a:p>
        </p:txBody>
      </p:sp>
      <p:pic>
        <p:nvPicPr>
          <p:cNvPr id="6" name="Picture 5">
            <a:extLst>
              <a:ext uri="{FF2B5EF4-FFF2-40B4-BE49-F238E27FC236}">
                <a16:creationId xmlns:a16="http://schemas.microsoft.com/office/drawing/2014/main" id="{D3480B6C-12F8-88C8-03B4-F03BB6070748}"/>
              </a:ext>
            </a:extLst>
          </p:cNvPr>
          <p:cNvPicPr>
            <a:picLocks noChangeAspect="1"/>
          </p:cNvPicPr>
          <p:nvPr/>
        </p:nvPicPr>
        <p:blipFill>
          <a:blip r:embed="rId2"/>
          <a:stretch>
            <a:fillRect/>
          </a:stretch>
        </p:blipFill>
        <p:spPr>
          <a:xfrm>
            <a:off x="1445630" y="3058449"/>
            <a:ext cx="3467100" cy="2616200"/>
          </a:xfrm>
          <a:prstGeom prst="rect">
            <a:avLst/>
          </a:prstGeom>
        </p:spPr>
      </p:pic>
      <p:pic>
        <p:nvPicPr>
          <p:cNvPr id="7" name="Picture 6">
            <a:extLst>
              <a:ext uri="{FF2B5EF4-FFF2-40B4-BE49-F238E27FC236}">
                <a16:creationId xmlns:a16="http://schemas.microsoft.com/office/drawing/2014/main" id="{EECE65B5-5C9B-6C3A-FA61-3B38247FDED4}"/>
              </a:ext>
            </a:extLst>
          </p:cNvPr>
          <p:cNvPicPr>
            <a:picLocks noChangeAspect="1"/>
          </p:cNvPicPr>
          <p:nvPr/>
        </p:nvPicPr>
        <p:blipFill>
          <a:blip r:embed="rId3"/>
          <a:stretch>
            <a:fillRect/>
          </a:stretch>
        </p:blipFill>
        <p:spPr>
          <a:xfrm>
            <a:off x="6769984" y="3058449"/>
            <a:ext cx="3467100" cy="2616200"/>
          </a:xfrm>
          <a:prstGeom prst="rect">
            <a:avLst/>
          </a:prstGeom>
        </p:spPr>
      </p:pic>
    </p:spTree>
    <p:extLst>
      <p:ext uri="{BB962C8B-B14F-4D97-AF65-F5344CB8AC3E}">
        <p14:creationId xmlns:p14="http://schemas.microsoft.com/office/powerpoint/2010/main" val="39824208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61BDE-60CB-CEEE-A8F5-5F098F6FA2F4}"/>
              </a:ext>
            </a:extLst>
          </p:cNvPr>
          <p:cNvSpPr>
            <a:spLocks noGrp="1"/>
          </p:cNvSpPr>
          <p:nvPr>
            <p:ph type="title"/>
          </p:nvPr>
        </p:nvSpPr>
        <p:spPr/>
        <p:txBody>
          <a:bodyPr/>
          <a:lstStyle/>
          <a:p>
            <a:r>
              <a:rPr lang="en-US" dirty="0"/>
              <a:t>Seaborn – Pandas integration</a:t>
            </a:r>
          </a:p>
        </p:txBody>
      </p:sp>
      <p:pic>
        <p:nvPicPr>
          <p:cNvPr id="4" name="Picture 2" descr="Discussion of seaborn logo · Issue #2243 · mwaskom/seaborn">
            <a:extLst>
              <a:ext uri="{FF2B5EF4-FFF2-40B4-BE49-F238E27FC236}">
                <a16:creationId xmlns:a16="http://schemas.microsoft.com/office/drawing/2014/main" id="{98591B7B-21B1-1934-B2DC-8CF674F26F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97447" y="177982"/>
            <a:ext cx="1512706" cy="1512706"/>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5227C1D6-A4DF-EC0E-8C55-B4E83B7F79AD}"/>
              </a:ext>
            </a:extLst>
          </p:cNvPr>
          <p:cNvSpPr>
            <a:spLocks noGrp="1"/>
          </p:cNvSpPr>
          <p:nvPr>
            <p:ph idx="1"/>
          </p:nvPr>
        </p:nvSpPr>
        <p:spPr>
          <a:xfrm>
            <a:off x="838200" y="1825625"/>
            <a:ext cx="10515600" cy="4351338"/>
          </a:xfrm>
        </p:spPr>
        <p:txBody>
          <a:bodyPr/>
          <a:lstStyle/>
          <a:p>
            <a:pPr marL="0" indent="0">
              <a:buNone/>
            </a:pPr>
            <a:r>
              <a:rPr lang="en-US" dirty="0"/>
              <a:t>Seaborn is a library for making statistical graphics in Python. It builds on top of </a:t>
            </a:r>
            <a:r>
              <a:rPr lang="en-US" b="1" i="1" dirty="0"/>
              <a:t>matplotlib</a:t>
            </a:r>
            <a:r>
              <a:rPr lang="en-US" dirty="0"/>
              <a:t> and integrates closely with </a:t>
            </a:r>
            <a:r>
              <a:rPr lang="en-US" b="1" i="1" dirty="0"/>
              <a:t>pandas</a:t>
            </a:r>
            <a:r>
              <a:rPr lang="en-US" dirty="0"/>
              <a:t> data structures.</a:t>
            </a:r>
            <a:endParaRPr lang="en-DE" dirty="0"/>
          </a:p>
          <a:p>
            <a:pPr marL="0" indent="0">
              <a:buNone/>
            </a:pPr>
            <a:endParaRPr lang="en-US" dirty="0"/>
          </a:p>
        </p:txBody>
      </p:sp>
      <p:pic>
        <p:nvPicPr>
          <p:cNvPr id="1026" name="Picture 2" descr="_images/scatterplot_matrix_thumb.png">
            <a:extLst>
              <a:ext uri="{FF2B5EF4-FFF2-40B4-BE49-F238E27FC236}">
                <a16:creationId xmlns:a16="http://schemas.microsoft.com/office/drawing/2014/main" id="{8D6A4726-E813-4B23-8CFA-ECCEEB9931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938" y="3090864"/>
            <a:ext cx="1766886" cy="176688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_images/errorband_lineplots_thumb.png">
            <a:extLst>
              <a:ext uri="{FF2B5EF4-FFF2-40B4-BE49-F238E27FC236}">
                <a16:creationId xmlns:a16="http://schemas.microsoft.com/office/drawing/2014/main" id="{8FE30B32-140F-4EB3-886B-2A6BBC87A7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3612" y="3090864"/>
            <a:ext cx="1766886" cy="176688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_images/scatterplot_sizes_thumb.png">
            <a:extLst>
              <a:ext uri="{FF2B5EF4-FFF2-40B4-BE49-F238E27FC236}">
                <a16:creationId xmlns:a16="http://schemas.microsoft.com/office/drawing/2014/main" id="{E929EFF3-510A-46EF-AB53-F7AE877CDF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5286" y="3090864"/>
            <a:ext cx="1766886" cy="176688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_images/timeseries_facets_thumb.png">
            <a:extLst>
              <a:ext uri="{FF2B5EF4-FFF2-40B4-BE49-F238E27FC236}">
                <a16:creationId xmlns:a16="http://schemas.microsoft.com/office/drawing/2014/main" id="{61572DE1-1AC7-4607-B1B5-1DA105B4E8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6960" y="3090864"/>
            <a:ext cx="1766886" cy="176688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_images/horizontal_boxplot_thumb.png">
            <a:extLst>
              <a:ext uri="{FF2B5EF4-FFF2-40B4-BE49-F238E27FC236}">
                <a16:creationId xmlns:a16="http://schemas.microsoft.com/office/drawing/2014/main" id="{F5BAD76A-F0C0-4AD6-BFB0-E048536773A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46253" y="3090864"/>
            <a:ext cx="1766886" cy="176688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_images/regression_marginals_thumb.png">
            <a:extLst>
              <a:ext uri="{FF2B5EF4-FFF2-40B4-BE49-F238E27FC236}">
                <a16:creationId xmlns:a16="http://schemas.microsoft.com/office/drawing/2014/main" id="{5744A9E3-94E0-4E31-AD60-144E8CA635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15546" y="3090864"/>
            <a:ext cx="1766886" cy="176688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A3104E7-0F65-4AE0-967E-05AC23912BC0}"/>
              </a:ext>
            </a:extLst>
          </p:cNvPr>
          <p:cNvSpPr txBox="1"/>
          <p:nvPr/>
        </p:nvSpPr>
        <p:spPr>
          <a:xfrm>
            <a:off x="3360280" y="5389924"/>
            <a:ext cx="5922616" cy="400110"/>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algn="ctr"/>
            <a:r>
              <a:rPr lang="de-DE" sz="2000" dirty="0">
                <a:solidFill>
                  <a:srgbClr val="C586B6"/>
                </a:solidFill>
                <a:latin typeface="Consolas" panose="020B0609020204030204" pitchFamily="49" charset="0"/>
                <a:cs typeface="Courier New" panose="02070309020205020404" pitchFamily="49" charset="0"/>
              </a:rPr>
              <a:t>import</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seaborn</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C586B6"/>
                </a:solidFill>
                <a:latin typeface="Consolas" panose="020B0609020204030204" pitchFamily="49" charset="0"/>
                <a:cs typeface="Courier New" panose="02070309020205020404" pitchFamily="49" charset="0"/>
              </a:rPr>
              <a:t>as</a:t>
            </a:r>
            <a:r>
              <a:rPr lang="de-DE" sz="2000" dirty="0">
                <a:solidFill>
                  <a:srgbClr val="569CD6"/>
                </a:solidFill>
                <a:latin typeface="Consolas" panose="020B0609020204030204" pitchFamily="49" charset="0"/>
                <a:cs typeface="Courier New" panose="02070309020205020404" pitchFamily="49" charset="0"/>
              </a:rPr>
              <a:t> </a:t>
            </a:r>
            <a:r>
              <a:rPr lang="de-DE" sz="2000" dirty="0">
                <a:solidFill>
                  <a:srgbClr val="3EC9A4"/>
                </a:solidFill>
                <a:latin typeface="Consolas" panose="020B0609020204030204" pitchFamily="49" charset="0"/>
                <a:cs typeface="Courier New" panose="02070309020205020404" pitchFamily="49" charset="0"/>
              </a:rPr>
              <a:t>sns</a:t>
            </a:r>
          </a:p>
        </p:txBody>
      </p:sp>
    </p:spTree>
    <p:extLst>
      <p:ext uri="{BB962C8B-B14F-4D97-AF65-F5344CB8AC3E}">
        <p14:creationId xmlns:p14="http://schemas.microsoft.com/office/powerpoint/2010/main" val="3026515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B7244-DCB8-25B5-FF54-26D101CF036D}"/>
              </a:ext>
            </a:extLst>
          </p:cNvPr>
          <p:cNvSpPr>
            <a:spLocks noGrp="1"/>
          </p:cNvSpPr>
          <p:nvPr>
            <p:ph type="title"/>
          </p:nvPr>
        </p:nvSpPr>
        <p:spPr/>
        <p:txBody>
          <a:bodyPr/>
          <a:lstStyle/>
          <a:p>
            <a:r>
              <a:rPr lang="en-US" dirty="0"/>
              <a:t>Pandas useful plotting functions</a:t>
            </a:r>
          </a:p>
        </p:txBody>
      </p:sp>
      <p:sp>
        <p:nvSpPr>
          <p:cNvPr id="5" name="Content Placeholder 4">
            <a:extLst>
              <a:ext uri="{FF2B5EF4-FFF2-40B4-BE49-F238E27FC236}">
                <a16:creationId xmlns:a16="http://schemas.microsoft.com/office/drawing/2014/main" id="{9626A034-4299-EDB3-8C1B-6783326F0041}"/>
              </a:ext>
            </a:extLst>
          </p:cNvPr>
          <p:cNvSpPr>
            <a:spLocks noGrp="1"/>
          </p:cNvSpPr>
          <p:nvPr>
            <p:ph idx="1"/>
          </p:nvPr>
        </p:nvSpPr>
        <p:spPr/>
        <p:txBody>
          <a:bodyPr/>
          <a:lstStyle/>
          <a:p>
            <a:pPr marL="514350" indent="-514350">
              <a:buFont typeface="+mj-lt"/>
              <a:buAutoNum type="arabicPeriod"/>
            </a:pPr>
            <a:r>
              <a:rPr lang="en-US" dirty="0" err="1"/>
              <a:t>Histplot</a:t>
            </a:r>
            <a:endParaRPr lang="en-US" dirty="0"/>
          </a:p>
          <a:p>
            <a:pPr marL="514350" indent="-514350">
              <a:buFont typeface="+mj-lt"/>
              <a:buAutoNum type="arabicPeriod"/>
            </a:pPr>
            <a:endParaRPr lang="en-US" dirty="0"/>
          </a:p>
        </p:txBody>
      </p:sp>
      <p:sp>
        <p:nvSpPr>
          <p:cNvPr id="12" name="TextBox 11">
            <a:extLst>
              <a:ext uri="{FF2B5EF4-FFF2-40B4-BE49-F238E27FC236}">
                <a16:creationId xmlns:a16="http://schemas.microsoft.com/office/drawing/2014/main" id="{ED1C9110-C343-40A5-8ECA-DB8999D4CB06}"/>
              </a:ext>
            </a:extLst>
          </p:cNvPr>
          <p:cNvSpPr txBox="1"/>
          <p:nvPr/>
        </p:nvSpPr>
        <p:spPr>
          <a:xfrm>
            <a:off x="1344827" y="2349500"/>
            <a:ext cx="10008973" cy="400110"/>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en-US" sz="2000" dirty="0" err="1">
                <a:solidFill>
                  <a:srgbClr val="3EC9A4"/>
                </a:solidFill>
                <a:latin typeface="Consolas" panose="020B0609020204030204" pitchFamily="49" charset="0"/>
                <a:cs typeface="Courier New" panose="02070309020205020404" pitchFamily="49" charset="0"/>
              </a:rPr>
              <a:t>sns</a:t>
            </a:r>
            <a:r>
              <a:rPr lang="en-US" sz="2000" dirty="0" err="1">
                <a:solidFill>
                  <a:schemeClr val="tx1"/>
                </a:solidFill>
                <a:latin typeface="Consolas" panose="020B0609020204030204" pitchFamily="49" charset="0"/>
                <a:cs typeface="Courier New" panose="02070309020205020404" pitchFamily="49" charset="0"/>
              </a:rPr>
              <a:t>.</a:t>
            </a:r>
            <a:r>
              <a:rPr lang="en-US" sz="2000" dirty="0" err="1">
                <a:solidFill>
                  <a:srgbClr val="DCCE81"/>
                </a:solidFill>
                <a:latin typeface="Consolas" panose="020B0609020204030204" pitchFamily="49" charset="0"/>
                <a:cs typeface="Courier New" panose="02070309020205020404" pitchFamily="49" charset="0"/>
              </a:rPr>
              <a:t>histplot</a:t>
            </a:r>
            <a:r>
              <a:rPr lang="en-US" sz="2000" dirty="0">
                <a:solidFill>
                  <a:srgbClr val="DB851F"/>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data</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df</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3EC9A4"/>
                </a:solidFill>
                <a:latin typeface="Consolas" panose="020B0609020204030204" pitchFamily="49" charset="0"/>
                <a:cs typeface="Courier New" panose="02070309020205020404" pitchFamily="49" charset="0"/>
              </a:rPr>
              <a:t> </a:t>
            </a:r>
            <a:r>
              <a:rPr lang="en-US" sz="2000" dirty="0">
                <a:solidFill>
                  <a:srgbClr val="569CD6"/>
                </a:solidFill>
                <a:latin typeface="Consolas" panose="020B0609020204030204" pitchFamily="49" charset="0"/>
                <a:cs typeface="Courier New" panose="02070309020205020404" pitchFamily="49" charset="0"/>
              </a:rPr>
              <a:t>x</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AC4E1F"/>
                </a:solidFill>
                <a:latin typeface="Consolas" panose="020B0609020204030204" pitchFamily="49" charset="0"/>
                <a:cs typeface="Courier New" panose="02070309020205020404" pitchFamily="49" charset="0"/>
              </a:rPr>
              <a:t>"</a:t>
            </a:r>
            <a:r>
              <a:rPr lang="en-US" sz="2000" dirty="0" err="1">
                <a:solidFill>
                  <a:srgbClr val="AC4E1F"/>
                </a:solidFill>
                <a:latin typeface="Consolas" panose="020B0609020204030204" pitchFamily="49" charset="0"/>
                <a:cs typeface="Courier New" panose="02070309020205020404" pitchFamily="49" charset="0"/>
              </a:rPr>
              <a:t>flipper_length_mm</a:t>
            </a:r>
            <a:r>
              <a:rPr lang="en-US" sz="2000" dirty="0">
                <a:solidFill>
                  <a:srgbClr val="AC4E1F"/>
                </a:solidFill>
                <a:latin typeface="Consolas" panose="020B0609020204030204" pitchFamily="49" charset="0"/>
                <a:cs typeface="Courier New" panose="02070309020205020404" pitchFamily="49" charset="0"/>
              </a:rPr>
              <a:t>"</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3EC9A4"/>
                </a:solidFill>
                <a:latin typeface="Consolas" panose="020B0609020204030204" pitchFamily="49" charset="0"/>
                <a:cs typeface="Courier New" panose="02070309020205020404" pitchFamily="49" charset="0"/>
              </a:rPr>
              <a:t> </a:t>
            </a:r>
            <a:r>
              <a:rPr lang="en-US" sz="2000" dirty="0">
                <a:solidFill>
                  <a:srgbClr val="569CD6"/>
                </a:solidFill>
                <a:latin typeface="Consolas" panose="020B0609020204030204" pitchFamily="49" charset="0"/>
                <a:cs typeface="Courier New" panose="02070309020205020404" pitchFamily="49" charset="0"/>
              </a:rPr>
              <a:t>bins</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B5CEA8"/>
                </a:solidFill>
                <a:latin typeface="Consolas" panose="020B0609020204030204" pitchFamily="49" charset="0"/>
                <a:cs typeface="Courier New" panose="02070309020205020404" pitchFamily="49" charset="0"/>
              </a:rPr>
              <a:t>30</a:t>
            </a:r>
            <a:r>
              <a:rPr lang="en-US" sz="2000" dirty="0">
                <a:solidFill>
                  <a:srgbClr val="DB851F"/>
                </a:solidFill>
                <a:latin typeface="Consolas" panose="020B0609020204030204" pitchFamily="49" charset="0"/>
                <a:cs typeface="Courier New" panose="02070309020205020404" pitchFamily="49" charset="0"/>
              </a:rPr>
              <a:t>)</a:t>
            </a:r>
            <a:endParaRPr lang="de-DE" sz="2000" dirty="0">
              <a:solidFill>
                <a:srgbClr val="DB851F"/>
              </a:solidFill>
              <a:latin typeface="Consolas" panose="020B0609020204030204" pitchFamily="49" charset="0"/>
              <a:cs typeface="Courier New" panose="02070309020205020404" pitchFamily="49" charset="0"/>
            </a:endParaRPr>
          </a:p>
        </p:txBody>
      </p:sp>
      <p:pic>
        <p:nvPicPr>
          <p:cNvPr id="2055" name="Picture 7" descr="../_images/histplot_7_0.png">
            <a:extLst>
              <a:ext uri="{FF2B5EF4-FFF2-40B4-BE49-F238E27FC236}">
                <a16:creationId xmlns:a16="http://schemas.microsoft.com/office/drawing/2014/main" id="{2D3A5CCB-A7B6-4003-AB81-BA7C093D12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512" y="2940050"/>
            <a:ext cx="4752975"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0939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B7244-DCB8-25B5-FF54-26D101CF036D}"/>
              </a:ext>
            </a:extLst>
          </p:cNvPr>
          <p:cNvSpPr>
            <a:spLocks noGrp="1"/>
          </p:cNvSpPr>
          <p:nvPr>
            <p:ph type="title"/>
          </p:nvPr>
        </p:nvSpPr>
        <p:spPr/>
        <p:txBody>
          <a:bodyPr/>
          <a:lstStyle/>
          <a:p>
            <a:r>
              <a:rPr lang="en-US" dirty="0"/>
              <a:t>Pandas useful plotting functions</a:t>
            </a:r>
          </a:p>
        </p:txBody>
      </p:sp>
      <p:sp>
        <p:nvSpPr>
          <p:cNvPr id="5" name="Content Placeholder 4">
            <a:extLst>
              <a:ext uri="{FF2B5EF4-FFF2-40B4-BE49-F238E27FC236}">
                <a16:creationId xmlns:a16="http://schemas.microsoft.com/office/drawing/2014/main" id="{9626A034-4299-EDB3-8C1B-6783326F0041}"/>
              </a:ext>
            </a:extLst>
          </p:cNvPr>
          <p:cNvSpPr>
            <a:spLocks noGrp="1"/>
          </p:cNvSpPr>
          <p:nvPr>
            <p:ph idx="1"/>
          </p:nvPr>
        </p:nvSpPr>
        <p:spPr/>
        <p:txBody>
          <a:bodyPr/>
          <a:lstStyle/>
          <a:p>
            <a:pPr marL="514350" indent="-514350">
              <a:buFont typeface="+mj-lt"/>
              <a:buAutoNum type="arabicPeriod" startAt="2"/>
            </a:pPr>
            <a:r>
              <a:rPr lang="en-US" dirty="0" err="1"/>
              <a:t>Swarmplot</a:t>
            </a:r>
            <a:endParaRPr lang="en-US" dirty="0"/>
          </a:p>
          <a:p>
            <a:pPr marL="514350" indent="-514350">
              <a:buFont typeface="+mj-lt"/>
              <a:buAutoNum type="arabicPeriod" startAt="2"/>
            </a:pPr>
            <a:endParaRPr lang="en-US" dirty="0"/>
          </a:p>
        </p:txBody>
      </p:sp>
      <p:sp>
        <p:nvSpPr>
          <p:cNvPr id="11" name="TextBox 10">
            <a:extLst>
              <a:ext uri="{FF2B5EF4-FFF2-40B4-BE49-F238E27FC236}">
                <a16:creationId xmlns:a16="http://schemas.microsoft.com/office/drawing/2014/main" id="{71CADC13-4D32-4D04-992D-4EFEE114B96C}"/>
              </a:ext>
            </a:extLst>
          </p:cNvPr>
          <p:cNvSpPr txBox="1"/>
          <p:nvPr/>
        </p:nvSpPr>
        <p:spPr>
          <a:xfrm>
            <a:off x="1344827" y="2349500"/>
            <a:ext cx="10008973" cy="400110"/>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en-US" sz="2000" dirty="0" err="1">
                <a:solidFill>
                  <a:srgbClr val="3EC9A4"/>
                </a:solidFill>
                <a:latin typeface="Consolas" panose="020B0609020204030204" pitchFamily="49" charset="0"/>
                <a:cs typeface="Courier New" panose="02070309020205020404" pitchFamily="49" charset="0"/>
              </a:rPr>
              <a:t>sns</a:t>
            </a:r>
            <a:r>
              <a:rPr lang="en-US" sz="2000" dirty="0" err="1">
                <a:solidFill>
                  <a:schemeClr val="tx1"/>
                </a:solidFill>
                <a:latin typeface="Consolas" panose="020B0609020204030204" pitchFamily="49" charset="0"/>
                <a:cs typeface="Courier New" panose="02070309020205020404" pitchFamily="49" charset="0"/>
              </a:rPr>
              <a:t>.</a:t>
            </a:r>
            <a:r>
              <a:rPr lang="en-US" sz="2000" dirty="0" err="1">
                <a:solidFill>
                  <a:srgbClr val="DCCE81"/>
                </a:solidFill>
                <a:latin typeface="Consolas" panose="020B0609020204030204" pitchFamily="49" charset="0"/>
                <a:cs typeface="Courier New" panose="02070309020205020404" pitchFamily="49" charset="0"/>
              </a:rPr>
              <a:t>swarmplot</a:t>
            </a:r>
            <a:r>
              <a:rPr lang="en-US" sz="2000" dirty="0">
                <a:solidFill>
                  <a:srgbClr val="DB851F"/>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data</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df</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 x</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AC4E1F"/>
                </a:solidFill>
                <a:latin typeface="Consolas" panose="020B0609020204030204" pitchFamily="49" charset="0"/>
                <a:cs typeface="Courier New" panose="02070309020205020404" pitchFamily="49" charset="0"/>
              </a:rPr>
              <a:t>“</a:t>
            </a:r>
            <a:r>
              <a:rPr lang="en-US" sz="2000" dirty="0" err="1">
                <a:solidFill>
                  <a:srgbClr val="AC4E1F"/>
                </a:solidFill>
                <a:latin typeface="Consolas" panose="020B0609020204030204" pitchFamily="49" charset="0"/>
                <a:cs typeface="Courier New" panose="02070309020205020404" pitchFamily="49" charset="0"/>
              </a:rPr>
              <a:t>total_bill</a:t>
            </a:r>
            <a:r>
              <a:rPr lang="en-US" sz="2000" dirty="0">
                <a:solidFill>
                  <a:srgbClr val="AC4E1F"/>
                </a:solidFill>
                <a:latin typeface="Consolas" panose="020B0609020204030204" pitchFamily="49" charset="0"/>
                <a:cs typeface="Courier New" panose="02070309020205020404" pitchFamily="49" charset="0"/>
              </a:rPr>
              <a:t>"</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 y</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AC4E1F"/>
                </a:solidFill>
                <a:latin typeface="Consolas" panose="020B0609020204030204" pitchFamily="49" charset="0"/>
                <a:cs typeface="Courier New" panose="02070309020205020404" pitchFamily="49" charset="0"/>
              </a:rPr>
              <a:t>“day"</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 hue</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AC4E1F"/>
                </a:solidFill>
                <a:latin typeface="Consolas" panose="020B0609020204030204" pitchFamily="49" charset="0"/>
                <a:cs typeface="Courier New" panose="02070309020205020404" pitchFamily="49" charset="0"/>
              </a:rPr>
              <a:t>“sex“</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AC4E1F"/>
                </a:solidFill>
                <a:latin typeface="Consolas" panose="020B0609020204030204" pitchFamily="49" charset="0"/>
                <a:cs typeface="Courier New" panose="02070309020205020404" pitchFamily="49" charset="0"/>
              </a:rPr>
              <a:t> </a:t>
            </a:r>
            <a:r>
              <a:rPr lang="en-US" sz="2000" dirty="0">
                <a:solidFill>
                  <a:srgbClr val="569CD6"/>
                </a:solidFill>
                <a:latin typeface="Consolas" panose="020B0609020204030204" pitchFamily="49" charset="0"/>
                <a:cs typeface="Courier New" panose="02070309020205020404" pitchFamily="49" charset="0"/>
              </a:rPr>
              <a:t>dodge</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0070C0"/>
                </a:solidFill>
                <a:latin typeface="Consolas" panose="020B0609020204030204" pitchFamily="49" charset="0"/>
                <a:cs typeface="Courier New" panose="02070309020205020404" pitchFamily="49" charset="0"/>
              </a:rPr>
              <a:t>True</a:t>
            </a:r>
            <a:r>
              <a:rPr lang="en-US" sz="2000" dirty="0">
                <a:solidFill>
                  <a:srgbClr val="DB851F"/>
                </a:solidFill>
                <a:latin typeface="Consolas" panose="020B0609020204030204" pitchFamily="49" charset="0"/>
                <a:cs typeface="Courier New" panose="02070309020205020404" pitchFamily="49" charset="0"/>
              </a:rPr>
              <a:t>)</a:t>
            </a:r>
            <a:endParaRPr lang="de-DE" sz="2000" dirty="0">
              <a:solidFill>
                <a:srgbClr val="DB851F"/>
              </a:solidFill>
              <a:latin typeface="Consolas" panose="020B0609020204030204" pitchFamily="49" charset="0"/>
              <a:cs typeface="Courier New" panose="02070309020205020404" pitchFamily="49" charset="0"/>
            </a:endParaRPr>
          </a:p>
        </p:txBody>
      </p:sp>
      <p:pic>
        <p:nvPicPr>
          <p:cNvPr id="9" name="Picture 2" descr="../_images/swarmplot_15_0.png">
            <a:extLst>
              <a:ext uri="{FF2B5EF4-FFF2-40B4-BE49-F238E27FC236}">
                <a16:creationId xmlns:a16="http://schemas.microsoft.com/office/drawing/2014/main" id="{0786D752-6B08-4133-BA3F-7E6E09B8A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599" y="2940050"/>
            <a:ext cx="4876802"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7421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B7244-DCB8-25B5-FF54-26D101CF036D}"/>
              </a:ext>
            </a:extLst>
          </p:cNvPr>
          <p:cNvSpPr>
            <a:spLocks noGrp="1"/>
          </p:cNvSpPr>
          <p:nvPr>
            <p:ph type="title"/>
          </p:nvPr>
        </p:nvSpPr>
        <p:spPr/>
        <p:txBody>
          <a:bodyPr/>
          <a:lstStyle/>
          <a:p>
            <a:r>
              <a:rPr lang="en-US" dirty="0"/>
              <a:t>Pandas useful plotting functions</a:t>
            </a:r>
          </a:p>
        </p:txBody>
      </p:sp>
      <p:sp>
        <p:nvSpPr>
          <p:cNvPr id="5" name="Content Placeholder 4">
            <a:extLst>
              <a:ext uri="{FF2B5EF4-FFF2-40B4-BE49-F238E27FC236}">
                <a16:creationId xmlns:a16="http://schemas.microsoft.com/office/drawing/2014/main" id="{9626A034-4299-EDB3-8C1B-6783326F0041}"/>
              </a:ext>
            </a:extLst>
          </p:cNvPr>
          <p:cNvSpPr>
            <a:spLocks noGrp="1"/>
          </p:cNvSpPr>
          <p:nvPr>
            <p:ph idx="1"/>
          </p:nvPr>
        </p:nvSpPr>
        <p:spPr/>
        <p:txBody>
          <a:bodyPr/>
          <a:lstStyle/>
          <a:p>
            <a:pPr marL="514350" indent="-514350">
              <a:buFont typeface="+mj-lt"/>
              <a:buAutoNum type="arabicPeriod" startAt="3"/>
            </a:pPr>
            <a:r>
              <a:rPr lang="en-US" dirty="0" err="1"/>
              <a:t>Violinplot</a:t>
            </a:r>
            <a:endParaRPr lang="en-US" dirty="0"/>
          </a:p>
        </p:txBody>
      </p:sp>
      <p:sp>
        <p:nvSpPr>
          <p:cNvPr id="7" name="TextBox 6">
            <a:extLst>
              <a:ext uri="{FF2B5EF4-FFF2-40B4-BE49-F238E27FC236}">
                <a16:creationId xmlns:a16="http://schemas.microsoft.com/office/drawing/2014/main" id="{2826D700-8118-4141-8127-1D6A74A92B19}"/>
              </a:ext>
            </a:extLst>
          </p:cNvPr>
          <p:cNvSpPr txBox="1"/>
          <p:nvPr/>
        </p:nvSpPr>
        <p:spPr>
          <a:xfrm>
            <a:off x="1344828" y="2357193"/>
            <a:ext cx="8463746" cy="400110"/>
          </a:xfrm>
          <a:prstGeom prst="rect">
            <a:avLst/>
          </a:prstGeom>
          <a:solidFill>
            <a:srgbClr val="1F1F1F"/>
          </a:solid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en-US" sz="2000" dirty="0" err="1">
                <a:solidFill>
                  <a:srgbClr val="3EC9A4"/>
                </a:solidFill>
                <a:latin typeface="Consolas" panose="020B0609020204030204" pitchFamily="49" charset="0"/>
                <a:cs typeface="Courier New" panose="02070309020205020404" pitchFamily="49" charset="0"/>
              </a:rPr>
              <a:t>sns</a:t>
            </a:r>
            <a:r>
              <a:rPr lang="en-US" sz="2000" dirty="0" err="1">
                <a:solidFill>
                  <a:schemeClr val="tx1"/>
                </a:solidFill>
                <a:latin typeface="Consolas" panose="020B0609020204030204" pitchFamily="49" charset="0"/>
                <a:cs typeface="Courier New" panose="02070309020205020404" pitchFamily="49" charset="0"/>
              </a:rPr>
              <a:t>.</a:t>
            </a:r>
            <a:r>
              <a:rPr lang="en-US" sz="2000" dirty="0" err="1">
                <a:solidFill>
                  <a:srgbClr val="DCCE81"/>
                </a:solidFill>
                <a:latin typeface="Consolas" panose="020B0609020204030204" pitchFamily="49" charset="0"/>
                <a:cs typeface="Courier New" panose="02070309020205020404" pitchFamily="49" charset="0"/>
              </a:rPr>
              <a:t>violinplot</a:t>
            </a:r>
            <a:r>
              <a:rPr lang="en-US" sz="2000" dirty="0">
                <a:solidFill>
                  <a:srgbClr val="DB851F"/>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data</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df</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 x</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AC4E1F"/>
                </a:solidFill>
                <a:latin typeface="Consolas" panose="020B0609020204030204" pitchFamily="49" charset="0"/>
                <a:cs typeface="Courier New" panose="02070309020205020404" pitchFamily="49" charset="0"/>
              </a:rPr>
              <a:t>"class"</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 y</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AC4E1F"/>
                </a:solidFill>
                <a:latin typeface="Consolas" panose="020B0609020204030204" pitchFamily="49" charset="0"/>
                <a:cs typeface="Courier New" panose="02070309020205020404" pitchFamily="49" charset="0"/>
              </a:rPr>
              <a:t>"age"</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569CD6"/>
                </a:solidFill>
                <a:latin typeface="Consolas" panose="020B0609020204030204" pitchFamily="49" charset="0"/>
                <a:cs typeface="Courier New" panose="02070309020205020404" pitchFamily="49" charset="0"/>
              </a:rPr>
              <a:t> hue</a:t>
            </a:r>
            <a:r>
              <a:rPr lang="en-US" sz="2000" dirty="0">
                <a:solidFill>
                  <a:schemeClr val="tx1"/>
                </a:solidFill>
                <a:latin typeface="Consolas" panose="020B0609020204030204" pitchFamily="49" charset="0"/>
                <a:cs typeface="Courier New" panose="02070309020205020404" pitchFamily="49" charset="0"/>
              </a:rPr>
              <a:t>=</a:t>
            </a:r>
            <a:r>
              <a:rPr lang="en-US" sz="2000" dirty="0">
                <a:solidFill>
                  <a:srgbClr val="AC4E1F"/>
                </a:solidFill>
                <a:latin typeface="Consolas" panose="020B0609020204030204" pitchFamily="49" charset="0"/>
                <a:cs typeface="Courier New" panose="02070309020205020404" pitchFamily="49" charset="0"/>
              </a:rPr>
              <a:t>"alive"</a:t>
            </a:r>
            <a:r>
              <a:rPr lang="en-US" sz="2000" dirty="0">
                <a:solidFill>
                  <a:srgbClr val="DB851F"/>
                </a:solidFill>
                <a:latin typeface="Consolas" panose="020B0609020204030204" pitchFamily="49" charset="0"/>
                <a:cs typeface="Courier New" panose="02070309020205020404" pitchFamily="49" charset="0"/>
              </a:rPr>
              <a:t>)</a:t>
            </a:r>
            <a:endParaRPr lang="de-DE" sz="2000" dirty="0">
              <a:solidFill>
                <a:srgbClr val="DB851F"/>
              </a:solidFill>
              <a:latin typeface="Consolas" panose="020B0609020204030204" pitchFamily="49" charset="0"/>
              <a:cs typeface="Courier New" panose="02070309020205020404" pitchFamily="49" charset="0"/>
            </a:endParaRPr>
          </a:p>
        </p:txBody>
      </p:sp>
      <p:pic>
        <p:nvPicPr>
          <p:cNvPr id="9" name="Picture 4" descr="../_images/violinplot_5_0.png">
            <a:extLst>
              <a:ext uri="{FF2B5EF4-FFF2-40B4-BE49-F238E27FC236}">
                <a16:creationId xmlns:a16="http://schemas.microsoft.com/office/drawing/2014/main" id="{41F2501A-9594-4634-BC7C-FB9CCE7CA2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512" y="2940050"/>
            <a:ext cx="4752974" cy="3667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968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450A16A-A8C7-4A96-BF69-8945C946E1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5125" y="160546"/>
            <a:ext cx="6381750" cy="6536908"/>
          </a:xfrm>
          <a:prstGeom prst="rect">
            <a:avLst/>
          </a:prstGeom>
        </p:spPr>
      </p:pic>
    </p:spTree>
    <p:extLst>
      <p:ext uri="{BB962C8B-B14F-4D97-AF65-F5344CB8AC3E}">
        <p14:creationId xmlns:p14="http://schemas.microsoft.com/office/powerpoint/2010/main" val="3863914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matplotlib.org/cheatsheets/_images/cheatsheets-1.png">
            <a:extLst>
              <a:ext uri="{FF2B5EF4-FFF2-40B4-BE49-F238E27FC236}">
                <a16:creationId xmlns:a16="http://schemas.microsoft.com/office/drawing/2014/main" id="{DCEC095C-EFBB-417B-B27A-C60BE4C562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107788"/>
            <a:ext cx="9391650" cy="6642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32548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2331</TotalTime>
  <Words>1288</Words>
  <Application>Microsoft Office PowerPoint</Application>
  <PresentationFormat>Widescreen</PresentationFormat>
  <Paragraphs>167</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Consolas</vt:lpstr>
      <vt:lpstr>Courier New</vt:lpstr>
      <vt:lpstr>Office Theme</vt:lpstr>
      <vt:lpstr> Lesson 10: Plotting</vt:lpstr>
      <vt:lpstr>Plotting ressources</vt:lpstr>
      <vt:lpstr>PowerPoint Presentation</vt:lpstr>
      <vt:lpstr>A basic plot</vt:lpstr>
      <vt:lpstr>Parts of a figure</vt:lpstr>
      <vt:lpstr>Parts of a figure</vt:lpstr>
      <vt:lpstr>Parts of a figure</vt:lpstr>
      <vt:lpstr>Matplotlib Coding Styles – Explicit vs Implicit </vt:lpstr>
      <vt:lpstr>Matplotlib Coding Styles – Explicit vs Implicit </vt:lpstr>
      <vt:lpstr>Styling Artists</vt:lpstr>
      <vt:lpstr>Styling Artists – LineStyles &amp; Colors</vt:lpstr>
      <vt:lpstr>Styling Artists – Markers</vt:lpstr>
      <vt:lpstr>Labelling plots – Axes labels and annotation</vt:lpstr>
      <vt:lpstr>Annotation</vt:lpstr>
      <vt:lpstr>Subplots</vt:lpstr>
      <vt:lpstr>Subplots mosaic</vt:lpstr>
      <vt:lpstr>Layouts</vt:lpstr>
      <vt:lpstr>Layouts</vt:lpstr>
      <vt:lpstr>Inset axes</vt:lpstr>
      <vt:lpstr>The most important line of code for plots</vt:lpstr>
      <vt:lpstr>The most important line of code for plots</vt:lpstr>
      <vt:lpstr>Seaborn – Pandas integration</vt:lpstr>
      <vt:lpstr>Pandas useful plotting functions</vt:lpstr>
      <vt:lpstr>Pandas useful plotting functions</vt:lpstr>
      <vt:lpstr>Pandas useful plotting functions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 Functions</dc:title>
  <dc:creator>Moritz Nesseler</dc:creator>
  <cp:lastModifiedBy>Moritz Nesseler</cp:lastModifiedBy>
  <cp:revision>55</cp:revision>
  <dcterms:created xsi:type="dcterms:W3CDTF">2026-03-10T10:50:44Z</dcterms:created>
  <dcterms:modified xsi:type="dcterms:W3CDTF">2026-04-20T14:40:31Z</dcterms:modified>
</cp:coreProperties>
</file>
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6" r:id="rId3"/>
    <p:sldId id="303" r:id="rId4"/>
    <p:sldId id="308" r:id="rId5"/>
    <p:sldId id="309" r:id="rId6"/>
    <p:sldId id="304" r:id="rId7"/>
    <p:sldId id="310" r:id="rId8"/>
    <p:sldId id="305" r:id="rId9"/>
    <p:sldId id="306" r:id="rId10"/>
    <p:sldId id="307" r:id="rId11"/>
    <p:sldId id="311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FE6"/>
    <a:srgbClr val="397CF7"/>
    <a:srgbClr val="397DF8"/>
    <a:srgbClr val="006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532" autoAdjust="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C766C-76DE-4323-BFA2-C10EE808E19E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78848-9F7A-4D8C-8331-6ED315C4ED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49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JavaScript, </a:t>
            </a:r>
            <a:r>
              <a:rPr lang="de-DE" dirty="0" err="1"/>
              <a:t>typescript</a:t>
            </a:r>
            <a:r>
              <a:rPr lang="de-DE" dirty="0"/>
              <a:t>, HTML/CSS -&gt; Web</a:t>
            </a:r>
            <a:br>
              <a:rPr lang="de-DE" dirty="0"/>
            </a:br>
            <a:r>
              <a:rPr lang="de-DE" dirty="0"/>
              <a:t>SQL -&gt; </a:t>
            </a:r>
            <a:r>
              <a:rPr lang="de-DE" dirty="0" err="1"/>
              <a:t>Databanks</a:t>
            </a:r>
            <a:br>
              <a:rPr lang="de-DE" dirty="0"/>
            </a:br>
            <a:r>
              <a:rPr lang="de-DE" dirty="0"/>
              <a:t>Python</a:t>
            </a:r>
            <a:br>
              <a:rPr lang="de-DE" dirty="0"/>
            </a:br>
            <a:r>
              <a:rPr lang="de-DE" dirty="0"/>
              <a:t>Bash -&gt; Human-</a:t>
            </a:r>
            <a:r>
              <a:rPr lang="de-DE" dirty="0" err="1"/>
              <a:t>Machine</a:t>
            </a:r>
            <a:r>
              <a:rPr lang="de-DE" dirty="0"/>
              <a:t>-Interfaces</a:t>
            </a:r>
          </a:p>
          <a:p>
            <a:r>
              <a:rPr lang="de-DE" dirty="0"/>
              <a:t>Java -&gt;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Oriented</a:t>
            </a:r>
            <a:br>
              <a:rPr lang="de-DE" dirty="0"/>
            </a:br>
            <a:r>
              <a:rPr lang="de-DE" dirty="0"/>
              <a:t>C, C++, C# -&gt; universal, </a:t>
            </a:r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on </a:t>
            </a:r>
            <a:r>
              <a:rPr lang="de-DE" dirty="0" err="1"/>
              <a:t>unix</a:t>
            </a:r>
            <a:r>
              <a:rPr lang="de-DE" dirty="0"/>
              <a:t> </a:t>
            </a:r>
            <a:r>
              <a:rPr lang="de-DE" dirty="0" err="1"/>
              <a:t>systems</a:t>
            </a:r>
            <a:br>
              <a:rPr lang="de-DE" dirty="0"/>
            </a:br>
            <a:r>
              <a:rPr lang="de-DE" dirty="0" err="1"/>
              <a:t>Powershell</a:t>
            </a:r>
            <a:r>
              <a:rPr lang="de-DE" dirty="0"/>
              <a:t> -&gt; Microsoft </a:t>
            </a:r>
            <a:r>
              <a:rPr lang="de-DE" dirty="0" err="1"/>
              <a:t>Scriptlanguage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78848-9F7A-4D8C-8331-6ED315C4ED9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63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Lua</a:t>
            </a:r>
            <a:r>
              <a:rPr lang="de-DE" dirty="0"/>
              <a:t>: </a:t>
            </a:r>
            <a:r>
              <a:rPr lang="de-DE" dirty="0" err="1"/>
              <a:t>old</a:t>
            </a:r>
            <a:r>
              <a:rPr lang="de-DE" dirty="0"/>
              <a:t>, </a:t>
            </a:r>
            <a:r>
              <a:rPr lang="de-DE" dirty="0" err="1"/>
              <a:t>useable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an API</a:t>
            </a:r>
          </a:p>
          <a:p>
            <a:r>
              <a:rPr lang="de-DE" dirty="0"/>
              <a:t>Swift: Apple </a:t>
            </a:r>
            <a:r>
              <a:rPr lang="de-DE" dirty="0" err="1"/>
              <a:t>language</a:t>
            </a:r>
            <a:endParaRPr lang="de-DE" dirty="0"/>
          </a:p>
          <a:p>
            <a:r>
              <a:rPr lang="de-DE" dirty="0"/>
              <a:t>Visual </a:t>
            </a:r>
            <a:r>
              <a:rPr lang="de-DE" dirty="0" err="1"/>
              <a:t>basic</a:t>
            </a:r>
            <a:r>
              <a:rPr lang="de-DE" dirty="0"/>
              <a:t>: Microsoft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78848-9F7A-4D8C-8331-6ED315C4ED9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65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Perl -&gt; </a:t>
            </a:r>
            <a:r>
              <a:rPr lang="de-DE" dirty="0" err="1"/>
              <a:t>Bioinformatics</a:t>
            </a:r>
            <a:r>
              <a:rPr lang="de-DE" dirty="0"/>
              <a:t>, Systemadministration</a:t>
            </a:r>
            <a:br>
              <a:rPr lang="de-DE" dirty="0"/>
            </a:br>
            <a:r>
              <a:rPr lang="de-DE" dirty="0"/>
              <a:t>Delphi -&gt; DIE/Language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Pascal</a:t>
            </a:r>
          </a:p>
          <a:p>
            <a:r>
              <a:rPr lang="de-DE" dirty="0"/>
              <a:t>Fortran -&gt; </a:t>
            </a:r>
            <a:r>
              <a:rPr lang="de-DE" dirty="0" err="1"/>
              <a:t>first</a:t>
            </a:r>
            <a:r>
              <a:rPr lang="de-DE" dirty="0"/>
              <a:t> real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science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78848-9F7A-4D8C-8331-6ED315C4ED9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490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Immunos</a:t>
            </a:r>
            <a:r>
              <a:rPr lang="de-DE" dirty="0"/>
              <a:t>: </a:t>
            </a:r>
            <a:r>
              <a:rPr lang="de-DE" dirty="0" err="1"/>
              <a:t>Histo</a:t>
            </a:r>
            <a:r>
              <a:rPr lang="de-DE" dirty="0"/>
              <a:t>, nicht 2P</a:t>
            </a:r>
          </a:p>
          <a:p>
            <a:r>
              <a:rPr lang="de-DE" dirty="0"/>
              <a:t>Also: </a:t>
            </a:r>
            <a:r>
              <a:rPr lang="de-DE" dirty="0" err="1"/>
              <a:t>Jerome‘s</a:t>
            </a:r>
            <a:r>
              <a:rPr lang="de-DE" dirty="0"/>
              <a:t> SP5 </a:t>
            </a:r>
            <a:r>
              <a:rPr lang="de-DE" dirty="0" err="1"/>
              <a:t>runs</a:t>
            </a:r>
            <a:r>
              <a:rPr lang="de-DE" dirty="0"/>
              <a:t> on Win7,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Programs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, so he </a:t>
            </a:r>
            <a:r>
              <a:rPr lang="de-DE" dirty="0" err="1"/>
              <a:t>cannot</a:t>
            </a:r>
            <a:r>
              <a:rPr lang="de-DE" dirty="0"/>
              <a:t> open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on a different </a:t>
            </a:r>
            <a:r>
              <a:rPr lang="de-DE" dirty="0" err="1"/>
              <a:t>setup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78848-9F7A-4D8C-8331-6ED315C4ED9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944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62603-5B5A-97C9-8518-E18AA1A9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CBFC0E-2EBB-341E-A62B-9596D7264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0D5B19-F325-3986-C7E6-D436DC5F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0DEFF-F2A5-B09E-6FBB-1A6A8E56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12F1E4-8B93-1DF0-3391-67967ABF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5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60F2C-05FA-98F3-A528-68A04DE9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DDF199-DE80-815E-74C3-2FF1A4A8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07FFAF-0D6C-2816-AE2A-4DE08662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127E1-1161-8109-C514-EB535D8E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3489E-974D-A597-61C8-73DB447E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17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51ED9-962B-7762-8CCF-2E462554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368A63-F9D3-BCE2-9599-94D3B2DA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E4D831-F915-91ED-8C5C-C2B9A09D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7A4B07-B35E-DFE6-0E3B-FF7281DB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79D8D-6731-68E1-9097-9982FB2B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92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3E473-4D38-FCB0-4A71-76EA415B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06A8DC-7F7F-8E26-4E76-8EE9E457D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A1279-F295-B8B9-75FD-FD5D6137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A01D17-81AE-DA0D-D2B4-752C23CC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4506A4-66A9-E0DC-D0DF-02E14F70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4D9D08-AC57-2A2F-DEA1-F9DFF78D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41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1AB10-335A-F36D-22F5-EFD2C1B9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82742-EAF6-A4E6-3EE0-59B30873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BDA161-F74A-2C17-A05A-ED142E26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788628-81F6-135E-E1ED-7A6AB5E5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1C4FA6-4C9B-B38B-85BC-B58924094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322646-DAFC-F6C4-8C8A-510F08B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83CD22-E94D-E66C-0349-1C0C0121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A158B7-B2A8-198C-B5A8-2F35C88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56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34EB3-0A06-017E-0047-B742C668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6C38E3-85B4-8F86-5186-E27CE46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E708F0-220D-CA94-3CB4-7D295A69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220587-413B-6E9E-A938-1FEB572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3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0523C6-99C4-6CD5-6171-8279AAE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E04F6E-13DD-74E6-D6B8-F26E156F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0EF32D-BA4C-9F11-412F-63842976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1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268E-1ABF-A55A-8C7E-8DA6A860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BF9683-3814-0312-FAE5-6744A462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0A58EC-1C19-D836-B7A2-5DAD9368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E4CF2A-8D7A-CC36-973C-49AB8798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E86A9F-3A31-E531-219F-2669FFB1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8CE0DD-44F2-EB07-EF20-E27B7144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3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5EDF6-DA35-8915-C411-1AD9721D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17572F-EA16-DB39-30B8-15F08D375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809D44-CF3A-DB12-DE4E-96D90E37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313D3C-043C-5B82-EFCD-F8CAF966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E69A03-8E5B-18EC-038B-C34CBD05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ADFBC3-2CD2-0DEF-597C-9740D8F7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20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6183A-79C0-3440-490D-E3F9BB20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F6BF54-7D61-6402-A50C-7C15D49BF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62010F-C037-FBD4-9FB9-718726BB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D39693-FAE6-55B9-9AB8-3649005C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5849-F90B-F899-16C6-EFEB8CFF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E81D8A-7C59-5E49-2838-C1E87D053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9B30E6-8B19-8BE4-5391-2D190A0F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D34AF-3A32-C4BF-D97E-35D5061D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B3469-06BD-21A4-EB7E-A11CED33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6805-937C-D1AC-14C2-D60F52FB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5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1779AF-C0EE-9CA6-1030-CF5DF0D2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24C71E-45A2-5A60-8539-D095AC77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2046EA-DC58-2E70-EB53-BFED48FED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B3C52-5577-4B07-9DDD-CD25056515E5}" type="datetimeFigureOut">
              <a:rPr lang="de-DE" smtClean="0"/>
              <a:t>25.01.2026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0A617B-B9D6-9A06-832D-BB1C69E4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76A0D-C418-EBB5-2E8E-B4151797C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25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8746E97-2A1E-4CD8-BD86-057981A5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446BA3-813D-57F5-2950-F4B34540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20" y="4961199"/>
            <a:ext cx="8988879" cy="1896801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solidFill>
                  <a:srgbClr val="397DF8"/>
                </a:solidFill>
              </a:rPr>
              <a:t>Coding Workshop</a:t>
            </a:r>
            <a:br>
              <a:rPr lang="de-DE" dirty="0">
                <a:solidFill>
                  <a:srgbClr val="397DF8"/>
                </a:solidFill>
              </a:rPr>
            </a:br>
            <a:r>
              <a:rPr lang="de-DE" dirty="0" err="1">
                <a:solidFill>
                  <a:srgbClr val="397DF8"/>
                </a:solidFill>
              </a:rPr>
              <a:t>Getting</a:t>
            </a:r>
            <a:r>
              <a:rPr lang="de-DE" dirty="0">
                <a:solidFill>
                  <a:srgbClr val="397DF8"/>
                </a:solidFill>
              </a:rPr>
              <a:t> </a:t>
            </a:r>
            <a:r>
              <a:rPr lang="de-DE" dirty="0" err="1">
                <a:solidFill>
                  <a:srgbClr val="397DF8"/>
                </a:solidFill>
              </a:rPr>
              <a:t>started</a:t>
            </a:r>
            <a:endParaRPr lang="de-DE" dirty="0">
              <a:solidFill>
                <a:srgbClr val="397DF8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9B9C4F-CD58-363A-CBB4-092841AD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 anchor="b"/>
          <a:lstStyle/>
          <a:p>
            <a:pPr algn="r"/>
            <a:r>
              <a:rPr lang="de-DE" dirty="0">
                <a:solidFill>
                  <a:srgbClr val="94BFE6"/>
                </a:solidFill>
              </a:rPr>
              <a:t>26.01.2026</a:t>
            </a:r>
          </a:p>
          <a:p>
            <a:pPr algn="r"/>
            <a:r>
              <a:rPr lang="de-DE" dirty="0">
                <a:solidFill>
                  <a:srgbClr val="94BFE6"/>
                </a:solidFill>
              </a:rPr>
              <a:t>Melissa Franke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3E7F2C-9B81-4C57-AEE5-2D4D5ECA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BAA8E53-B093-41D9-88E6-E8A7BFA9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5480"/>
            <a:ext cx="121920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So </a:t>
            </a:r>
            <a:r>
              <a:rPr lang="de-DE" dirty="0" err="1">
                <a:solidFill>
                  <a:srgbClr val="397CF7"/>
                </a:solidFill>
              </a:rPr>
              <a:t>you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want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to</a:t>
            </a:r>
            <a:r>
              <a:rPr lang="de-DE" dirty="0">
                <a:solidFill>
                  <a:srgbClr val="397CF7"/>
                </a:solidFill>
              </a:rPr>
              <a:t> code…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What you will need:</a:t>
            </a:r>
          </a:p>
          <a:p>
            <a:r>
              <a:rPr lang="en-GB" dirty="0">
                <a:solidFill>
                  <a:srgbClr val="94BFE6"/>
                </a:solidFill>
              </a:rPr>
              <a:t>A Problem</a:t>
            </a:r>
          </a:p>
          <a:p>
            <a:r>
              <a:rPr lang="en-GB" dirty="0">
                <a:solidFill>
                  <a:srgbClr val="94BFE6"/>
                </a:solidFill>
              </a:rPr>
              <a:t>A Solution Idea</a:t>
            </a:r>
          </a:p>
          <a:p>
            <a:r>
              <a:rPr lang="en-GB" dirty="0">
                <a:solidFill>
                  <a:srgbClr val="94BFE6"/>
                </a:solidFill>
              </a:rPr>
              <a:t>The right tools for the job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Language: 			Python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IDE: 				VS Code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Programming environment: 	virtual environment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Package manager: 		pip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Version control: 			GitHub</a:t>
            </a:r>
          </a:p>
          <a:p>
            <a:pPr lvl="1"/>
            <a:endParaRPr lang="en-GB" dirty="0">
              <a:solidFill>
                <a:srgbClr val="94BFE6"/>
              </a:solidFill>
            </a:endParaRPr>
          </a:p>
          <a:p>
            <a:pPr lvl="1"/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6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Programming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Languages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FE091FD-1172-4BF5-9125-0879C719E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77" y="1117796"/>
            <a:ext cx="8436334" cy="462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8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9359DE-69BF-44CA-9A3D-C4CAF2D06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777" y="1376158"/>
            <a:ext cx="8436334" cy="410568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Programming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Languages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58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65C27BC-2085-4506-B0D5-6A37D8EFB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833" y="1529066"/>
            <a:ext cx="8436334" cy="379986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Programming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Languages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31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Programming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Languages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de-DE" dirty="0" err="1">
                <a:solidFill>
                  <a:srgbClr val="94BFE6"/>
                </a:solidFill>
              </a:rPr>
              <a:t>Hundreds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programming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languages</a:t>
            </a:r>
            <a:endParaRPr lang="de-DE" dirty="0">
              <a:solidFill>
                <a:srgbClr val="94BFE6"/>
              </a:solidFill>
            </a:endParaRPr>
          </a:p>
          <a:p>
            <a:r>
              <a:rPr lang="de-DE" dirty="0" err="1">
                <a:solidFill>
                  <a:srgbClr val="94BFE6"/>
                </a:solidFill>
              </a:rPr>
              <a:t>Which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one</a:t>
            </a:r>
            <a:r>
              <a:rPr lang="de-DE" dirty="0">
                <a:solidFill>
                  <a:srgbClr val="94BFE6"/>
                </a:solidFill>
              </a:rPr>
              <a:t> do I </a:t>
            </a:r>
            <a:r>
              <a:rPr lang="de-DE" dirty="0" err="1">
                <a:solidFill>
                  <a:srgbClr val="94BFE6"/>
                </a:solidFill>
              </a:rPr>
              <a:t>use</a:t>
            </a:r>
            <a:r>
              <a:rPr lang="de-DE" dirty="0">
                <a:solidFill>
                  <a:srgbClr val="94BFE6"/>
                </a:solidFill>
              </a:rPr>
              <a:t>?</a:t>
            </a:r>
          </a:p>
          <a:p>
            <a:pPr lvl="1"/>
            <a:r>
              <a:rPr lang="de-DE" dirty="0">
                <a:solidFill>
                  <a:srgbClr val="94BFE6"/>
                </a:solidFill>
              </a:rPr>
              <a:t>Purpose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the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language</a:t>
            </a:r>
            <a:endParaRPr lang="de-DE" dirty="0">
              <a:solidFill>
                <a:srgbClr val="94BFE6"/>
              </a:solidFill>
            </a:endParaRPr>
          </a:p>
          <a:p>
            <a:pPr lvl="1"/>
            <a:r>
              <a:rPr lang="de-DE" dirty="0" err="1">
                <a:solidFill>
                  <a:srgbClr val="94BFE6"/>
                </a:solidFill>
              </a:rPr>
              <a:t>Context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the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problem</a:t>
            </a:r>
            <a:endParaRPr lang="de-DE" dirty="0">
              <a:solidFill>
                <a:srgbClr val="94BFE6"/>
              </a:solidFill>
            </a:endParaRPr>
          </a:p>
          <a:p>
            <a:pPr lvl="1"/>
            <a:r>
              <a:rPr lang="de-DE" dirty="0">
                <a:solidFill>
                  <a:srgbClr val="94BFE6"/>
                </a:solidFill>
              </a:rPr>
              <a:t>Personal </a:t>
            </a:r>
            <a:r>
              <a:rPr lang="de-DE" dirty="0" err="1">
                <a:solidFill>
                  <a:srgbClr val="94BFE6"/>
                </a:solidFill>
              </a:rPr>
              <a:t>preference</a:t>
            </a:r>
            <a:endParaRPr lang="de-DE" dirty="0">
              <a:solidFill>
                <a:srgbClr val="94BFE6"/>
              </a:solidFill>
            </a:endParaRPr>
          </a:p>
          <a:p>
            <a:pPr lvl="1"/>
            <a:r>
              <a:rPr lang="de-DE" dirty="0">
                <a:solidFill>
                  <a:srgbClr val="94BFE6"/>
                </a:solidFill>
              </a:rPr>
              <a:t>Experience</a:t>
            </a:r>
          </a:p>
          <a:p>
            <a:pPr lvl="1"/>
            <a:r>
              <a:rPr lang="de-DE" dirty="0">
                <a:solidFill>
                  <a:srgbClr val="94BFE6"/>
                </a:solidFill>
              </a:rPr>
              <a:t>…</a:t>
            </a:r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35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Integrated Development Environment</a:t>
            </a:r>
          </a:p>
          <a:p>
            <a:r>
              <a:rPr lang="en-US" dirty="0">
                <a:solidFill>
                  <a:srgbClr val="94BFE6"/>
                </a:solidFill>
              </a:rPr>
              <a:t>Comes with helpful tools to code like </a:t>
            </a:r>
          </a:p>
          <a:p>
            <a:pPr lvl="1"/>
            <a:r>
              <a:rPr lang="en-US" dirty="0">
                <a:solidFill>
                  <a:srgbClr val="94BFE6"/>
                </a:solidFill>
              </a:rPr>
              <a:t>Debuggers</a:t>
            </a:r>
          </a:p>
          <a:p>
            <a:pPr lvl="1"/>
            <a:r>
              <a:rPr lang="en-US" dirty="0">
                <a:solidFill>
                  <a:srgbClr val="94BFE6"/>
                </a:solidFill>
              </a:rPr>
              <a:t>text completion</a:t>
            </a:r>
          </a:p>
          <a:p>
            <a:pPr lvl="1"/>
            <a:r>
              <a:rPr lang="en-US" dirty="0">
                <a:solidFill>
                  <a:srgbClr val="94BFE6"/>
                </a:solidFill>
              </a:rPr>
              <a:t>Sometimes integrated documentation</a:t>
            </a:r>
          </a:p>
          <a:p>
            <a:pPr lvl="1"/>
            <a:r>
              <a:rPr lang="en-US" dirty="0">
                <a:solidFill>
                  <a:srgbClr val="94BFE6"/>
                </a:solidFill>
              </a:rPr>
              <a:t>Sometimes preinstalled packages</a:t>
            </a:r>
          </a:p>
          <a:p>
            <a:pPr lvl="1"/>
            <a:r>
              <a:rPr lang="en-US" dirty="0">
                <a:solidFill>
                  <a:srgbClr val="94BFE6"/>
                </a:solidFill>
              </a:rPr>
              <a:t>Compilers, interpreters</a:t>
            </a:r>
          </a:p>
          <a:p>
            <a:r>
              <a:rPr lang="en-US" dirty="0">
                <a:solidFill>
                  <a:srgbClr val="94BFE6"/>
                </a:solidFill>
              </a:rPr>
              <a:t>Technically not needed to write code, but far easier</a:t>
            </a:r>
          </a:p>
          <a:p>
            <a:r>
              <a:rPr lang="en-US" dirty="0" err="1">
                <a:solidFill>
                  <a:srgbClr val="94BFE6"/>
                </a:solidFill>
              </a:rPr>
              <a:t>VSCode</a:t>
            </a:r>
            <a:r>
              <a:rPr lang="en-US" dirty="0">
                <a:solidFill>
                  <a:srgbClr val="94BFE6"/>
                </a:solidFill>
              </a:rPr>
              <a:t>, </a:t>
            </a:r>
            <a:r>
              <a:rPr lang="en-US" dirty="0" err="1">
                <a:solidFill>
                  <a:srgbClr val="94BFE6"/>
                </a:solidFill>
              </a:rPr>
              <a:t>MatLab</a:t>
            </a:r>
            <a:r>
              <a:rPr lang="en-US" dirty="0">
                <a:solidFill>
                  <a:srgbClr val="94BFE6"/>
                </a:solidFill>
              </a:rPr>
              <a:t>, Anaconda, …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20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Environment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Isolated, self-contained directory for software projects</a:t>
            </a:r>
          </a:p>
          <a:p>
            <a:r>
              <a:rPr lang="en-GB" dirty="0">
                <a:solidFill>
                  <a:srgbClr val="94BFE6"/>
                </a:solidFill>
              </a:rPr>
              <a:t>Contains: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interpreters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libraries</a:t>
            </a:r>
          </a:p>
          <a:p>
            <a:r>
              <a:rPr lang="en-GB" dirty="0">
                <a:solidFill>
                  <a:srgbClr val="94BFE6"/>
                </a:solidFill>
              </a:rPr>
              <a:t>“Room for your work with all the tools you need”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3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Package Manager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Streamlines handling software packages</a:t>
            </a:r>
          </a:p>
          <a:p>
            <a:r>
              <a:rPr lang="en-GB" dirty="0">
                <a:solidFill>
                  <a:srgbClr val="94BFE6"/>
                </a:solidFill>
              </a:rPr>
              <a:t>Handles: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Installation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Actualisation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Configuration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Deinstallation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…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1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Version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Supervisor on any changes made in your code</a:t>
            </a:r>
          </a:p>
          <a:p>
            <a:r>
              <a:rPr lang="en-GB" dirty="0">
                <a:solidFill>
                  <a:srgbClr val="94BFE6"/>
                </a:solidFill>
              </a:rPr>
              <a:t>Allows: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Documentation of changes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Recovery of older versions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Archiving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Collaboration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…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97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Version Control - </a:t>
            </a:r>
            <a:r>
              <a:rPr lang="de-DE" dirty="0" err="1">
                <a:solidFill>
                  <a:srgbClr val="397CF7"/>
                </a:solidFill>
              </a:rPr>
              <a:t>Git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de-DE" dirty="0">
                <a:solidFill>
                  <a:srgbClr val="94BFE6"/>
                </a:solidFill>
              </a:rPr>
              <a:t>Linus Torvalds‘ </a:t>
            </a:r>
            <a:r>
              <a:rPr lang="de-DE" dirty="0" err="1">
                <a:solidFill>
                  <a:srgbClr val="94BFE6"/>
                </a:solidFill>
              </a:rPr>
              <a:t>milestones</a:t>
            </a:r>
            <a:r>
              <a:rPr lang="de-DE" dirty="0">
                <a:solidFill>
                  <a:srgbClr val="94BFE6"/>
                </a:solidFill>
              </a:rPr>
              <a:t>:</a:t>
            </a:r>
          </a:p>
          <a:p>
            <a:pPr lvl="1"/>
            <a:r>
              <a:rPr lang="de-DE" dirty="0">
                <a:solidFill>
                  <a:srgbClr val="94BFE6"/>
                </a:solidFill>
              </a:rPr>
              <a:t>Linux</a:t>
            </a:r>
          </a:p>
          <a:p>
            <a:pPr lvl="1"/>
            <a:r>
              <a:rPr lang="de-DE" dirty="0" err="1">
                <a:solidFill>
                  <a:srgbClr val="94BFE6"/>
                </a:solidFill>
              </a:rPr>
              <a:t>Git</a:t>
            </a:r>
            <a:endParaRPr lang="de-DE" dirty="0">
              <a:solidFill>
                <a:srgbClr val="94BFE6"/>
              </a:solidFill>
            </a:endParaRPr>
          </a:p>
          <a:p>
            <a:r>
              <a:rPr lang="de-DE" dirty="0">
                <a:solidFill>
                  <a:srgbClr val="94BFE6"/>
                </a:solidFill>
              </a:rPr>
              <a:t>Project </a:t>
            </a:r>
            <a:r>
              <a:rPr lang="de-DE" dirty="0" err="1">
                <a:solidFill>
                  <a:srgbClr val="94BFE6"/>
                </a:solidFill>
              </a:rPr>
              <a:t>folder</a:t>
            </a:r>
            <a:endParaRPr lang="de-DE" dirty="0">
              <a:solidFill>
                <a:srgbClr val="94BFE6"/>
              </a:solidFill>
            </a:endParaRPr>
          </a:p>
          <a:p>
            <a:pPr lvl="1"/>
            <a:r>
              <a:rPr lang="en-GB" dirty="0">
                <a:solidFill>
                  <a:srgbClr val="94BFE6"/>
                </a:solidFill>
              </a:rPr>
              <a:t>Pull from or push to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Commits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Branches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Automated Merges or Merge conflicts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Getting</a:t>
            </a:r>
            <a:r>
              <a:rPr lang="de-DE" sz="1200" dirty="0">
                <a:solidFill>
                  <a:srgbClr val="397DF8"/>
                </a:solidFill>
              </a:rPr>
              <a:t> </a:t>
            </a:r>
            <a:r>
              <a:rPr lang="de-DE" sz="1200" dirty="0" err="1">
                <a:solidFill>
                  <a:srgbClr val="397DF8"/>
                </a:solidFill>
              </a:rPr>
              <a:t>Started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90A00E8-1E50-4FFB-8173-B262284516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40" y="1163053"/>
            <a:ext cx="4401408" cy="263534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24247E1-C0FF-48A8-B8FF-A68FFC5A6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40" y="1366201"/>
            <a:ext cx="1819835" cy="18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7450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Breitbild</PresentationFormat>
  <Paragraphs>129</Paragraphs>
  <Slides>12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Coding Workshop Getting started</vt:lpstr>
      <vt:lpstr>So you want to code…</vt:lpstr>
      <vt:lpstr>Programming Languages</vt:lpstr>
      <vt:lpstr>Programming Languages</vt:lpstr>
      <vt:lpstr>Programming Languages</vt:lpstr>
      <vt:lpstr>Programming Languages</vt:lpstr>
      <vt:lpstr>IDE</vt:lpstr>
      <vt:lpstr>Environment</vt:lpstr>
      <vt:lpstr>Package Manager</vt:lpstr>
      <vt:lpstr>Version Control</vt:lpstr>
      <vt:lpstr>Version Control - Git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 long titel that needs two lines</dc:title>
  <dc:creator>melissa.franke@rwth-aachen.de</dc:creator>
  <cp:lastModifiedBy>Melissa Franke</cp:lastModifiedBy>
  <cp:revision>75</cp:revision>
  <dcterms:created xsi:type="dcterms:W3CDTF">2024-01-02T08:44:02Z</dcterms:created>
  <dcterms:modified xsi:type="dcterms:W3CDTF">2026-01-25T20:41:28Z</dcterms:modified>
</cp:coreProperties>
</file>